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d4117654-6e63-bbcd-c911-3cf4970bf48d}">
          <p14:sldIdLst>
            <p14:sldId id="256"/>
            <p14:sldId id="257"/>
            <p14:sldId id="258"/>
          </p14:sldIdLst>
        </p14:section>
        <p14:section name="Dữ liệu &amp; phương pháp" id="{2ff90dfa-a74b-25fb-67d7-1ef6f182f8db}">
          <p14:sldIdLst>
            <p14:sldId id="259"/>
            <p14:sldId id="260"/>
            <p14:sldId id="261"/>
          </p14:sldIdLst>
        </p14:section>
        <p14:section name="Kết quả" id="{2889f90a-1034-7c4f-7d04-4ecc0d9f9c41}">
          <p14:sldIdLst>
            <p14:sldId id="262"/>
            <p14:sldId id="263"/>
            <p14:sldId id="264"/>
          </p14:sldIdLst>
        </p14:section>
        <p14:section name="Kết luận" id="{2eaa7d16-b478-d52e-b973-4b2f0e4e008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macro-F1 (9 thiết bị × 5 seed)</a:t>
            </a:r>
          </a:p>
        </c:rich>
      </c:tx>
      <c:layout/>
      <c:overlay val="0"/>
    </c:title>
    <c:autoTitleDeleted val="0"/>
    <c:plotArea>
      <c:layout/>
      <c:barChart>
        <c:barDir val="col"/>
        <c:grouping val="clustered"/>
        <c:varyColors val="0"/>
        <c:ser>
          <c:idx val="0"/>
          <c:order val="0"/>
          <c:tx>
            <c:strRef>
              <c:f>Sheet1!$B$1</c:f>
              <c:strCache>
                <c:ptCount val="1"/>
                <c:pt idx="0">
                  <c:v>macro-F1</c:v>
                </c:pt>
              </c:strCache>
            </c:strRef>
          </c:tx>
          <c:spPr>
            <a:solidFill>
              <a:srgbClr val="0B1F33"/>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B0 AE</c:v>
                  </c:pt>
                  <c:pt idx="1">
                    <c:v>B1 chung+pdnorm</c:v>
                  </c:pt>
                  <c:pt idx="2">
                    <c:v>B2 IForest</c:v>
                  </c:pt>
                  <c:pt idx="3">
                    <c:v>V1 AE nhẹ</c:v>
                  </c:pt>
                </c:lvl>
              </c:multiLvlStrCache>
            </c:multiLvlStrRef>
          </c:cat>
          <c:val>
            <c:numRef>
              <c:f>Sheet1!$B$2:$B$5</c:f>
              <c:numCache>
                <c:formatCode>General</c:formatCode>
                <c:ptCount val="4"/>
                <c:pt idx="0">
                  <c:v>0.7061</c:v>
                </c:pt>
                <c:pt idx="1">
                  <c:v>0.7748</c:v>
                </c:pt>
                <c:pt idx="2">
                  <c:v>0.8857</c:v>
                </c:pt>
                <c:pt idx="3">
                  <c:v>0.689</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Recall theo nhóm tấn công</a:t>
            </a:r>
          </a:p>
        </c:rich>
      </c:tx>
      <c:layout/>
      <c:overlay val="0"/>
    </c:title>
    <c:autoTitleDeleted val="0"/>
    <c:plotArea>
      <c:layout/>
      <c:barChart>
        <c:barDir val="bar"/>
        <c:grouping val="clustered"/>
        <c:varyColors val="0"/>
        <c:ser>
          <c:idx val="0"/>
          <c:order val="0"/>
          <c:tx>
            <c:strRef>
              <c:f>Sheet1!$B$1</c:f>
              <c:strCache>
                <c:ptCount val="1"/>
                <c:pt idx="0">
                  <c:v>tcp/udp</c:v>
                </c:pt>
              </c:strCache>
            </c:strRef>
          </c:tx>
          <c:spPr>
            <a:solidFill>
              <a:srgbClr val="D64545"/>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B0 AE</c:v>
                  </c:pt>
                  <c:pt idx="1">
                    <c:v>V1 AE nhẹ</c:v>
                  </c:pt>
                  <c:pt idx="2">
                    <c:v>B2 IForest</c:v>
                  </c:pt>
                </c:lvl>
              </c:multiLvlStrCache>
            </c:multiLvlStrRef>
          </c:cat>
          <c:val>
            <c:numRef>
              <c:f>Sheet1!$B$2:$B$4</c:f>
              <c:numCache>
                <c:formatCode>General</c:formatCode>
                <c:ptCount val="3"/>
                <c:pt idx="0">
                  <c:v>0.4667</c:v>
                </c:pt>
                <c:pt idx="1">
                  <c:v>0.4222</c:v>
                </c:pt>
                <c:pt idx="2">
                  <c:v>0.7778</c:v>
                </c:pt>
              </c:numCache>
            </c:numRef>
          </c:val>
        </c:ser>
        <c:ser>
          <c:idx val="1"/>
          <c:order val="1"/>
          <c:tx>
            <c:strRef>
              <c:f>Sheet1!$C$1</c:f>
              <c:strCache>
                <c:ptCount val="1"/>
                <c:pt idx="0">
                  <c:v>8 loại còn lại</c:v>
                </c:pt>
              </c:strCache>
            </c:strRef>
          </c:tx>
          <c:spPr>
            <a:solidFill>
              <a:srgbClr val="0E9F8E"/>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B0 AE</c:v>
                  </c:pt>
                  <c:pt idx="1">
                    <c:v>V1 AE nhẹ</c:v>
                  </c:pt>
                  <c:pt idx="2">
                    <c:v>B2 IForest</c:v>
                  </c:pt>
                </c:lvl>
              </c:multiLvlStrCache>
            </c:multiLvlStrRef>
          </c:cat>
          <c:val>
            <c:numRef>
              <c:f>Sheet1!$C$2:$C$4</c:f>
              <c:numCache>
                <c:formatCode>General</c:formatCode>
                <c:ptCount val="3"/>
                <c:pt idx="0">
                  <c:v>0.9999</c:v>
                </c:pt>
                <c:pt idx="1">
                  <c:v>0.9999</c:v>
                </c:pt>
                <c:pt idx="2">
                  <c:v>0.9728</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b"/>
        <c:majorGridlines>
          <c:spPr>
            <a:ln w="6350" cap="flat">
              <a:solidFill>
                <a:srgbClr val="D9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Kích thước file TFLite (KB)</a:t>
            </a:r>
          </a:p>
        </c:rich>
      </c:tx>
      <c:layout/>
      <c:overlay val="0"/>
    </c:title>
    <c:autoTitleDeleted val="0"/>
    <c:plotArea>
      <c:layout/>
      <c:barChart>
        <c:barDir val="col"/>
        <c:grouping val="clustered"/>
        <c:varyColors val="0"/>
        <c:ser>
          <c:idx val="0"/>
          <c:order val="0"/>
          <c:tx>
            <c:strRef>
              <c:f>Sheet1!$B$1</c:f>
              <c:strCache>
                <c:ptCount val="1"/>
                <c:pt idx="0">
                  <c:v>KB</c:v>
                </c:pt>
              </c:strCache>
            </c:strRef>
          </c:tx>
          <c:spPr>
            <a:solidFill>
              <a:srgbClr val="0E9F8E"/>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0E9F8E"/>
              </a:solidFill>
              <a:effectLst/>
            </c:spPr>
          </c:dPt>
          <c:dPt>
            <c:idx val="1"/>
            <c:invertIfNegative val="0"/>
            <c:bubble3D val="0"/>
            <c:spPr>
              <a:solidFill>
                <a:srgbClr val="0E9F8E"/>
              </a:solidFill>
              <a:effectLst/>
            </c:spPr>
          </c:dPt>
          <c:dPt>
            <c:idx val="2"/>
            <c:invertIfNegative val="0"/>
            <c:bubble3D val="0"/>
            <c:spPr>
              <a:solidFill>
                <a:srgbClr val="0E9F8E"/>
              </a:solidFill>
              <a:effectLst/>
            </c:spPr>
          </c:dPt>
          <c:dPt>
            <c:idx val="3"/>
            <c:invertIfNegative val="0"/>
            <c:bubble3D val="0"/>
            <c:spPr>
              <a:solidFill>
                <a:srgbClr val="F2A541"/>
              </a:solidFill>
              <a:effectLst/>
            </c:spPr>
          </c:dPt>
          <c:cat>
            <c:multiLvlStrRef>
              <c:f>Sheet1!$A$2:$A$5</c:f>
              <c:multiLvlStrCache>
                <c:ptCount val="4"/>
                <c:lvl>
                  <c:pt idx="0">
                    <c:v>V1 fp32</c:v>
                  </c:pt>
                  <c:pt idx="1">
                    <c:v>V1 fp16</c:v>
                  </c:pt>
                  <c:pt idx="2">
                    <c:v>V1 dyn</c:v>
                  </c:pt>
                  <c:pt idx="3">
                    <c:v>V1 int8</c:v>
                  </c:pt>
                </c:lvl>
              </c:multiLvlStrCache>
            </c:multiLvlStrRef>
          </c:cat>
          <c:val>
            <c:numRef>
              <c:f>Sheet1!$B$2:$B$5</c:f>
              <c:numCache>
                <c:formatCode>General</c:formatCode>
                <c:ptCount val="4"/>
                <c:pt idx="0">
                  <c:v>33.7</c:v>
                </c:pt>
                <c:pt idx="1">
                  <c:v>19</c:v>
                </c:pt>
                <c:pt idx="2">
                  <c:v>13.9</c:v>
                </c:pt>
                <c:pt idx="3">
                  <c:v>15.3</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9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và các bạn. Đề tài DT043: phát hiện thiết bị IoT bị nhiễm botnet ngay tại thiết bị biên bằng autoencoder huấn luyện riêng cho từng thiết bị, thu nhỏ và lượng tử hóa int8, và nối với hướng Moving Target Defence của paper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bị IoT dễ bị chiếm, edge có tài nguyên hạn chế, mỗi thiết bị một hành vi. Sáu câu hỏi nghiên cứu, tiêu chí định lượng chốt và lưu checksum trước khi chạy để không chỉnh theo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chính nói về MTD, không dùng autoencoder. Em chia hai track: A phát hiện bằng AE theo Meidan; B tái lập 3-layer THARM bằng đúng dữ liệu của paper và dùng cảnh báo AE để kích hoạt MTD 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7,06 triệu dòng, 115 đặc trưng, 9 thiết bị; khử 157.779 dòng trùng, dữ liệu mất cân bằng nên không dùng Accuracy. Dòng liền kề gần giống nhau nên chia theo thời gian có vùng đệm 500 dòng; mỗi biện pháp chống rò rỉ đều có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theo Meidan: chuẩn hóa per-device, AE học benign, ngưỡng mean + std, vote cửa sổ; cải tiến là V1 chỉ 8 nghìn tham số, int8 rồi hiệu chỉnh ngưỡng. Hệ thống tách 4 tầng, AI và backend chỉ nói chuyện qua gói có checksum. Tiếp theo em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(90 giây): 9 model đã nạp; phát lại mirai/syn → 1989/1989 cửa sổ cảnh báo, cảnh báo high và 2 hành động MTD ghi vào CSDL; benign không cảnh báo; gafgyt/tcp bị bỏ sót – em không che giấu điểm yếu; cuối cùng chạy MTD time-based làm lưới an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468 lần chạy, FPR chỉ 0,0025, thấp hơn Meidan, nhưng TPR 0,822. Toàn bộ suy giảm đến từ flood tcp/udp của BASHLITE: nguồn giả mạo nên mỗi gói giống luồng mới, giống benign. Isolation Forest tốt hơn về chất lượng, em báo cáo trung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int8 chỉ 15,3 KB; giữ ngưỡng fp32 thì lệch nên em hiệu chỉnh lại trên DSopt. Trên một lõi E-core p95 chỉ 10,8 micro-giây mỗi mẫu, khoảng 103 nghìn mẫu mỗi giây, RAM tăng 4,6 MB. Kích thước chỉ còn 45% bản fp32 do khung flatbuffer nên RQ4 không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B: em dựng lại 3-layer THARM bằng đúng 32 CVE, 8 VM và topology của paper. Rủi ro từng VM khớp tới 0,01, ba đường tấn công lệch 0,8%; tổng toàn mạng không ra đúng vì paper cắt danh sách cạnh và in công thức mâu thuẫn. Với topology Hình 3 tái lập 6/7 kết luận, gồm S+D tốt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RQ5 về edge đạt với biên lớn, RQ1 đến RQ4 không đạt và em giữ nguyên tiêu chí. Tóm lại: AE nhẹ bắt gần tuyệt đối 8/10 loại tấn công, chạy được trên edge, nhưng cần thêm đặc trưng cho flood giả mạo nguồn. Mã nguồn và hướng dẫn chạy lại có trên GitHub. Em cảm ơn thầy và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69848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731520" y="1645920"/>
            <a:ext cx="10698480" cy="4480560"/>
          </a:xfrm>
          <a:prstGeom prst="rect">
            <a:avLst/>
          </a:prstGeom>
          <a:noFill/>
          <a:ln/>
        </p:spPr>
        <p:txBody>
          <a:bodyPr wrap="square" rtlCol="0"/>
          <a:lstStyle>
            <a:lvl1pPr indent="0" marL="0">
              <a:buNone/>
              <a:defRPr lang="en-US" sz="1900" dirty="0">
                <a:solidFill>
                  <a:schemeClr val="bg2"/>
                </a:solidFill>
              </a:defRPr>
            </a:lvl1pPr>
          </a:lstStyle>
          <a:p>
            <a:pPr indent="0" marL="0">
              <a:buNone/>
            </a:pPr>
            <a:endParaRPr lang="en-US" sz="1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DT043 · Hoàng Thanh Trà · 1150080120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Phát hiện botnet IoT bằng autoencoder nhẹ</a:t>
            </a:r>
            <a:endParaRPr lang="en-US" sz="4000" dirty="0"/>
          </a:p>
        </p:txBody>
      </p:sp>
      <p:sp>
        <p:nvSpPr>
          <p:cNvPr id="3" name="Text 0"/>
          <p:cNvSpPr/>
          <p:nvPr>
            <p:ph idx="101" type="body" hasCustomPrompt="1"/>
          </p:nvPr>
        </p:nvSpPr>
        <p:spPr>
          <a:xfrm>
            <a:off x="731520" y="3749040"/>
            <a:ext cx="10698480" cy="1463040"/>
          </a:xfrm>
          <a:prstGeom prst="rect">
            <a:avLst/>
          </a:prstGeom>
          <a:noFill/>
          <a:ln/>
        </p:spPr>
        <p:txBody>
          <a:bodyPr wrap="square" lIns="0" tIns="0" rIns="0" bIns="0" rtlCol="0" anchor="t"/>
          <a:lstStyle/>
          <a:p>
            <a:pPr indent="0" marL="0">
              <a:buNone/>
            </a:pPr>
            <a:r>
              <a:rPr lang="en-US" sz="1800" dirty="0">
                <a:solidFill>
                  <a:schemeClr val="bg2"/>
                </a:solidFill>
              </a:rPr>
              <a:t>Đề tài DT043 · Bài giữa kỳ An toàn Bảo mật Hệ thống thông tin</a:t>
            </a:r>
            <a:endParaRPr lang="en-US" sz="1800" dirty="0"/>
          </a:p>
          <a:p>
            <a:pPr indent="0" marL="0">
              <a:buNone/>
            </a:pPr>
            <a:r>
              <a:rPr lang="en-US" sz="1800" dirty="0">
                <a:solidFill>
                  <a:schemeClr val="bg2"/>
                </a:solidFill>
              </a:rPr>
              <a:t>Hoàng Thanh Trà · MSSV 1150080120 · Lớp 11CNPM2</a:t>
            </a:r>
            <a:endParaRPr lang="en-US" sz="1800" dirty="0"/>
          </a:p>
          <a:p>
            <a:pPr indent="0" marL="0">
              <a:buNone/>
            </a:pPr>
            <a:r>
              <a:rPr lang="en-US" sz="1800" i="1" dirty="0">
                <a:solidFill>
                  <a:schemeClr val="accent2"/>
                </a:solidFill>
              </a:rPr>
              <a:t>Per-device AE · lượng tử hóa int8 · edge benchmark · MTD lai · tái lập 3-layer THARM</a:t>
            </a:r>
            <a:endParaRPr lang="en-US" sz="1800" dirty="0"/>
          </a:p>
        </p:txBody>
      </p:sp>
      <p:sp>
        <p:nvSpPr>
          <p:cNvPr id="4" name="logo-circle"/>
          <p:cNvSpPr/>
          <p:nvPr/>
        </p:nvSpPr>
        <p:spPr>
          <a:xfrm>
            <a:off x="731520" y="640080"/>
            <a:ext cx="914400" cy="914400"/>
          </a:xfrm>
          <a:prstGeom prst="ellipse">
            <a:avLst/>
          </a:prstGeom>
          <a:solidFill>
            <a:srgbClr val="0E9F8E"/>
          </a:solidFill>
          <a:ln w="12700">
            <a:solidFill>
              <a:srgbClr val="0E9F8E"/>
            </a:solidFill>
            <a:prstDash val="solid"/>
          </a:ln>
        </p:spPr>
      </p:sp>
      <p:pic>
        <p:nvPicPr>
          <p:cNvPr id="5" name="logo-icon" descr="preencoded.png">    </p:cNvPr>
          <p:cNvPicPr>
            <a:picLocks noChangeAspect="1"/>
          </p:cNvPicPr>
          <p:nvPr/>
        </p:nvPicPr>
        <p:blipFill>
          <a:blip r:embed="rId1"/>
          <a:stretch>
            <a:fillRect/>
          </a:stretch>
        </p:blipFill>
        <p:spPr>
          <a:xfrm>
            <a:off x="960120" y="86868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Bài toán: phát hiện botnet ngay tại edge</a:t>
            </a:r>
            <a:endParaRPr lang="en-US" sz="3200" dirty="0"/>
          </a:p>
        </p:txBody>
      </p:sp>
      <p:sp>
        <p:nvSpPr>
          <p:cNvPr id="3" name="prob0-circle"/>
          <p:cNvSpPr/>
          <p:nvPr/>
        </p:nvSpPr>
        <p:spPr>
          <a:xfrm>
            <a:off x="640080" y="1417320"/>
            <a:ext cx="822960" cy="822960"/>
          </a:xfrm>
          <a:prstGeom prst="ellipse">
            <a:avLst/>
          </a:prstGeom>
          <a:solidFill>
            <a:srgbClr val="D64545"/>
          </a:solidFill>
          <a:ln w="12700">
            <a:solidFill>
              <a:srgbClr val="D64545"/>
            </a:solidFill>
            <a:prstDash val="solid"/>
          </a:ln>
        </p:spPr>
      </p:sp>
      <p:pic>
        <p:nvPicPr>
          <p:cNvPr id="4" name="prob0-icon" descr="preencoded.png">    </p:cNvPr>
          <p:cNvPicPr>
            <a:picLocks noChangeAspect="1"/>
          </p:cNvPicPr>
          <p:nvPr/>
        </p:nvPicPr>
        <p:blipFill>
          <a:blip r:embed="rId1"/>
          <a:stretch>
            <a:fillRect/>
          </a:stretch>
        </p:blipFill>
        <p:spPr>
          <a:xfrm>
            <a:off x="845820" y="1623060"/>
            <a:ext cx="411480" cy="411480"/>
          </a:xfrm>
          <a:prstGeom prst="rect">
            <a:avLst/>
          </a:prstGeom>
        </p:spPr>
      </p:pic>
      <p:sp>
        <p:nvSpPr>
          <p:cNvPr id="5" name="Text 2"/>
          <p:cNvSpPr txBox="1"/>
          <p:nvPr/>
        </p:nvSpPr>
        <p:spPr>
          <a:xfrm>
            <a:off x="1691640" y="1417320"/>
            <a:ext cx="4572000" cy="411480"/>
          </a:xfrm>
          <a:prstGeom prst="rect">
            <a:avLst/>
          </a:prstGeom>
          <a:noFill/>
          <a:ln/>
        </p:spPr>
        <p:txBody>
          <a:bodyPr wrap="square" lIns="0" tIns="0" rIns="0" bIns="0" rtlCol="0" anchor="t"/>
          <a:lstStyle/>
          <a:p>
            <a:pPr indent="0" marL="0">
              <a:buNone/>
            </a:pPr>
            <a:r>
              <a:rPr lang="en-US" sz="1900" b="1" dirty="0">
                <a:solidFill>
                  <a:schemeClr val="tx2"/>
                </a:solidFill>
              </a:rPr>
              <a:t>Thiết bị IoT dễ bị chiếm</a:t>
            </a:r>
            <a:endParaRPr lang="en-US" sz="1900" dirty="0"/>
          </a:p>
        </p:txBody>
      </p:sp>
      <p:sp>
        <p:nvSpPr>
          <p:cNvPr id="6" name="Text 3"/>
          <p:cNvSpPr txBox="1"/>
          <p:nvPr/>
        </p:nvSpPr>
        <p:spPr>
          <a:xfrm>
            <a:off x="1691640" y="1856232"/>
            <a:ext cx="4572000" cy="822960"/>
          </a:xfrm>
          <a:prstGeom prst="rect">
            <a:avLst/>
          </a:prstGeom>
          <a:noFill/>
          <a:ln/>
        </p:spPr>
        <p:txBody>
          <a:bodyPr wrap="square" lIns="0" tIns="0" rIns="0" bIns="0" rtlCol="0" anchor="t"/>
          <a:lstStyle/>
          <a:p>
            <a:pPr indent="0" marL="0">
              <a:buNone/>
            </a:pPr>
            <a:r>
              <a:rPr lang="en-US" sz="1500" dirty="0">
                <a:solidFill>
                  <a:schemeClr val="tx1"/>
                </a:solidFill>
              </a:rPr>
              <a:t>Mật khẩu mặc định, ít vá – Mirai, BASHLITE chiếm hàng loạt để DDoS</a:t>
            </a:r>
            <a:endParaRPr lang="en-US" sz="1500" dirty="0"/>
          </a:p>
        </p:txBody>
      </p:sp>
      <p:sp>
        <p:nvSpPr>
          <p:cNvPr id="7" name="prob1-circle"/>
          <p:cNvSpPr/>
          <p:nvPr/>
        </p:nvSpPr>
        <p:spPr>
          <a:xfrm>
            <a:off x="640080" y="2880360"/>
            <a:ext cx="822960" cy="822960"/>
          </a:xfrm>
          <a:prstGeom prst="ellipse">
            <a:avLst/>
          </a:prstGeom>
          <a:solidFill>
            <a:srgbClr val="2E6FB0"/>
          </a:solidFill>
          <a:ln w="12700">
            <a:solidFill>
              <a:srgbClr val="2E6FB0"/>
            </a:solidFill>
            <a:prstDash val="solid"/>
          </a:ln>
        </p:spPr>
      </p:sp>
      <p:pic>
        <p:nvPicPr>
          <p:cNvPr id="8" name="prob1-icon" descr="preencoded.png">    </p:cNvPr>
          <p:cNvPicPr>
            <a:picLocks noChangeAspect="1"/>
          </p:cNvPicPr>
          <p:nvPr/>
        </p:nvPicPr>
        <p:blipFill>
          <a:blip r:embed="rId2"/>
          <a:stretch>
            <a:fillRect/>
          </a:stretch>
        </p:blipFill>
        <p:spPr>
          <a:xfrm>
            <a:off x="845820" y="3086100"/>
            <a:ext cx="411480" cy="411480"/>
          </a:xfrm>
          <a:prstGeom prst="rect">
            <a:avLst/>
          </a:prstGeom>
        </p:spPr>
      </p:pic>
      <p:sp>
        <p:nvSpPr>
          <p:cNvPr id="9" name="Text 5"/>
          <p:cNvSpPr txBox="1"/>
          <p:nvPr/>
        </p:nvSpPr>
        <p:spPr>
          <a:xfrm>
            <a:off x="1691640" y="2880360"/>
            <a:ext cx="4572000" cy="411480"/>
          </a:xfrm>
          <a:prstGeom prst="rect">
            <a:avLst/>
          </a:prstGeom>
          <a:noFill/>
          <a:ln/>
        </p:spPr>
        <p:txBody>
          <a:bodyPr wrap="square" lIns="0" tIns="0" rIns="0" bIns="0" rtlCol="0" anchor="t"/>
          <a:lstStyle/>
          <a:p>
            <a:pPr indent="0" marL="0">
              <a:buNone/>
            </a:pPr>
            <a:r>
              <a:rPr lang="en-US" sz="1900" b="1" dirty="0">
                <a:solidFill>
                  <a:schemeClr val="tx2"/>
                </a:solidFill>
              </a:rPr>
              <a:t>Edge có tài nguyên hạn chế</a:t>
            </a:r>
            <a:endParaRPr lang="en-US" sz="1900" dirty="0"/>
          </a:p>
        </p:txBody>
      </p:sp>
      <p:sp>
        <p:nvSpPr>
          <p:cNvPr id="10" name="Text 6"/>
          <p:cNvSpPr txBox="1"/>
          <p:nvPr/>
        </p:nvSpPr>
        <p:spPr>
          <a:xfrm>
            <a:off x="1691640" y="3319272"/>
            <a:ext cx="4572000" cy="822960"/>
          </a:xfrm>
          <a:prstGeom prst="rect">
            <a:avLst/>
          </a:prstGeom>
          <a:noFill/>
          <a:ln/>
        </p:spPr>
        <p:txBody>
          <a:bodyPr wrap="square" lIns="0" tIns="0" rIns="0" bIns="0" rtlCol="0" anchor="t"/>
          <a:lstStyle/>
          <a:p>
            <a:pPr indent="0" marL="0">
              <a:buNone/>
            </a:pPr>
            <a:r>
              <a:rPr lang="en-US" sz="1500" dirty="0">
                <a:solidFill>
                  <a:schemeClr val="tx1"/>
                </a:solidFill>
              </a:rPr>
              <a:t>Bộ phát hiện phải nhỏ (KB), nhanh (µs), ít RAM và năng lượng</a:t>
            </a:r>
            <a:endParaRPr lang="en-US" sz="1500" dirty="0"/>
          </a:p>
        </p:txBody>
      </p:sp>
      <p:sp>
        <p:nvSpPr>
          <p:cNvPr id="11" name="prob2-circle"/>
          <p:cNvSpPr/>
          <p:nvPr/>
        </p:nvSpPr>
        <p:spPr>
          <a:xfrm>
            <a:off x="640080" y="4343400"/>
            <a:ext cx="822960" cy="822960"/>
          </a:xfrm>
          <a:prstGeom prst="ellipse">
            <a:avLst/>
          </a:prstGeom>
          <a:solidFill>
            <a:srgbClr val="0E9F8E"/>
          </a:solidFill>
          <a:ln w="12700">
            <a:solidFill>
              <a:srgbClr val="0E9F8E"/>
            </a:solidFill>
            <a:prstDash val="solid"/>
          </a:ln>
        </p:spPr>
      </p:sp>
      <p:pic>
        <p:nvPicPr>
          <p:cNvPr id="12" name="prob2-icon" descr="preencoded.png">    </p:cNvPr>
          <p:cNvPicPr>
            <a:picLocks noChangeAspect="1"/>
          </p:cNvPicPr>
          <p:nvPr/>
        </p:nvPicPr>
        <p:blipFill>
          <a:blip r:embed="rId3"/>
          <a:stretch>
            <a:fillRect/>
          </a:stretch>
        </p:blipFill>
        <p:spPr>
          <a:xfrm>
            <a:off x="845820" y="4549140"/>
            <a:ext cx="411480" cy="411480"/>
          </a:xfrm>
          <a:prstGeom prst="rect">
            <a:avLst/>
          </a:prstGeom>
        </p:spPr>
      </p:pic>
      <p:sp>
        <p:nvSpPr>
          <p:cNvPr id="13" name="Text 8"/>
          <p:cNvSpPr txBox="1"/>
          <p:nvPr/>
        </p:nvSpPr>
        <p:spPr>
          <a:xfrm>
            <a:off x="1691640" y="4343400"/>
            <a:ext cx="4572000" cy="411480"/>
          </a:xfrm>
          <a:prstGeom prst="rect">
            <a:avLst/>
          </a:prstGeom>
          <a:noFill/>
          <a:ln/>
        </p:spPr>
        <p:txBody>
          <a:bodyPr wrap="square" lIns="0" tIns="0" rIns="0" bIns="0" rtlCol="0" anchor="t"/>
          <a:lstStyle/>
          <a:p>
            <a:pPr indent="0" marL="0">
              <a:buNone/>
            </a:pPr>
            <a:r>
              <a:rPr lang="en-US" sz="1900" b="1" dirty="0">
                <a:solidFill>
                  <a:schemeClr val="tx2"/>
                </a:solidFill>
              </a:rPr>
              <a:t>Mỗi thiết bị một hành vi</a:t>
            </a:r>
            <a:endParaRPr lang="en-US" sz="1900" dirty="0"/>
          </a:p>
        </p:txBody>
      </p:sp>
      <p:sp>
        <p:nvSpPr>
          <p:cNvPr id="14" name="Text 9"/>
          <p:cNvSpPr txBox="1"/>
          <p:nvPr/>
        </p:nvSpPr>
        <p:spPr>
          <a:xfrm>
            <a:off x="1691640" y="4782312"/>
            <a:ext cx="4572000" cy="822960"/>
          </a:xfrm>
          <a:prstGeom prst="rect">
            <a:avLst/>
          </a:prstGeom>
          <a:noFill/>
          <a:ln/>
        </p:spPr>
        <p:txBody>
          <a:bodyPr wrap="square" lIns="0" tIns="0" rIns="0" bIns="0" rtlCol="0" anchor="t"/>
          <a:lstStyle/>
          <a:p>
            <a:pPr indent="0" marL="0">
              <a:buNone/>
            </a:pPr>
            <a:r>
              <a:rPr lang="en-US" sz="1500" dirty="0">
                <a:solidFill>
                  <a:schemeClr val="tx1"/>
                </a:solidFill>
              </a:rPr>
              <a:t>Học benign riêng từng thiết bị, cảnh báo khi lỗi tái tạo tăng</a:t>
            </a:r>
            <a:endParaRPr lang="en-US" sz="1500" dirty="0"/>
          </a:p>
        </p:txBody>
      </p:sp>
      <p:sp>
        <p:nvSpPr>
          <p:cNvPr id="15" name="rq-card"/>
          <p:cNvSpPr/>
          <p:nvPr/>
        </p:nvSpPr>
        <p:spPr>
          <a:xfrm>
            <a:off x="6675120" y="1325880"/>
            <a:ext cx="4937760" cy="4754880"/>
          </a:xfrm>
          <a:prstGeom prst="roundRect">
            <a:avLst>
              <a:gd name="adj" fmla="val 2308"/>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6" name="Text 11"/>
          <p:cNvSpPr txBox="1"/>
          <p:nvPr/>
        </p:nvSpPr>
        <p:spPr>
          <a:xfrm>
            <a:off x="6949440" y="1508760"/>
            <a:ext cx="4389120" cy="411480"/>
          </a:xfrm>
          <a:prstGeom prst="rect">
            <a:avLst/>
          </a:prstGeom>
          <a:noFill/>
          <a:ln/>
        </p:spPr>
        <p:txBody>
          <a:bodyPr wrap="square" lIns="0" tIns="0" rIns="0" bIns="0" rtlCol="0" anchor="t"/>
          <a:lstStyle/>
          <a:p>
            <a:pPr indent="0" marL="0">
              <a:buNone/>
            </a:pPr>
            <a:r>
              <a:rPr lang="en-US" sz="1900" b="1" dirty="0">
                <a:solidFill>
                  <a:schemeClr val="tx2"/>
                </a:solidFill>
              </a:rPr>
              <a:t>Câu hỏi nghiên cứu</a:t>
            </a:r>
            <a:endParaRPr lang="en-US" sz="1900" dirty="0"/>
          </a:p>
        </p:txBody>
      </p:sp>
      <p:sp>
        <p:nvSpPr>
          <p:cNvPr id="17" name="Text 12"/>
          <p:cNvSpPr txBox="1"/>
          <p:nvPr/>
        </p:nvSpPr>
        <p:spPr>
          <a:xfrm>
            <a:off x="6949440" y="2011680"/>
            <a:ext cx="448056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RQ1 Tái lập baseline Meidan 2018</a:t>
            </a:r>
            <a:endParaRPr lang="en-US" sz="1600" dirty="0"/>
          </a:p>
          <a:p>
            <a:pPr marL="342900" indent="-342900">
              <a:spcAft>
                <a:spcPts val="800"/>
              </a:spcAft>
              <a:buSzPct val="100000"/>
              <a:buChar char="•"/>
            </a:pPr>
            <a:r>
              <a:rPr lang="en-US" sz="1600" dirty="0">
                <a:solidFill>
                  <a:schemeClr val="tx1"/>
                </a:solidFill>
              </a:rPr>
              <a:t>RQ2 Per-device có hơn model chung?</a:t>
            </a:r>
            <a:endParaRPr lang="en-US" sz="1600" dirty="0"/>
          </a:p>
          <a:p>
            <a:pPr marL="342900" indent="-342900">
              <a:spcAft>
                <a:spcPts val="800"/>
              </a:spcAft>
              <a:buSzPct val="100000"/>
              <a:buChar char="•"/>
            </a:pPr>
            <a:r>
              <a:rPr lang="en-US" sz="1600" dirty="0">
                <a:solidFill>
                  <a:schemeClr val="tx1"/>
                </a:solidFill>
              </a:rPr>
              <a:t>RQ3 AE nhẹ giữ chất lượng?</a:t>
            </a:r>
            <a:endParaRPr lang="en-US" sz="1600" dirty="0"/>
          </a:p>
          <a:p>
            <a:pPr marL="342900" indent="-342900">
              <a:spcAft>
                <a:spcPts val="800"/>
              </a:spcAft>
              <a:buSzPct val="100000"/>
              <a:buChar char="•"/>
            </a:pPr>
            <a:r>
              <a:rPr lang="en-US" sz="1600" dirty="0">
                <a:solidFill>
                  <a:schemeClr val="tx1"/>
                </a:solidFill>
              </a:rPr>
              <a:t>RQ4 int8 + hiệu chỉnh ngưỡng</a:t>
            </a:r>
            <a:endParaRPr lang="en-US" sz="1600" dirty="0"/>
          </a:p>
          <a:p>
            <a:pPr marL="342900" indent="-342900">
              <a:spcAft>
                <a:spcPts val="800"/>
              </a:spcAft>
              <a:buSzPct val="100000"/>
              <a:buChar char="•"/>
            </a:pPr>
            <a:r>
              <a:rPr lang="en-US" sz="1600" dirty="0">
                <a:solidFill>
                  <a:schemeClr val="tx1"/>
                </a:solidFill>
              </a:rPr>
              <a:t>RQ5 Chạy được trên edge?</a:t>
            </a:r>
            <a:endParaRPr lang="en-US" sz="1600" dirty="0"/>
          </a:p>
          <a:p>
            <a:pPr marL="342900" indent="-342900">
              <a:spcAft>
                <a:spcPts val="800"/>
              </a:spcAft>
              <a:buSzPct val="100000"/>
              <a:buChar char="•"/>
            </a:pPr>
            <a:r>
              <a:rPr lang="en-US" sz="1600" dirty="0">
                <a:solidFill>
                  <a:schemeClr val="tx1"/>
                </a:solidFill>
              </a:rPr>
              <a:t>RQ6 AE kích hoạt MTD lai</a:t>
            </a:r>
            <a:endParaRPr lang="en-US" sz="1600" dirty="0"/>
          </a:p>
        </p:txBody>
      </p:sp>
      <p:sp>
        <p:nvSpPr>
          <p:cNvPr id="18" name="Text 13"/>
          <p:cNvSpPr txBox="1"/>
          <p:nvPr/>
        </p:nvSpPr>
        <p:spPr>
          <a:xfrm>
            <a:off x="6949440" y="5349240"/>
            <a:ext cx="4480560" cy="548640"/>
          </a:xfrm>
          <a:prstGeom prst="rect">
            <a:avLst/>
          </a:prstGeom>
          <a:noFill/>
          <a:ln/>
        </p:spPr>
        <p:txBody>
          <a:bodyPr wrap="square" lIns="0" tIns="0" rIns="0" bIns="0" rtlCol="0" anchor="t"/>
          <a:lstStyle/>
          <a:p>
            <a:pPr indent="0" marL="0">
              <a:buNone/>
            </a:pPr>
            <a:r>
              <a:rPr lang="en-US" sz="1200" i="1" dirty="0">
                <a:solidFill>
                  <a:schemeClr val="accent4"/>
                </a:solidFill>
              </a:rPr>
              <a:t>Tiêu chí thành công chốt trước khi chạy (SHA-256 ghi trong nhật ký)</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Paper chính nói về MTD → chiến lược hai track</a:t>
            </a:r>
            <a:endParaRPr lang="en-US" sz="3200" dirty="0"/>
          </a:p>
        </p:txBody>
      </p:sp>
      <p:sp>
        <p:nvSpPr>
          <p:cNvPr id="3" name="Text 1"/>
          <p:cNvSpPr txBox="1"/>
          <p:nvPr/>
        </p:nvSpPr>
        <p:spPr>
          <a:xfrm>
            <a:off x="548640" y="1234440"/>
            <a:ext cx="11064240" cy="640080"/>
          </a:xfrm>
          <a:prstGeom prst="rect">
            <a:avLst/>
          </a:prstGeom>
          <a:noFill/>
          <a:ln/>
        </p:spPr>
        <p:txBody>
          <a:bodyPr wrap="square" lIns="0" tIns="0" rIns="0" bIns="0" rtlCol="0" anchor="t"/>
          <a:lstStyle/>
          <a:p>
            <a:pPr indent="0" marL="0">
              <a:buNone/>
            </a:pPr>
            <a:r>
              <a:rPr lang="en-US" sz="1500" dirty="0">
                <a:solidFill>
                  <a:schemeClr val="accent4"/>
                </a:solidFill>
              </a:rPr>
              <a:t>Masud et al. (2025, Computers &amp; Security 153:104380) – hybrid Moving Target Defence trên mô hình 3-layer THARM; không dùng autoencoder, N-BaIoT hay edge.</a:t>
            </a:r>
            <a:endParaRPr lang="en-US" sz="1500" dirty="0"/>
          </a:p>
        </p:txBody>
      </p:sp>
      <p:sp>
        <p:nvSpPr>
          <p:cNvPr id="4" name="track0"/>
          <p:cNvSpPr/>
          <p:nvPr/>
        </p:nvSpPr>
        <p:spPr>
          <a:xfrm>
            <a:off x="548640" y="2057400"/>
            <a:ext cx="5257800" cy="3108960"/>
          </a:xfrm>
          <a:prstGeom prst="roundRect">
            <a:avLst>
              <a:gd name="adj" fmla="val 3529"/>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5" name="trackicon0-circle"/>
          <p:cNvSpPr/>
          <p:nvPr/>
        </p:nvSpPr>
        <p:spPr>
          <a:xfrm>
            <a:off x="822960" y="2286000"/>
            <a:ext cx="731520" cy="731520"/>
          </a:xfrm>
          <a:prstGeom prst="ellipse">
            <a:avLst/>
          </a:prstGeom>
          <a:solidFill>
            <a:srgbClr val="0E9F8E"/>
          </a:solidFill>
          <a:ln w="12700">
            <a:solidFill>
              <a:srgbClr val="0E9F8E"/>
            </a:solidFill>
            <a:prstDash val="solid"/>
          </a:ln>
        </p:spPr>
      </p:sp>
      <p:pic>
        <p:nvPicPr>
          <p:cNvPr id="6" name="trackicon0-icon" descr="preencoded.png">    </p:cNvPr>
          <p:cNvPicPr>
            <a:picLocks noChangeAspect="1"/>
          </p:cNvPicPr>
          <p:nvPr/>
        </p:nvPicPr>
        <p:blipFill>
          <a:blip r:embed="rId1"/>
          <a:stretch>
            <a:fillRect/>
          </a:stretch>
        </p:blipFill>
        <p:spPr>
          <a:xfrm>
            <a:off x="1005840" y="2468880"/>
            <a:ext cx="365760" cy="365760"/>
          </a:xfrm>
          <a:prstGeom prst="rect">
            <a:avLst/>
          </a:prstGeom>
        </p:spPr>
      </p:pic>
      <p:sp>
        <p:nvSpPr>
          <p:cNvPr id="7" name="Text 4"/>
          <p:cNvSpPr txBox="1"/>
          <p:nvPr/>
        </p:nvSpPr>
        <p:spPr>
          <a:xfrm>
            <a:off x="1737360" y="2423160"/>
            <a:ext cx="3840480" cy="457200"/>
          </a:xfrm>
          <a:prstGeom prst="rect">
            <a:avLst/>
          </a:prstGeom>
          <a:noFill/>
          <a:ln/>
        </p:spPr>
        <p:txBody>
          <a:bodyPr wrap="square" lIns="0" tIns="0" rIns="0" bIns="0" rtlCol="0" anchor="t"/>
          <a:lstStyle/>
          <a:p>
            <a:pPr indent="0" marL="0">
              <a:buNone/>
            </a:pPr>
            <a:r>
              <a:rPr lang="en-US" sz="2000" b="1" dirty="0">
                <a:solidFill>
                  <a:schemeClr val="tx2"/>
                </a:solidFill>
              </a:rPr>
              <a:t>Track A · phát hiện</a:t>
            </a:r>
            <a:endParaRPr lang="en-US" sz="2000" dirty="0"/>
          </a:p>
        </p:txBody>
      </p:sp>
      <p:sp>
        <p:nvSpPr>
          <p:cNvPr id="8" name="Text 5"/>
          <p:cNvSpPr txBox="1"/>
          <p:nvPr/>
        </p:nvSpPr>
        <p:spPr>
          <a:xfrm>
            <a:off x="914400" y="3246120"/>
            <a:ext cx="4572000" cy="1783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Per-device AE trên N-BaIoT, baseline Meidan 2018</a:t>
            </a:r>
            <a:endParaRPr lang="en-US" sz="1600" dirty="0"/>
          </a:p>
          <a:p>
            <a:pPr marL="342900" indent="-342900">
              <a:spcAft>
                <a:spcPts val="800"/>
              </a:spcAft>
              <a:buSzPct val="100000"/>
              <a:buChar char="•"/>
            </a:pPr>
            <a:r>
              <a:rPr lang="en-US" sz="1600" dirty="0">
                <a:solidFill>
                  <a:schemeClr val="tx1"/>
                </a:solidFill>
              </a:rPr>
              <a:t>Model nhẹ + int8 + hiệu chỉnh ngưỡng</a:t>
            </a:r>
            <a:endParaRPr lang="en-US" sz="1600" dirty="0"/>
          </a:p>
          <a:p>
            <a:pPr marL="342900" indent="-342900">
              <a:spcAft>
                <a:spcPts val="800"/>
              </a:spcAft>
              <a:buSzPct val="100000"/>
              <a:buChar char="•"/>
            </a:pPr>
            <a:r>
              <a:rPr lang="en-US" sz="1600" dirty="0">
                <a:solidFill>
                  <a:schemeClr val="tx1"/>
                </a:solidFill>
              </a:rPr>
              <a:t>Edge benchmark trên 1 lõi E-core</a:t>
            </a:r>
            <a:endParaRPr lang="en-US" sz="1600" dirty="0"/>
          </a:p>
        </p:txBody>
      </p:sp>
      <p:sp>
        <p:nvSpPr>
          <p:cNvPr id="9" name="track1"/>
          <p:cNvSpPr/>
          <p:nvPr/>
        </p:nvSpPr>
        <p:spPr>
          <a:xfrm>
            <a:off x="6355080" y="2057400"/>
            <a:ext cx="5257800" cy="3108960"/>
          </a:xfrm>
          <a:prstGeom prst="roundRect">
            <a:avLst>
              <a:gd name="adj" fmla="val 3529"/>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10" name="trackicon1-circle"/>
          <p:cNvSpPr/>
          <p:nvPr/>
        </p:nvSpPr>
        <p:spPr>
          <a:xfrm>
            <a:off x="6629400" y="2286000"/>
            <a:ext cx="731520" cy="731520"/>
          </a:xfrm>
          <a:prstGeom prst="ellipse">
            <a:avLst/>
          </a:prstGeom>
          <a:solidFill>
            <a:srgbClr val="F2A541"/>
          </a:solidFill>
          <a:ln w="12700">
            <a:solidFill>
              <a:srgbClr val="F2A541"/>
            </a:solidFill>
            <a:prstDash val="solid"/>
          </a:ln>
        </p:spPr>
      </p:sp>
      <p:pic>
        <p:nvPicPr>
          <p:cNvPr id="11" name="trackicon1-icon" descr="preencoded.png">    </p:cNvPr>
          <p:cNvPicPr>
            <a:picLocks noChangeAspect="1"/>
          </p:cNvPicPr>
          <p:nvPr/>
        </p:nvPicPr>
        <p:blipFill>
          <a:blip r:embed="rId2"/>
          <a:stretch>
            <a:fillRect/>
          </a:stretch>
        </p:blipFill>
        <p:spPr>
          <a:xfrm>
            <a:off x="6812280" y="2468880"/>
            <a:ext cx="365760" cy="365760"/>
          </a:xfrm>
          <a:prstGeom prst="rect">
            <a:avLst/>
          </a:prstGeom>
        </p:spPr>
      </p:pic>
      <p:sp>
        <p:nvSpPr>
          <p:cNvPr id="12" name="Text 8"/>
          <p:cNvSpPr txBox="1"/>
          <p:nvPr/>
        </p:nvSpPr>
        <p:spPr>
          <a:xfrm>
            <a:off x="7543800" y="2423160"/>
            <a:ext cx="3840480" cy="457200"/>
          </a:xfrm>
          <a:prstGeom prst="rect">
            <a:avLst/>
          </a:prstGeom>
          <a:noFill/>
          <a:ln/>
        </p:spPr>
        <p:txBody>
          <a:bodyPr wrap="square" lIns="0" tIns="0" rIns="0" bIns="0" rtlCol="0" anchor="t"/>
          <a:lstStyle/>
          <a:p>
            <a:pPr indent="0" marL="0">
              <a:buNone/>
            </a:pPr>
            <a:r>
              <a:rPr lang="en-US" sz="2000" b="1" dirty="0">
                <a:solidFill>
                  <a:schemeClr val="tx2"/>
                </a:solidFill>
              </a:rPr>
              <a:t>Track B · MTD</a:t>
            </a:r>
            <a:endParaRPr lang="en-US" sz="2000" dirty="0"/>
          </a:p>
        </p:txBody>
      </p:sp>
      <p:sp>
        <p:nvSpPr>
          <p:cNvPr id="13" name="Text 9"/>
          <p:cNvSpPr txBox="1"/>
          <p:nvPr/>
        </p:nvSpPr>
        <p:spPr>
          <a:xfrm>
            <a:off x="6720840" y="3246120"/>
            <a:ext cx="4572000" cy="1783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Tái lập 3-layer THARM bằng đúng CVE/topology của paper (E11)</a:t>
            </a:r>
            <a:endParaRPr lang="en-US" sz="1600" dirty="0"/>
          </a:p>
          <a:p>
            <a:pPr marL="342900" indent="-342900">
              <a:spcAft>
                <a:spcPts val="800"/>
              </a:spcAft>
              <a:buSzPct val="100000"/>
              <a:buChar char="•"/>
            </a:pPr>
            <a:r>
              <a:rPr lang="en-US" sz="1600" dirty="0">
                <a:solidFill>
                  <a:schemeClr val="tx1"/>
                </a:solidFill>
              </a:rPr>
              <a:t>Shuffle / diversity / redundancy và tổ hợp</a:t>
            </a:r>
            <a:endParaRPr lang="en-US" sz="1600" dirty="0"/>
          </a:p>
          <a:p>
            <a:pPr marL="342900" indent="-342900">
              <a:spcAft>
                <a:spcPts val="800"/>
              </a:spcAft>
              <a:buSzPct val="100000"/>
              <a:buChar char="•"/>
            </a:pPr>
            <a:r>
              <a:rPr lang="en-US" sz="1600" dirty="0">
                <a:solidFill>
                  <a:schemeClr val="tx1"/>
                </a:solidFill>
              </a:rPr>
              <a:t>MTD lai: cảnh báo AE kích hoạt move</a:t>
            </a:r>
            <a:endParaRPr lang="en-US" sz="1600" dirty="0"/>
          </a:p>
        </p:txBody>
      </p:sp>
      <p:sp>
        <p:nvSpPr>
          <p:cNvPr id="14" name="track-arrow"/>
          <p:cNvSpPr/>
          <p:nvPr/>
        </p:nvSpPr>
        <p:spPr>
          <a:xfrm>
            <a:off x="5596128" y="3383280"/>
            <a:ext cx="548640" cy="457200"/>
          </a:xfrm>
          <a:prstGeom prst="rightArrow">
            <a:avLst/>
          </a:prstGeom>
          <a:solidFill>
            <a:srgbClr val="D64545"/>
          </a:solidFill>
          <a:ln w="12700">
            <a:solidFill>
              <a:srgbClr val="D64545"/>
            </a:solidFill>
            <a:prstDash val="solid"/>
          </a:ln>
        </p:spPr>
      </p:sp>
      <p:sp>
        <p:nvSpPr>
          <p:cNvPr id="15" name="Text 11"/>
          <p:cNvSpPr txBox="1"/>
          <p:nvPr/>
        </p:nvSpPr>
        <p:spPr>
          <a:xfrm>
            <a:off x="548640" y="5440680"/>
            <a:ext cx="11064240" cy="457200"/>
          </a:xfrm>
          <a:prstGeom prst="rect">
            <a:avLst/>
          </a:prstGeom>
          <a:noFill/>
          <a:ln/>
        </p:spPr>
        <p:txBody>
          <a:bodyPr wrap="square" lIns="0" tIns="0" rIns="0" bIns="0" rtlCol="0" anchor="t"/>
          <a:lstStyle/>
          <a:p>
            <a:pPr algn="ctr" indent="0" marL="0">
              <a:buNone/>
            </a:pPr>
            <a:r>
              <a:rPr lang="en-US" sz="1600" b="1" dirty="0">
                <a:solidFill>
                  <a:schemeClr val="accent3"/>
                </a:solidFill>
              </a:rPr>
              <a:t>Cầu nối: cửa sổ cảnh báo của AE (Track A) là sự kiện kích hoạt MTD event-based (Track B)</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Dữ liệu N-BaIoT và chống rò rỉ train/test</a:t>
            </a:r>
            <a:endParaRPr lang="en-US" sz="3200" dirty="0"/>
          </a:p>
        </p:txBody>
      </p:sp>
      <p:sp>
        <p:nvSpPr>
          <p:cNvPr id="3" name="stat0-num"/>
          <p:cNvSpPr txBox="1"/>
          <p:nvPr/>
        </p:nvSpPr>
        <p:spPr>
          <a:xfrm>
            <a:off x="548640" y="1325880"/>
            <a:ext cx="3474720" cy="868680"/>
          </a:xfrm>
          <a:prstGeom prst="rect">
            <a:avLst/>
          </a:prstGeom>
          <a:noFill/>
          <a:ln/>
        </p:spPr>
        <p:txBody>
          <a:bodyPr wrap="square" lIns="0" tIns="0" rIns="0" bIns="0" rtlCol="0" anchor="t"/>
          <a:lstStyle/>
          <a:p>
            <a:pPr indent="0" marL="0">
              <a:buNone/>
            </a:pPr>
            <a:r>
              <a:rPr lang="en-US" sz="4000" b="1" dirty="0">
                <a:solidFill>
                  <a:srgbClr val="0B1F33"/>
                </a:solidFill>
                <a:latin typeface="Cambria" pitchFamily="34" charset="0"/>
                <a:ea typeface="Cambria" pitchFamily="34" charset="-122"/>
                <a:cs typeface="Cambria" pitchFamily="34" charset="-120"/>
              </a:rPr>
              <a:t>7.06M</a:t>
            </a:r>
            <a:endParaRPr lang="en-US" sz="4000" dirty="0"/>
          </a:p>
        </p:txBody>
      </p:sp>
      <p:sp>
        <p:nvSpPr>
          <p:cNvPr id="4" name="stat0-label"/>
          <p:cNvSpPr txBox="1"/>
          <p:nvPr/>
        </p:nvSpPr>
        <p:spPr>
          <a:xfrm>
            <a:off x="548640" y="2194560"/>
            <a:ext cx="3474720" cy="640080"/>
          </a:xfrm>
          <a:prstGeom prst="rect">
            <a:avLst/>
          </a:prstGeom>
          <a:noFill/>
          <a:ln/>
        </p:spPr>
        <p:txBody>
          <a:bodyPr wrap="square" lIns="0" tIns="0" rIns="0" bIns="0" rtlCol="0" anchor="t"/>
          <a:lstStyle/>
          <a:p>
            <a:pPr indent="0" marL="0">
              <a:buNone/>
            </a:pPr>
            <a:r>
              <a:rPr lang="en-US" sz="1300" dirty="0">
                <a:solidFill>
                  <a:schemeClr val="accent4"/>
                </a:solidFill>
              </a:rPr>
              <a:t>dòng · UCI, CC BY 4.0 · 107 file khớp SHA-256</a:t>
            </a:r>
            <a:endParaRPr lang="en-US" sz="1300" dirty="0"/>
          </a:p>
        </p:txBody>
      </p:sp>
      <p:sp>
        <p:nvSpPr>
          <p:cNvPr id="5" name="stat1-num"/>
          <p:cNvSpPr txBox="1"/>
          <p:nvPr/>
        </p:nvSpPr>
        <p:spPr>
          <a:xfrm>
            <a:off x="4297680" y="1325880"/>
            <a:ext cx="3474720" cy="868680"/>
          </a:xfrm>
          <a:prstGeom prst="rect">
            <a:avLst/>
          </a:prstGeom>
          <a:noFill/>
          <a:ln/>
        </p:spPr>
        <p:txBody>
          <a:bodyPr wrap="square" lIns="0" tIns="0" rIns="0" bIns="0" rtlCol="0" anchor="t"/>
          <a:lstStyle/>
          <a:p>
            <a:pPr indent="0" marL="0">
              <a:buNone/>
            </a:pPr>
            <a:r>
              <a:rPr lang="en-US" sz="4000" b="1" dirty="0">
                <a:solidFill>
                  <a:srgbClr val="D64545"/>
                </a:solidFill>
                <a:latin typeface="Cambria" pitchFamily="34" charset="0"/>
                <a:ea typeface="Cambria" pitchFamily="34" charset="-122"/>
                <a:cs typeface="Cambria" pitchFamily="34" charset="-120"/>
              </a:rPr>
              <a:t>157,779</a:t>
            </a:r>
            <a:endParaRPr lang="en-US" sz="4000" dirty="0"/>
          </a:p>
        </p:txBody>
      </p:sp>
      <p:sp>
        <p:nvSpPr>
          <p:cNvPr id="6" name="stat1-label"/>
          <p:cNvSpPr txBox="1"/>
          <p:nvPr/>
        </p:nvSpPr>
        <p:spPr>
          <a:xfrm>
            <a:off x="4297680" y="2194560"/>
            <a:ext cx="3474720" cy="640080"/>
          </a:xfrm>
          <a:prstGeom prst="rect">
            <a:avLst/>
          </a:prstGeom>
          <a:noFill/>
          <a:ln/>
        </p:spPr>
        <p:txBody>
          <a:bodyPr wrap="square" lIns="0" tIns="0" rIns="0" bIns="0" rtlCol="0" anchor="t"/>
          <a:lstStyle/>
          <a:p>
            <a:pPr indent="0" marL="0">
              <a:buNone/>
            </a:pPr>
            <a:r>
              <a:rPr lang="en-US" sz="1300" dirty="0">
                <a:solidFill>
                  <a:schemeClr val="accent4"/>
                </a:solidFill>
              </a:rPr>
              <a:t>dòng trùng lặp bị loại (2.2%)</a:t>
            </a:r>
            <a:endParaRPr lang="en-US" sz="1300" dirty="0"/>
          </a:p>
        </p:txBody>
      </p:sp>
      <p:sp>
        <p:nvSpPr>
          <p:cNvPr id="7" name="stat2-num"/>
          <p:cNvSpPr txBox="1"/>
          <p:nvPr/>
        </p:nvSpPr>
        <p:spPr>
          <a:xfrm>
            <a:off x="8046720" y="1325880"/>
            <a:ext cx="3474720" cy="868680"/>
          </a:xfrm>
          <a:prstGeom prst="rect">
            <a:avLst/>
          </a:prstGeom>
          <a:noFill/>
          <a:ln/>
        </p:spPr>
        <p:txBody>
          <a:bodyPr wrap="square" lIns="0" tIns="0" rIns="0" bIns="0" rtlCol="0" anchor="t"/>
          <a:lstStyle/>
          <a:p>
            <a:pPr indent="0" marL="0">
              <a:buNone/>
            </a:pPr>
            <a:r>
              <a:rPr lang="en-US" sz="4000" b="1" dirty="0">
                <a:solidFill>
                  <a:srgbClr val="0B1F33"/>
                </a:solidFill>
                <a:latin typeface="Cambria" pitchFamily="34" charset="0"/>
                <a:ea typeface="Cambria" pitchFamily="34" charset="-122"/>
                <a:cs typeface="Cambria" pitchFamily="34" charset="-120"/>
              </a:rPr>
              <a:t>5.5–61.8×</a:t>
            </a:r>
            <a:endParaRPr lang="en-US" sz="4000" dirty="0"/>
          </a:p>
        </p:txBody>
      </p:sp>
      <p:sp>
        <p:nvSpPr>
          <p:cNvPr id="8" name="stat2-label"/>
          <p:cNvSpPr txBox="1"/>
          <p:nvPr/>
        </p:nvSpPr>
        <p:spPr>
          <a:xfrm>
            <a:off x="8046720" y="2194560"/>
            <a:ext cx="3474720" cy="640080"/>
          </a:xfrm>
          <a:prstGeom prst="rect">
            <a:avLst/>
          </a:prstGeom>
          <a:noFill/>
          <a:ln/>
        </p:spPr>
        <p:txBody>
          <a:bodyPr wrap="square" lIns="0" tIns="0" rIns="0" bIns="0" rtlCol="0" anchor="t"/>
          <a:lstStyle/>
          <a:p>
            <a:pPr indent="0" marL="0">
              <a:buNone/>
            </a:pPr>
            <a:r>
              <a:rPr lang="en-US" sz="1300" dirty="0">
                <a:solidFill>
                  <a:schemeClr val="accent4"/>
                </a:solidFill>
              </a:rPr>
              <a:t>attack nhiều hơn benign → dùng macro-F1, FPR</a:t>
            </a:r>
            <a:endParaRPr lang="en-US" sz="1300" dirty="0"/>
          </a:p>
        </p:txBody>
      </p:sp>
      <p:sp>
        <p:nvSpPr>
          <p:cNvPr id="9" name="split0"/>
          <p:cNvSpPr/>
          <p:nvPr/>
        </p:nvSpPr>
        <p:spPr>
          <a:xfrm>
            <a:off x="548640" y="3063240"/>
            <a:ext cx="3383280" cy="731520"/>
          </a:xfrm>
          <a:prstGeom prst="rect">
            <a:avLst/>
          </a:prstGeom>
          <a:solidFill>
            <a:srgbClr val="0E9F8E"/>
          </a:solidFill>
          <a:ln w="12700">
            <a:solidFill>
              <a:srgbClr val="0E9F8E"/>
            </a:solidFill>
            <a:prstDash val="solid"/>
          </a:ln>
        </p:spPr>
      </p:sp>
      <p:sp>
        <p:nvSpPr>
          <p:cNvPr id="10" name="Text 8"/>
          <p:cNvSpPr txBox="1"/>
          <p:nvPr/>
        </p:nvSpPr>
        <p:spPr>
          <a:xfrm>
            <a:off x="685800" y="3063240"/>
            <a:ext cx="3108960" cy="731520"/>
          </a:xfrm>
          <a:prstGeom prst="rect">
            <a:avLst/>
          </a:prstGeom>
          <a:noFill/>
          <a:ln/>
        </p:spPr>
        <p:txBody>
          <a:bodyPr wrap="square" lIns="0" tIns="0" rIns="0" bIns="0" rtlCol="0" anchor="ctr"/>
          <a:lstStyle/>
          <a:p>
            <a:pPr algn="ctr" indent="0" marL="0">
              <a:buNone/>
            </a:pPr>
            <a:r>
              <a:rPr lang="en-US" sz="1500" b="1" dirty="0">
                <a:solidFill>
                  <a:schemeClr val="bg1"/>
                </a:solidFill>
              </a:rPr>
              <a:t>DStrn · train AE + fit scaler</a:t>
            </a:r>
            <a:endParaRPr lang="en-US" sz="1500" dirty="0"/>
          </a:p>
        </p:txBody>
      </p:sp>
      <p:sp>
        <p:nvSpPr>
          <p:cNvPr id="11" name="split1"/>
          <p:cNvSpPr/>
          <p:nvPr/>
        </p:nvSpPr>
        <p:spPr>
          <a:xfrm>
            <a:off x="4297680" y="3063240"/>
            <a:ext cx="3383280" cy="731520"/>
          </a:xfrm>
          <a:prstGeom prst="rect">
            <a:avLst/>
          </a:prstGeom>
          <a:solidFill>
            <a:srgbClr val="2E6FB0"/>
          </a:solidFill>
          <a:ln w="12700">
            <a:solidFill>
              <a:srgbClr val="2E6FB0"/>
            </a:solidFill>
            <a:prstDash val="solid"/>
          </a:ln>
        </p:spPr>
      </p:sp>
      <p:sp>
        <p:nvSpPr>
          <p:cNvPr id="12" name="Text 10"/>
          <p:cNvSpPr txBox="1"/>
          <p:nvPr/>
        </p:nvSpPr>
        <p:spPr>
          <a:xfrm>
            <a:off x="4434840" y="3063240"/>
            <a:ext cx="3108960" cy="731520"/>
          </a:xfrm>
          <a:prstGeom prst="rect">
            <a:avLst/>
          </a:prstGeom>
          <a:noFill/>
          <a:ln/>
        </p:spPr>
        <p:txBody>
          <a:bodyPr wrap="square" lIns="0" tIns="0" rIns="0" bIns="0" rtlCol="0" anchor="ctr"/>
          <a:lstStyle/>
          <a:p>
            <a:pPr algn="ctr" indent="0" marL="0">
              <a:buNone/>
            </a:pPr>
            <a:r>
              <a:rPr lang="en-US" sz="1500" b="1" dirty="0">
                <a:solidFill>
                  <a:schemeClr val="bg1"/>
                </a:solidFill>
              </a:rPr>
              <a:t>DSopt · ngưỡng tr*, cửa sổ ws*</a:t>
            </a:r>
            <a:endParaRPr lang="en-US" sz="1500" dirty="0"/>
          </a:p>
        </p:txBody>
      </p:sp>
      <p:sp>
        <p:nvSpPr>
          <p:cNvPr id="13" name="split2"/>
          <p:cNvSpPr/>
          <p:nvPr/>
        </p:nvSpPr>
        <p:spPr>
          <a:xfrm>
            <a:off x="8046720" y="3063240"/>
            <a:ext cx="3383280" cy="731520"/>
          </a:xfrm>
          <a:prstGeom prst="rect">
            <a:avLst/>
          </a:prstGeom>
          <a:solidFill>
            <a:srgbClr val="D64545"/>
          </a:solidFill>
          <a:ln w="12700">
            <a:solidFill>
              <a:srgbClr val="D64545"/>
            </a:solidFill>
            <a:prstDash val="solid"/>
          </a:ln>
        </p:spPr>
      </p:sp>
      <p:sp>
        <p:nvSpPr>
          <p:cNvPr id="14" name="Text 12"/>
          <p:cNvSpPr txBox="1"/>
          <p:nvPr/>
        </p:nvSpPr>
        <p:spPr>
          <a:xfrm>
            <a:off x="8183880" y="3063240"/>
            <a:ext cx="3108960" cy="731520"/>
          </a:xfrm>
          <a:prstGeom prst="rect">
            <a:avLst/>
          </a:prstGeom>
          <a:noFill/>
          <a:ln/>
        </p:spPr>
        <p:txBody>
          <a:bodyPr wrap="square" lIns="0" tIns="0" rIns="0" bIns="0" rtlCol="0" anchor="ctr"/>
          <a:lstStyle/>
          <a:p>
            <a:pPr algn="ctr" indent="0" marL="0">
              <a:buNone/>
            </a:pPr>
            <a:r>
              <a:rPr lang="en-US" sz="1500" b="1" dirty="0">
                <a:solidFill>
                  <a:schemeClr val="bg1"/>
                </a:solidFill>
              </a:rPr>
              <a:t>Test benign + mọi tấn công</a:t>
            </a:r>
            <a:endParaRPr lang="en-US" sz="1500" dirty="0"/>
          </a:p>
        </p:txBody>
      </p:sp>
      <p:sp>
        <p:nvSpPr>
          <p:cNvPr id="15" name="Text 13"/>
          <p:cNvSpPr txBox="1"/>
          <p:nvPr/>
        </p:nvSpPr>
        <p:spPr>
          <a:xfrm>
            <a:off x="548640" y="3886200"/>
            <a:ext cx="11064240" cy="365760"/>
          </a:xfrm>
          <a:prstGeom prst="rect">
            <a:avLst/>
          </a:prstGeom>
          <a:noFill/>
          <a:ln/>
        </p:spPr>
        <p:txBody>
          <a:bodyPr wrap="square" lIns="0" tIns="0" rIns="0" bIns="0" rtlCol="0" anchor="t"/>
          <a:lstStyle/>
          <a:p>
            <a:pPr algn="ctr" indent="0" marL="0">
              <a:buNone/>
            </a:pPr>
            <a:r>
              <a:rPr lang="en-US" sz="1300" dirty="0">
                <a:solidFill>
                  <a:schemeClr val="accent4"/>
                </a:solidFill>
              </a:rPr>
              <a:t>← chia benign theo thời gian 1/3 · 1/3 · 1/3; khoảng trắng giữa các khối = 500 dòng đệm bị bỏ →</a:t>
            </a:r>
            <a:endParaRPr lang="en-US" sz="1300" dirty="0"/>
          </a:p>
        </p:txBody>
      </p:sp>
      <p:sp>
        <p:nvSpPr>
          <p:cNvPr id="16" name="Text 14"/>
          <p:cNvSpPr txBox="1"/>
          <p:nvPr/>
        </p:nvSpPr>
        <p:spPr>
          <a:xfrm>
            <a:off x="548640" y="443484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Khử trùng lặp trong từng file; loại dòng test trùng hash với train</a:t>
            </a:r>
            <a:endParaRPr lang="en-US" sz="1600" dirty="0"/>
          </a:p>
          <a:p>
            <a:pPr marL="342900" indent="-342900">
              <a:spcAft>
                <a:spcPts val="800"/>
              </a:spcAft>
              <a:buSzPct val="100000"/>
              <a:buChar char="•"/>
            </a:pPr>
            <a:r>
              <a:rPr lang="en-US" sz="1600" dirty="0">
                <a:solidFill>
                  <a:schemeClr val="tx1"/>
                </a:solidFill>
              </a:rPr>
              <a:t>Scaler fit chỉ trên DStrn; ngưỡng/cửa sổ chỉ từ DSopt</a:t>
            </a:r>
            <a:endParaRPr lang="en-US" sz="1600" dirty="0"/>
          </a:p>
          <a:p>
            <a:pPr marL="342900" indent="-342900">
              <a:spcAft>
                <a:spcPts val="800"/>
              </a:spcAft>
              <a:buSzPct val="100000"/>
              <a:buChar char="•"/>
            </a:pPr>
            <a:r>
              <a:rPr lang="en-US" sz="1600" dirty="0">
                <a:solidFill>
                  <a:schemeClr val="tx1"/>
                </a:solidFill>
              </a:rPr>
              <a:t>Đối chứng E6 cố tình chia ngẫu nhiên: FPR "đẹp giả" 0.0006 so với 0.0025</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Pipeline, mô hình so sánh và hệ thống 4 tầng</a:t>
            </a:r>
            <a:endParaRPr lang="en-US" sz="3200" dirty="0"/>
          </a:p>
        </p:txBody>
      </p:sp>
      <p:sp>
        <p:nvSpPr>
          <p:cNvPr id="3" name="step0"/>
          <p:cNvSpPr/>
          <p:nvPr/>
        </p:nvSpPr>
        <p:spPr>
          <a:xfrm>
            <a:off x="548640" y="1325880"/>
            <a:ext cx="1920240" cy="914400"/>
          </a:xfrm>
          <a:prstGeom prst="roundRect">
            <a:avLst>
              <a:gd name="adj" fmla="val 10000"/>
            </a:avLst>
          </a:prstGeom>
          <a:solidFill>
            <a:srgbClr val="0B1F33"/>
          </a:solidFill>
          <a:ln w="12700">
            <a:solidFill>
              <a:srgbClr val="0B1F33"/>
            </a:solidFill>
            <a:prstDash val="solid"/>
          </a:ln>
        </p:spPr>
      </p:sp>
      <p:sp>
        <p:nvSpPr>
          <p:cNvPr id="4" name="Text 2"/>
          <p:cNvSpPr txBox="1"/>
          <p:nvPr/>
        </p:nvSpPr>
        <p:spPr>
          <a:xfrm>
            <a:off x="548640" y="1325880"/>
            <a:ext cx="1920240" cy="914400"/>
          </a:xfrm>
          <a:prstGeom prst="rect">
            <a:avLst/>
          </a:prstGeom>
          <a:noFill/>
          <a:ln/>
        </p:spPr>
        <p:txBody>
          <a:bodyPr wrap="square" lIns="0" tIns="0" rIns="0" bIns="0" rtlCol="0" anchor="ctr"/>
          <a:lstStyle/>
          <a:p>
            <a:pPr algn="ctr" indent="0" marL="0">
              <a:buNone/>
            </a:pPr>
            <a:r>
              <a:rPr lang="en-US" sz="1400" b="1" dirty="0">
                <a:solidFill>
                  <a:schemeClr val="bg1"/>
                </a:solidFill>
              </a:rPr>
              <a:t>z-score</a:t>
            </a:r>
            <a:endParaRPr lang="en-US" sz="1400" dirty="0"/>
          </a:p>
          <a:p>
            <a:pPr algn="ctr" indent="0" marL="0">
              <a:buNone/>
            </a:pPr>
            <a:r>
              <a:rPr lang="en-US" sz="1400" b="1" dirty="0">
                <a:solidFill>
                  <a:schemeClr val="bg1"/>
                </a:solidFill>
              </a:rPr>
              <a:t>per-device</a:t>
            </a:r>
            <a:endParaRPr lang="en-US" sz="1400" dirty="0"/>
          </a:p>
        </p:txBody>
      </p:sp>
      <p:sp>
        <p:nvSpPr>
          <p:cNvPr id="5" name="arrow0"/>
          <p:cNvSpPr/>
          <p:nvPr/>
        </p:nvSpPr>
        <p:spPr>
          <a:xfrm>
            <a:off x="2496312" y="1627632"/>
            <a:ext cx="310896" cy="310896"/>
          </a:xfrm>
          <a:prstGeom prst="rightArrow">
            <a:avLst/>
          </a:prstGeom>
          <a:solidFill>
            <a:srgbClr val="5B6B7C"/>
          </a:solidFill>
          <a:ln w="12700">
            <a:solidFill>
              <a:srgbClr val="5B6B7C"/>
            </a:solidFill>
            <a:prstDash val="solid"/>
          </a:ln>
        </p:spPr>
      </p:sp>
      <p:sp>
        <p:nvSpPr>
          <p:cNvPr id="6" name="step1"/>
          <p:cNvSpPr/>
          <p:nvPr/>
        </p:nvSpPr>
        <p:spPr>
          <a:xfrm>
            <a:off x="2834640" y="1325880"/>
            <a:ext cx="1920240" cy="914400"/>
          </a:xfrm>
          <a:prstGeom prst="roundRect">
            <a:avLst>
              <a:gd name="adj" fmla="val 10000"/>
            </a:avLst>
          </a:prstGeom>
          <a:solidFill>
            <a:srgbClr val="0B1F33"/>
          </a:solidFill>
          <a:ln w="12700">
            <a:solidFill>
              <a:srgbClr val="0B1F33"/>
            </a:solidFill>
            <a:prstDash val="solid"/>
          </a:ln>
        </p:spPr>
      </p:sp>
      <p:sp>
        <p:nvSpPr>
          <p:cNvPr id="7" name="Text 5"/>
          <p:cNvSpPr txBox="1"/>
          <p:nvPr/>
        </p:nvSpPr>
        <p:spPr>
          <a:xfrm>
            <a:off x="2834640" y="1325880"/>
            <a:ext cx="1920240" cy="914400"/>
          </a:xfrm>
          <a:prstGeom prst="rect">
            <a:avLst/>
          </a:prstGeom>
          <a:noFill/>
          <a:ln/>
        </p:spPr>
        <p:txBody>
          <a:bodyPr wrap="square" lIns="0" tIns="0" rIns="0" bIns="0" rtlCol="0" anchor="ctr"/>
          <a:lstStyle/>
          <a:p>
            <a:pPr algn="ctr" indent="0" marL="0">
              <a:buNone/>
            </a:pPr>
            <a:r>
              <a:rPr lang="en-US" sz="1400" b="1" dirty="0">
                <a:solidFill>
                  <a:schemeClr val="bg1"/>
                </a:solidFill>
              </a:rPr>
              <a:t>Autoencoder</a:t>
            </a:r>
            <a:endParaRPr lang="en-US" sz="1400" dirty="0"/>
          </a:p>
          <a:p>
            <a:pPr algn="ctr" indent="0" marL="0">
              <a:buNone/>
            </a:pPr>
            <a:r>
              <a:rPr lang="en-US" sz="1400" b="1" dirty="0">
                <a:solidFill>
                  <a:schemeClr val="bg1"/>
                </a:solidFill>
              </a:rPr>
              <a:t>(benign)</a:t>
            </a:r>
            <a:endParaRPr lang="en-US" sz="1400" dirty="0"/>
          </a:p>
        </p:txBody>
      </p:sp>
      <p:sp>
        <p:nvSpPr>
          <p:cNvPr id="8" name="arrow1"/>
          <p:cNvSpPr/>
          <p:nvPr/>
        </p:nvSpPr>
        <p:spPr>
          <a:xfrm>
            <a:off x="4782312" y="1627632"/>
            <a:ext cx="310896" cy="310896"/>
          </a:xfrm>
          <a:prstGeom prst="rightArrow">
            <a:avLst/>
          </a:prstGeom>
          <a:solidFill>
            <a:srgbClr val="5B6B7C"/>
          </a:solidFill>
          <a:ln w="12700">
            <a:solidFill>
              <a:srgbClr val="5B6B7C"/>
            </a:solidFill>
            <a:prstDash val="solid"/>
          </a:ln>
        </p:spPr>
      </p:sp>
      <p:sp>
        <p:nvSpPr>
          <p:cNvPr id="9" name="step2"/>
          <p:cNvSpPr/>
          <p:nvPr/>
        </p:nvSpPr>
        <p:spPr>
          <a:xfrm>
            <a:off x="5120640" y="1325880"/>
            <a:ext cx="1920240" cy="914400"/>
          </a:xfrm>
          <a:prstGeom prst="roundRect">
            <a:avLst>
              <a:gd name="adj" fmla="val 10000"/>
            </a:avLst>
          </a:prstGeom>
          <a:solidFill>
            <a:srgbClr val="0B1F33"/>
          </a:solidFill>
          <a:ln w="12700">
            <a:solidFill>
              <a:srgbClr val="0B1F33"/>
            </a:solidFill>
            <a:prstDash val="solid"/>
          </a:ln>
        </p:spPr>
      </p:sp>
      <p:sp>
        <p:nvSpPr>
          <p:cNvPr id="10" name="Text 8"/>
          <p:cNvSpPr txBox="1"/>
          <p:nvPr/>
        </p:nvSpPr>
        <p:spPr>
          <a:xfrm>
            <a:off x="5120640" y="1325880"/>
            <a:ext cx="1920240" cy="914400"/>
          </a:xfrm>
          <a:prstGeom prst="rect">
            <a:avLst/>
          </a:prstGeom>
          <a:noFill/>
          <a:ln/>
        </p:spPr>
        <p:txBody>
          <a:bodyPr wrap="square" lIns="0" tIns="0" rIns="0" bIns="0" rtlCol="0" anchor="ctr"/>
          <a:lstStyle/>
          <a:p>
            <a:pPr algn="ctr" indent="0" marL="0">
              <a:buNone/>
            </a:pPr>
            <a:r>
              <a:rPr lang="en-US" sz="1400" b="1" dirty="0">
                <a:solidFill>
                  <a:schemeClr val="bg1"/>
                </a:solidFill>
              </a:rPr>
              <a:t>MSE tái tạo</a:t>
            </a:r>
            <a:endParaRPr lang="en-US" sz="1400" dirty="0"/>
          </a:p>
        </p:txBody>
      </p:sp>
      <p:sp>
        <p:nvSpPr>
          <p:cNvPr id="11" name="arrow2"/>
          <p:cNvSpPr/>
          <p:nvPr/>
        </p:nvSpPr>
        <p:spPr>
          <a:xfrm>
            <a:off x="7068312" y="1627632"/>
            <a:ext cx="310896" cy="310896"/>
          </a:xfrm>
          <a:prstGeom prst="rightArrow">
            <a:avLst/>
          </a:prstGeom>
          <a:solidFill>
            <a:srgbClr val="5B6B7C"/>
          </a:solidFill>
          <a:ln w="12700">
            <a:solidFill>
              <a:srgbClr val="5B6B7C"/>
            </a:solidFill>
            <a:prstDash val="solid"/>
          </a:ln>
        </p:spPr>
      </p:sp>
      <p:sp>
        <p:nvSpPr>
          <p:cNvPr id="12" name="step3"/>
          <p:cNvSpPr/>
          <p:nvPr/>
        </p:nvSpPr>
        <p:spPr>
          <a:xfrm>
            <a:off x="7406640" y="1325880"/>
            <a:ext cx="1920240" cy="914400"/>
          </a:xfrm>
          <a:prstGeom prst="roundRect">
            <a:avLst>
              <a:gd name="adj" fmla="val 10000"/>
            </a:avLst>
          </a:prstGeom>
          <a:solidFill>
            <a:srgbClr val="0B1F33"/>
          </a:solidFill>
          <a:ln w="12700">
            <a:solidFill>
              <a:srgbClr val="0B1F33"/>
            </a:solidFill>
            <a:prstDash val="solid"/>
          </a:ln>
        </p:spPr>
      </p:sp>
      <p:sp>
        <p:nvSpPr>
          <p:cNvPr id="13" name="Text 11"/>
          <p:cNvSpPr txBox="1"/>
          <p:nvPr/>
        </p:nvSpPr>
        <p:spPr>
          <a:xfrm>
            <a:off x="7406640" y="1325880"/>
            <a:ext cx="1920240" cy="914400"/>
          </a:xfrm>
          <a:prstGeom prst="rect">
            <a:avLst/>
          </a:prstGeom>
          <a:noFill/>
          <a:ln/>
        </p:spPr>
        <p:txBody>
          <a:bodyPr wrap="square" lIns="0" tIns="0" rIns="0" bIns="0" rtlCol="0" anchor="ctr"/>
          <a:lstStyle/>
          <a:p>
            <a:pPr algn="ctr" indent="0" marL="0">
              <a:buNone/>
            </a:pPr>
            <a:r>
              <a:rPr lang="en-US" sz="1400" b="1" dirty="0">
                <a:solidFill>
                  <a:schemeClr val="bg1"/>
                </a:solidFill>
              </a:rPr>
              <a:t>tr* = mean+std</a:t>
            </a:r>
            <a:endParaRPr lang="en-US" sz="1400" dirty="0"/>
          </a:p>
          <a:p>
            <a:pPr algn="ctr" indent="0" marL="0">
              <a:buNone/>
            </a:pPr>
            <a:r>
              <a:rPr lang="en-US" sz="1400" b="1" dirty="0">
                <a:solidFill>
                  <a:schemeClr val="bg1"/>
                </a:solidFill>
              </a:rPr>
              <a:t>ws* vote</a:t>
            </a:r>
            <a:endParaRPr lang="en-US" sz="1400" dirty="0"/>
          </a:p>
        </p:txBody>
      </p:sp>
      <p:sp>
        <p:nvSpPr>
          <p:cNvPr id="14" name="arrow3"/>
          <p:cNvSpPr/>
          <p:nvPr/>
        </p:nvSpPr>
        <p:spPr>
          <a:xfrm>
            <a:off x="9354312" y="1627632"/>
            <a:ext cx="310896" cy="310896"/>
          </a:xfrm>
          <a:prstGeom prst="rightArrow">
            <a:avLst/>
          </a:prstGeom>
          <a:solidFill>
            <a:srgbClr val="5B6B7C"/>
          </a:solidFill>
          <a:ln w="12700">
            <a:solidFill>
              <a:srgbClr val="5B6B7C"/>
            </a:solidFill>
            <a:prstDash val="solid"/>
          </a:ln>
        </p:spPr>
      </p:sp>
      <p:sp>
        <p:nvSpPr>
          <p:cNvPr id="15" name="step4"/>
          <p:cNvSpPr/>
          <p:nvPr/>
        </p:nvSpPr>
        <p:spPr>
          <a:xfrm>
            <a:off x="9692640" y="1325880"/>
            <a:ext cx="1920240" cy="914400"/>
          </a:xfrm>
          <a:prstGeom prst="roundRect">
            <a:avLst>
              <a:gd name="adj" fmla="val 10000"/>
            </a:avLst>
          </a:prstGeom>
          <a:solidFill>
            <a:srgbClr val="F2A541"/>
          </a:solidFill>
          <a:ln w="12700">
            <a:solidFill>
              <a:srgbClr val="F2A541"/>
            </a:solidFill>
            <a:prstDash val="solid"/>
          </a:ln>
        </p:spPr>
      </p:sp>
      <p:sp>
        <p:nvSpPr>
          <p:cNvPr id="16" name="Text 14"/>
          <p:cNvSpPr txBox="1"/>
          <p:nvPr/>
        </p:nvSpPr>
        <p:spPr>
          <a:xfrm>
            <a:off x="9692640" y="1325880"/>
            <a:ext cx="1920240" cy="914400"/>
          </a:xfrm>
          <a:prstGeom prst="rect">
            <a:avLst/>
          </a:prstGeom>
          <a:noFill/>
          <a:ln/>
        </p:spPr>
        <p:txBody>
          <a:bodyPr wrap="square" lIns="0" tIns="0" rIns="0" bIns="0" rtlCol="0" anchor="ctr"/>
          <a:lstStyle/>
          <a:p>
            <a:pPr algn="ctr" indent="0" marL="0">
              <a:buNone/>
            </a:pPr>
            <a:r>
              <a:rPr lang="en-US" sz="1400" b="1" dirty="0">
                <a:solidFill>
                  <a:schemeClr val="tx1"/>
                </a:solidFill>
              </a:rPr>
              <a:t>TFLite int8</a:t>
            </a:r>
            <a:endParaRPr lang="en-US" sz="1400" dirty="0"/>
          </a:p>
          <a:p>
            <a:pPr algn="ctr" indent="0" marL="0">
              <a:buNone/>
            </a:pPr>
            <a:r>
              <a:rPr lang="en-US" sz="1400" b="1" dirty="0">
                <a:solidFill>
                  <a:schemeClr val="tx1"/>
                </a:solidFill>
              </a:rPr>
              <a:t>+ hiệu chỉnh</a:t>
            </a:r>
            <a:endParaRPr lang="en-US" sz="1400" dirty="0"/>
          </a:p>
        </p:txBody>
      </p:sp>
      <p:graphicFrame>
        <p:nvGraphicFramePr>
          <p:cNvPr id="6" name="model-table"/>
          <p:cNvGraphicFramePr>
            <a:graphicFrameLocks noGrp="1"/>
          </p:cNvGraphicFramePr>
          <p:nvPr>
            <p:extLst>
              <p:ext uri="{D42A27DB-BD31-4B8C-83A1-F6EECF244321}">
                <p14:modId xmlns:p14="http://schemas.microsoft.com/office/powerpoint/2010/main" val="1579011935"/>
              </p:ext>
            </p:extLst>
          </p:nvPr>
        </p:nvGraphicFramePr>
        <p:xfrm>
          <a:off x="548640" y="2606040"/>
          <a:ext cx="6035040" cy="914400"/>
        </p:xfrm>
        <a:graphic>
          <a:graphicData uri="http://schemas.openxmlformats.org/drawingml/2006/table">
            <a:tbl>
              <a:tblPr/>
              <a:tblGrid>
                <a:gridCol w="1463040"/>
                <a:gridCol w="3108960"/>
                <a:gridCol w="1463040"/>
              </a:tblGrid>
              <a:tr h="457200">
                <a:tc>
                  <a:txBody>
                    <a:bodyPr/>
                    <a:lstStyle/>
                    <a:p>
                      <a:pPr indent="0" marL="0">
                        <a:buNone/>
                      </a:pPr>
                      <a:r>
                        <a:rPr lang="en-US" sz="1400" b="1" dirty="0">
                          <a:solidFill>
                            <a:srgbClr val="FFFFFF"/>
                          </a:solidFill>
                        </a:rPr>
                        <a:t>Mô hình</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E9F8E"/>
                    </a:solidFill>
                  </a:tcPr>
                </a:tc>
                <a:tc>
                  <a:txBody>
                    <a:bodyPr/>
                    <a:lstStyle/>
                    <a:p>
                      <a:pPr indent="0" marL="0">
                        <a:buNone/>
                      </a:pPr>
                      <a:r>
                        <a:rPr lang="en-US" sz="1400" b="1" dirty="0">
                          <a:solidFill>
                            <a:srgbClr val="FFFFFF"/>
                          </a:solidFill>
                        </a:rPr>
                        <a:t>Kiến trúc</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E9F8E"/>
                    </a:solidFill>
                  </a:tcPr>
                </a:tc>
                <a:tc>
                  <a:txBody>
                    <a:bodyPr/>
                    <a:lstStyle/>
                    <a:p>
                      <a:pPr indent="0" marL="0">
                        <a:buNone/>
                      </a:pPr>
                      <a:r>
                        <a:rPr lang="en-US" sz="1400" b="1" dirty="0">
                          <a:solidFill>
                            <a:srgbClr val="FFFFFF"/>
                          </a:solidFill>
                        </a:rPr>
                        <a:t>Tham số</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E9F8E"/>
                    </a:solidFill>
                  </a:tcPr>
                </a:tc>
              </a:tr>
              <a:tr h="457200">
                <a:tc>
                  <a:txBody>
                    <a:bodyPr/>
                    <a:lstStyle/>
                    <a:p>
                      <a:pPr indent="0" marL="0">
                        <a:buNone/>
                      </a:pPr>
                      <a:r>
                        <a:rPr lang="en-US" sz="1400" dirty="0">
                          <a:solidFill>
                            <a:srgbClr val="1B2430"/>
                          </a:solidFill>
                        </a:rPr>
                        <a:t>B0 Meidan</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115-86-58-38-29-…</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36,876</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rPr>
                        <a:t>B1 chung</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B0 dùng chung 9 thiết bị</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36,876</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457200">
                <a:tc>
                  <a:txBody>
                    <a:bodyPr/>
                    <a:lstStyle/>
                    <a:p>
                      <a:pPr indent="0" marL="0">
                        <a:buNone/>
                      </a:pPr>
                      <a:r>
                        <a:rPr lang="en-US" sz="1400" dirty="0">
                          <a:solidFill>
                            <a:srgbClr val="1B2430"/>
                          </a:solidFill>
                        </a:rPr>
                        <a:t>B2</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Isolation Forest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rPr>
                        <a:t>V1 nhẹ</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115-32-8-32-115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8,059</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bl>
          </a:graphicData>
        </a:graphic>
      </p:graphicFrame>
      <p:sp>
        <p:nvSpPr>
          <p:cNvPr id="18" name="tier0-circle"/>
          <p:cNvSpPr/>
          <p:nvPr/>
        </p:nvSpPr>
        <p:spPr>
          <a:xfrm>
            <a:off x="6949440" y="2606040"/>
            <a:ext cx="594360" cy="594360"/>
          </a:xfrm>
          <a:prstGeom prst="ellipse">
            <a:avLst/>
          </a:prstGeom>
          <a:solidFill>
            <a:srgbClr val="0E9F8E"/>
          </a:solidFill>
          <a:ln w="12700">
            <a:solidFill>
              <a:srgbClr val="0E9F8E"/>
            </a:solidFill>
            <a:prstDash val="solid"/>
          </a:ln>
        </p:spPr>
      </p:sp>
      <p:pic>
        <p:nvPicPr>
          <p:cNvPr id="19" name="tier0-icon" descr="preencoded.png">    </p:cNvPr>
          <p:cNvPicPr>
            <a:picLocks noChangeAspect="1"/>
          </p:cNvPicPr>
          <p:nvPr/>
        </p:nvPicPr>
        <p:blipFill>
          <a:blip r:embed="rId1"/>
          <a:stretch>
            <a:fillRect/>
          </a:stretch>
        </p:blipFill>
        <p:spPr>
          <a:xfrm>
            <a:off x="7098030" y="2754630"/>
            <a:ext cx="297180" cy="297180"/>
          </a:xfrm>
          <a:prstGeom prst="rect">
            <a:avLst/>
          </a:prstGeom>
        </p:spPr>
      </p:pic>
      <p:sp>
        <p:nvSpPr>
          <p:cNvPr id="20" name="Text 16"/>
          <p:cNvSpPr txBox="1"/>
          <p:nvPr/>
        </p:nvSpPr>
        <p:spPr>
          <a:xfrm>
            <a:off x="7726680" y="2569464"/>
            <a:ext cx="3840480" cy="320040"/>
          </a:xfrm>
          <a:prstGeom prst="rect">
            <a:avLst/>
          </a:prstGeom>
          <a:noFill/>
          <a:ln/>
        </p:spPr>
        <p:txBody>
          <a:bodyPr wrap="square" lIns="0" tIns="0" rIns="0" bIns="0" rtlCol="0" anchor="t"/>
          <a:lstStyle/>
          <a:p>
            <a:pPr indent="0" marL="0">
              <a:buNone/>
            </a:pPr>
            <a:r>
              <a:rPr lang="en-US" sz="1600" b="1" dirty="0">
                <a:solidFill>
                  <a:schemeClr val="tx2"/>
                </a:solidFill>
              </a:rPr>
              <a:t>AI</a:t>
            </a:r>
            <a:endParaRPr lang="en-US" sz="1600" dirty="0"/>
          </a:p>
        </p:txBody>
      </p:sp>
      <p:sp>
        <p:nvSpPr>
          <p:cNvPr id="21" name="Text 17"/>
          <p:cNvSpPr txBox="1"/>
          <p:nvPr/>
        </p:nvSpPr>
        <p:spPr>
          <a:xfrm>
            <a:off x="7726680" y="2880360"/>
            <a:ext cx="3840480" cy="365760"/>
          </a:xfrm>
          <a:prstGeom prst="rect">
            <a:avLst/>
          </a:prstGeom>
          <a:noFill/>
          <a:ln/>
        </p:spPr>
        <p:txBody>
          <a:bodyPr wrap="square" lIns="0" tIns="0" rIns="0" bIns="0" rtlCol="0" anchor="t"/>
          <a:lstStyle/>
          <a:p>
            <a:pPr indent="0" marL="0">
              <a:buNone/>
            </a:pPr>
            <a:r>
              <a:rPr lang="en-US" sz="1300" dirty="0">
                <a:solidFill>
                  <a:schemeClr val="tx1"/>
                </a:solidFill>
              </a:rPr>
              <a:t>huấn luyện, int8, xuất gói có SHA-256</a:t>
            </a:r>
            <a:endParaRPr lang="en-US" sz="1300" dirty="0"/>
          </a:p>
        </p:txBody>
      </p:sp>
      <p:sp>
        <p:nvSpPr>
          <p:cNvPr id="22" name="tier1-circle"/>
          <p:cNvSpPr/>
          <p:nvPr/>
        </p:nvSpPr>
        <p:spPr>
          <a:xfrm>
            <a:off x="6949440" y="3383280"/>
            <a:ext cx="594360" cy="594360"/>
          </a:xfrm>
          <a:prstGeom prst="ellipse">
            <a:avLst/>
          </a:prstGeom>
          <a:solidFill>
            <a:srgbClr val="2E6FB0"/>
          </a:solidFill>
          <a:ln w="12700">
            <a:solidFill>
              <a:srgbClr val="2E6FB0"/>
            </a:solidFill>
            <a:prstDash val="solid"/>
          </a:ln>
        </p:spPr>
      </p:sp>
      <p:pic>
        <p:nvPicPr>
          <p:cNvPr id="23" name="tier1-icon" descr="preencoded.png">    </p:cNvPr>
          <p:cNvPicPr>
            <a:picLocks noChangeAspect="1"/>
          </p:cNvPicPr>
          <p:nvPr/>
        </p:nvPicPr>
        <p:blipFill>
          <a:blip r:embed="rId2"/>
          <a:stretch>
            <a:fillRect/>
          </a:stretch>
        </p:blipFill>
        <p:spPr>
          <a:xfrm>
            <a:off x="7098030" y="3531870"/>
            <a:ext cx="297180" cy="297180"/>
          </a:xfrm>
          <a:prstGeom prst="rect">
            <a:avLst/>
          </a:prstGeom>
        </p:spPr>
      </p:pic>
      <p:sp>
        <p:nvSpPr>
          <p:cNvPr id="24" name="Text 19"/>
          <p:cNvSpPr txBox="1"/>
          <p:nvPr/>
        </p:nvSpPr>
        <p:spPr>
          <a:xfrm>
            <a:off x="7726680" y="3346704"/>
            <a:ext cx="3840480" cy="320040"/>
          </a:xfrm>
          <a:prstGeom prst="rect">
            <a:avLst/>
          </a:prstGeom>
          <a:noFill/>
          <a:ln/>
        </p:spPr>
        <p:txBody>
          <a:bodyPr wrap="square" lIns="0" tIns="0" rIns="0" bIns="0" rtlCol="0" anchor="t"/>
          <a:lstStyle/>
          <a:p>
            <a:pPr indent="0" marL="0">
              <a:buNone/>
            </a:pPr>
            <a:r>
              <a:rPr lang="en-US" sz="1600" b="1" dirty="0">
                <a:solidFill>
                  <a:schemeClr val="tx2"/>
                </a:solidFill>
              </a:rPr>
              <a:t>Backend</a:t>
            </a:r>
            <a:endParaRPr lang="en-US" sz="1600" dirty="0"/>
          </a:p>
        </p:txBody>
      </p:sp>
      <p:sp>
        <p:nvSpPr>
          <p:cNvPr id="25" name="Text 20"/>
          <p:cNvSpPr txBox="1"/>
          <p:nvPr/>
        </p:nvSpPr>
        <p:spPr>
          <a:xfrm>
            <a:off x="7726680" y="3657600"/>
            <a:ext cx="3840480" cy="365760"/>
          </a:xfrm>
          <a:prstGeom prst="rect">
            <a:avLst/>
          </a:prstGeom>
          <a:noFill/>
          <a:ln/>
        </p:spPr>
        <p:txBody>
          <a:bodyPr wrap="square" lIns="0" tIns="0" rIns="0" bIns="0" rtlCol="0" anchor="t"/>
          <a:lstStyle/>
          <a:p>
            <a:pPr indent="0" marL="0">
              <a:buNone/>
            </a:pPr>
            <a:r>
              <a:rPr lang="en-US" sz="1300" dirty="0">
                <a:solidFill>
                  <a:schemeClr val="tx1"/>
                </a:solidFill>
              </a:rPr>
              <a:t>FastAPI, TFLite 1 luồng, từ chối gói bị sửa</a:t>
            </a:r>
            <a:endParaRPr lang="en-US" sz="1300" dirty="0"/>
          </a:p>
        </p:txBody>
      </p:sp>
      <p:sp>
        <p:nvSpPr>
          <p:cNvPr id="26" name="tier2-circle"/>
          <p:cNvSpPr/>
          <p:nvPr/>
        </p:nvSpPr>
        <p:spPr>
          <a:xfrm>
            <a:off x="6949440" y="4160520"/>
            <a:ext cx="594360" cy="594360"/>
          </a:xfrm>
          <a:prstGeom prst="ellipse">
            <a:avLst/>
          </a:prstGeom>
          <a:solidFill>
            <a:srgbClr val="F2A541"/>
          </a:solidFill>
          <a:ln w="12700">
            <a:solidFill>
              <a:srgbClr val="F2A541"/>
            </a:solidFill>
            <a:prstDash val="solid"/>
          </a:ln>
        </p:spPr>
      </p:sp>
      <p:pic>
        <p:nvPicPr>
          <p:cNvPr id="27" name="tier2-icon" descr="preencoded.png">    </p:cNvPr>
          <p:cNvPicPr>
            <a:picLocks noChangeAspect="1"/>
          </p:cNvPicPr>
          <p:nvPr/>
        </p:nvPicPr>
        <p:blipFill>
          <a:blip r:embed="rId3"/>
          <a:stretch>
            <a:fillRect/>
          </a:stretch>
        </p:blipFill>
        <p:spPr>
          <a:xfrm>
            <a:off x="7098030" y="4309110"/>
            <a:ext cx="297180" cy="297180"/>
          </a:xfrm>
          <a:prstGeom prst="rect">
            <a:avLst/>
          </a:prstGeom>
        </p:spPr>
      </p:pic>
      <p:sp>
        <p:nvSpPr>
          <p:cNvPr id="28" name="Text 22"/>
          <p:cNvSpPr txBox="1"/>
          <p:nvPr/>
        </p:nvSpPr>
        <p:spPr>
          <a:xfrm>
            <a:off x="7726680" y="4123944"/>
            <a:ext cx="3840480" cy="320040"/>
          </a:xfrm>
          <a:prstGeom prst="rect">
            <a:avLst/>
          </a:prstGeom>
          <a:noFill/>
          <a:ln/>
        </p:spPr>
        <p:txBody>
          <a:bodyPr wrap="square" lIns="0" tIns="0" rIns="0" bIns="0" rtlCol="0" anchor="t"/>
          <a:lstStyle/>
          <a:p>
            <a:pPr indent="0" marL="0">
              <a:buNone/>
            </a:pPr>
            <a:r>
              <a:rPr lang="en-US" sz="1600" b="1" dirty="0">
                <a:solidFill>
                  <a:schemeClr val="tx2"/>
                </a:solidFill>
              </a:rPr>
              <a:t>Database</a:t>
            </a:r>
            <a:endParaRPr lang="en-US" sz="1600" dirty="0"/>
          </a:p>
        </p:txBody>
      </p:sp>
      <p:sp>
        <p:nvSpPr>
          <p:cNvPr id="29" name="Text 23"/>
          <p:cNvSpPr txBox="1"/>
          <p:nvPr/>
        </p:nvSpPr>
        <p:spPr>
          <a:xfrm>
            <a:off x="7726680" y="4434840"/>
            <a:ext cx="3840480" cy="365760"/>
          </a:xfrm>
          <a:prstGeom prst="rect">
            <a:avLst/>
          </a:prstGeom>
          <a:noFill/>
          <a:ln/>
        </p:spPr>
        <p:txBody>
          <a:bodyPr wrap="square" lIns="0" tIns="0" rIns="0" bIns="0" rtlCol="0" anchor="t"/>
          <a:lstStyle/>
          <a:p>
            <a:pPr indent="0" marL="0">
              <a:buNone/>
            </a:pPr>
            <a:r>
              <a:rPr lang="en-US" sz="1300" dirty="0">
                <a:solidFill>
                  <a:schemeClr val="tx1"/>
                </a:solidFill>
              </a:rPr>
              <a:t>SQLite: cảnh báo, hành động MTD</a:t>
            </a:r>
            <a:endParaRPr lang="en-US" sz="1300" dirty="0"/>
          </a:p>
        </p:txBody>
      </p:sp>
      <p:sp>
        <p:nvSpPr>
          <p:cNvPr id="30" name="tier3-circle"/>
          <p:cNvSpPr/>
          <p:nvPr/>
        </p:nvSpPr>
        <p:spPr>
          <a:xfrm>
            <a:off x="6949440" y="4937760"/>
            <a:ext cx="594360" cy="594360"/>
          </a:xfrm>
          <a:prstGeom prst="ellipse">
            <a:avLst/>
          </a:prstGeom>
          <a:solidFill>
            <a:srgbClr val="D64545"/>
          </a:solidFill>
          <a:ln w="12700">
            <a:solidFill>
              <a:srgbClr val="D64545"/>
            </a:solidFill>
            <a:prstDash val="solid"/>
          </a:ln>
        </p:spPr>
      </p:sp>
      <p:pic>
        <p:nvPicPr>
          <p:cNvPr id="31" name="tier3-icon" descr="preencoded.png">    </p:cNvPr>
          <p:cNvPicPr>
            <a:picLocks noChangeAspect="1"/>
          </p:cNvPicPr>
          <p:nvPr/>
        </p:nvPicPr>
        <p:blipFill>
          <a:blip r:embed="rId4"/>
          <a:stretch>
            <a:fillRect/>
          </a:stretch>
        </p:blipFill>
        <p:spPr>
          <a:xfrm>
            <a:off x="7098030" y="5086350"/>
            <a:ext cx="297180" cy="297180"/>
          </a:xfrm>
          <a:prstGeom prst="rect">
            <a:avLst/>
          </a:prstGeom>
        </p:spPr>
      </p:pic>
      <p:sp>
        <p:nvSpPr>
          <p:cNvPr id="32" name="Text 25"/>
          <p:cNvSpPr txBox="1"/>
          <p:nvPr/>
        </p:nvSpPr>
        <p:spPr>
          <a:xfrm>
            <a:off x="7726680" y="4901184"/>
            <a:ext cx="3840480" cy="320040"/>
          </a:xfrm>
          <a:prstGeom prst="rect">
            <a:avLst/>
          </a:prstGeom>
          <a:noFill/>
          <a:ln/>
        </p:spPr>
        <p:txBody>
          <a:bodyPr wrap="square" lIns="0" tIns="0" rIns="0" bIns="0" rtlCol="0" anchor="t"/>
          <a:lstStyle/>
          <a:p>
            <a:pPr indent="0" marL="0">
              <a:buNone/>
            </a:pPr>
            <a:r>
              <a:rPr lang="en-US" sz="1600" b="1" dirty="0">
                <a:solidFill>
                  <a:schemeClr val="tx2"/>
                </a:solidFill>
              </a:rPr>
              <a:t>Frontend</a:t>
            </a:r>
            <a:endParaRPr lang="en-US" sz="1600" dirty="0"/>
          </a:p>
        </p:txBody>
      </p:sp>
      <p:sp>
        <p:nvSpPr>
          <p:cNvPr id="33" name="Text 26"/>
          <p:cNvSpPr txBox="1"/>
          <p:nvPr/>
        </p:nvSpPr>
        <p:spPr>
          <a:xfrm>
            <a:off x="7726680" y="5212080"/>
            <a:ext cx="3840480" cy="365760"/>
          </a:xfrm>
          <a:prstGeom prst="rect">
            <a:avLst/>
          </a:prstGeom>
          <a:noFill/>
          <a:ln/>
        </p:spPr>
        <p:txBody>
          <a:bodyPr wrap="square" lIns="0" tIns="0" rIns="0" bIns="0" rtlCol="0" anchor="t"/>
          <a:lstStyle/>
          <a:p>
            <a:pPr indent="0" marL="0">
              <a:buNone/>
            </a:pPr>
            <a:r>
              <a:rPr lang="en-US" sz="1300" dirty="0">
                <a:solidFill>
                  <a:schemeClr val="tx1"/>
                </a:solidFill>
              </a:rPr>
              <a:t>dashboard phát lại, biểu đồ MSE</a:t>
            </a:r>
            <a:endParaRPr lang="en-US" sz="1300" dirty="0"/>
          </a:p>
        </p:txBody>
      </p:sp>
      <p:sp>
        <p:nvSpPr>
          <p:cNvPr id="34" name="Text 27"/>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300" i="1" dirty="0">
                <a:solidFill>
                  <a:schemeClr val="accent4"/>
                </a:solidFill>
              </a:rPr>
              <a:t>54 test tự động: unit · integration · negative (gói bị sửa 1 byte, path traversal, sai số chiều)</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Demo: phát hiện + cảnh báo + MTD trên dashboard</a:t>
            </a:r>
            <a:endParaRPr lang="en-US" sz="3200" dirty="0"/>
          </a:p>
        </p:txBody>
      </p:sp>
      <p:pic>
        <p:nvPicPr>
          <p:cNvPr id="3" name="demo-img" descr="D:\BAITAP\Antoan-BM\LAB_AT_BMHTTT\DT043\results\figures\demo_dashboard_crop.png">    </p:cNvPr>
          <p:cNvPicPr>
            <a:picLocks noChangeAspect="1"/>
          </p:cNvPicPr>
          <p:nvPr/>
        </p:nvPicPr>
        <p:blipFill>
          <a:blip r:embed="rId1"/>
          <a:stretch>
            <a:fillRect/>
          </a:stretch>
        </p:blipFill>
        <p:spPr>
          <a:xfrm>
            <a:off x="548640" y="1234440"/>
            <a:ext cx="5806440" cy="5020056"/>
          </a:xfrm>
          <a:prstGeom prst="rect">
            <a:avLst/>
          </a:prstGeom>
          <a:effectLst>
            <a:outerShdw sx="100000" sy="100000" kx="0" ky="0" algn="bl" rotWithShape="0" blurRad="76200" dist="25400" dir="5400000">
              <a:srgbClr val="000000">
                <a:alpha val="18000"/>
              </a:srgbClr>
            </a:outerShdw>
          </a:effectLst>
        </p:spPr>
      </p:pic>
      <p:sp>
        <p:nvSpPr>
          <p:cNvPr id="4" name="demo0-circle"/>
          <p:cNvSpPr/>
          <p:nvPr/>
        </p:nvSpPr>
        <p:spPr>
          <a:xfrm>
            <a:off x="6675120" y="1325880"/>
            <a:ext cx="685800" cy="685800"/>
          </a:xfrm>
          <a:prstGeom prst="ellipse">
            <a:avLst/>
          </a:prstGeom>
          <a:solidFill>
            <a:srgbClr val="D64545"/>
          </a:solidFill>
          <a:ln w="12700">
            <a:solidFill>
              <a:srgbClr val="D64545"/>
            </a:solidFill>
            <a:prstDash val="solid"/>
          </a:ln>
        </p:spPr>
      </p:sp>
      <p:pic>
        <p:nvPicPr>
          <p:cNvPr id="5" name="demo0-icon" descr="preencoded.png">    </p:cNvPr>
          <p:cNvPicPr>
            <a:picLocks noChangeAspect="1"/>
          </p:cNvPicPr>
          <p:nvPr/>
        </p:nvPicPr>
        <p:blipFill>
          <a:blip r:embed="rId2"/>
          <a:stretch>
            <a:fillRect/>
          </a:stretch>
        </p:blipFill>
        <p:spPr>
          <a:xfrm>
            <a:off x="6846570" y="1497330"/>
            <a:ext cx="342900" cy="342900"/>
          </a:xfrm>
          <a:prstGeom prst="rect">
            <a:avLst/>
          </a:prstGeom>
        </p:spPr>
      </p:pic>
      <p:sp>
        <p:nvSpPr>
          <p:cNvPr id="6" name="Text 2"/>
          <p:cNvSpPr txBox="1"/>
          <p:nvPr/>
        </p:nvSpPr>
        <p:spPr>
          <a:xfrm>
            <a:off x="7543800" y="1307592"/>
            <a:ext cx="4069080" cy="365760"/>
          </a:xfrm>
          <a:prstGeom prst="rect">
            <a:avLst/>
          </a:prstGeom>
          <a:noFill/>
          <a:ln/>
        </p:spPr>
        <p:txBody>
          <a:bodyPr wrap="square" lIns="0" tIns="0" rIns="0" bIns="0" rtlCol="0" anchor="t"/>
          <a:lstStyle/>
          <a:p>
            <a:pPr indent="0" marL="0">
              <a:buNone/>
            </a:pPr>
            <a:r>
              <a:rPr lang="en-US" sz="1700" b="1" dirty="0">
                <a:solidFill>
                  <a:schemeClr val="tx2"/>
                </a:solidFill>
              </a:rPr>
              <a:t>mirai/syn (Danmini)</a:t>
            </a:r>
            <a:endParaRPr lang="en-US" sz="1700" dirty="0"/>
          </a:p>
        </p:txBody>
      </p:sp>
      <p:sp>
        <p:nvSpPr>
          <p:cNvPr id="7" name="Text 3"/>
          <p:cNvSpPr txBox="1"/>
          <p:nvPr/>
        </p:nvSpPr>
        <p:spPr>
          <a:xfrm>
            <a:off x="7543800" y="1691640"/>
            <a:ext cx="4069080" cy="731520"/>
          </a:xfrm>
          <a:prstGeom prst="rect">
            <a:avLst/>
          </a:prstGeom>
          <a:noFill/>
          <a:ln/>
        </p:spPr>
        <p:txBody>
          <a:bodyPr wrap="square" lIns="0" tIns="0" rIns="0" bIns="0" rtlCol="0" anchor="t"/>
          <a:lstStyle/>
          <a:p>
            <a:pPr indent="0" marL="0">
              <a:buNone/>
            </a:pPr>
            <a:r>
              <a:rPr lang="en-US" sz="1400" dirty="0">
                <a:solidFill>
                  <a:schemeClr val="tx1"/>
                </a:solidFill>
              </a:rPr>
              <a:t>1989/1989 cửa sổ cảnh báo → cảnh báo high + shuffle IP + đổi firmware</a:t>
            </a:r>
            <a:endParaRPr lang="en-US" sz="1400" dirty="0"/>
          </a:p>
        </p:txBody>
      </p:sp>
      <p:sp>
        <p:nvSpPr>
          <p:cNvPr id="8" name="demo1-circle"/>
          <p:cNvSpPr/>
          <p:nvPr/>
        </p:nvSpPr>
        <p:spPr>
          <a:xfrm>
            <a:off x="6675120" y="2514600"/>
            <a:ext cx="685800" cy="685800"/>
          </a:xfrm>
          <a:prstGeom prst="ellipse">
            <a:avLst/>
          </a:prstGeom>
          <a:solidFill>
            <a:srgbClr val="3A9D5D"/>
          </a:solidFill>
          <a:ln w="12700">
            <a:solidFill>
              <a:srgbClr val="3A9D5D"/>
            </a:solidFill>
            <a:prstDash val="solid"/>
          </a:ln>
        </p:spPr>
      </p:sp>
      <p:pic>
        <p:nvPicPr>
          <p:cNvPr id="9" name="demo1-icon" descr="preencoded.png">    </p:cNvPr>
          <p:cNvPicPr>
            <a:picLocks noChangeAspect="1"/>
          </p:cNvPicPr>
          <p:nvPr/>
        </p:nvPicPr>
        <p:blipFill>
          <a:blip r:embed="rId3"/>
          <a:stretch>
            <a:fillRect/>
          </a:stretch>
        </p:blipFill>
        <p:spPr>
          <a:xfrm>
            <a:off x="6846570" y="2686050"/>
            <a:ext cx="342900" cy="342900"/>
          </a:xfrm>
          <a:prstGeom prst="rect">
            <a:avLst/>
          </a:prstGeom>
        </p:spPr>
      </p:pic>
      <p:sp>
        <p:nvSpPr>
          <p:cNvPr id="10" name="Text 5"/>
          <p:cNvSpPr txBox="1"/>
          <p:nvPr/>
        </p:nvSpPr>
        <p:spPr>
          <a:xfrm>
            <a:off x="7543800" y="2496312"/>
            <a:ext cx="4069080" cy="365760"/>
          </a:xfrm>
          <a:prstGeom prst="rect">
            <a:avLst/>
          </a:prstGeom>
          <a:noFill/>
          <a:ln/>
        </p:spPr>
        <p:txBody>
          <a:bodyPr wrap="square" lIns="0" tIns="0" rIns="0" bIns="0" rtlCol="0" anchor="t"/>
          <a:lstStyle/>
          <a:p>
            <a:pPr indent="0" marL="0">
              <a:buNone/>
            </a:pPr>
            <a:r>
              <a:rPr lang="en-US" sz="1700" b="1" dirty="0">
                <a:solidFill>
                  <a:schemeClr val="tx2"/>
                </a:solidFill>
              </a:rPr>
              <a:t>benign (Ennio, phần test)</a:t>
            </a:r>
            <a:endParaRPr lang="en-US" sz="1700" dirty="0"/>
          </a:p>
        </p:txBody>
      </p:sp>
      <p:sp>
        <p:nvSpPr>
          <p:cNvPr id="11" name="Text 6"/>
          <p:cNvSpPr txBox="1"/>
          <p:nvPr/>
        </p:nvSpPr>
        <p:spPr>
          <a:xfrm>
            <a:off x="7543800" y="2880360"/>
            <a:ext cx="4069080" cy="731520"/>
          </a:xfrm>
          <a:prstGeom prst="rect">
            <a:avLst/>
          </a:prstGeom>
          <a:noFill/>
          <a:ln/>
        </p:spPr>
        <p:txBody>
          <a:bodyPr wrap="square" lIns="0" tIns="0" rIns="0" bIns="0" rtlCol="0" anchor="t"/>
          <a:lstStyle/>
          <a:p>
            <a:pPr indent="0" marL="0">
              <a:buNone/>
            </a:pPr>
            <a:r>
              <a:rPr lang="en-US" sz="1400" dirty="0">
                <a:solidFill>
                  <a:schemeClr val="tx1"/>
                </a:solidFill>
              </a:rPr>
              <a:t>0 cảnh báo – không báo động giả</a:t>
            </a:r>
            <a:endParaRPr lang="en-US" sz="1400" dirty="0"/>
          </a:p>
        </p:txBody>
      </p:sp>
      <p:sp>
        <p:nvSpPr>
          <p:cNvPr id="12" name="demo2-circle"/>
          <p:cNvSpPr/>
          <p:nvPr/>
        </p:nvSpPr>
        <p:spPr>
          <a:xfrm>
            <a:off x="6675120" y="3703320"/>
            <a:ext cx="685800" cy="685800"/>
          </a:xfrm>
          <a:prstGeom prst="ellipse">
            <a:avLst/>
          </a:prstGeom>
          <a:solidFill>
            <a:srgbClr val="F2A541"/>
          </a:solidFill>
          <a:ln w="12700">
            <a:solidFill>
              <a:srgbClr val="F2A541"/>
            </a:solidFill>
            <a:prstDash val="solid"/>
          </a:ln>
        </p:spPr>
      </p:sp>
      <p:pic>
        <p:nvPicPr>
          <p:cNvPr id="13" name="demo2-icon" descr="preencoded.png">    </p:cNvPr>
          <p:cNvPicPr>
            <a:picLocks noChangeAspect="1"/>
          </p:cNvPicPr>
          <p:nvPr/>
        </p:nvPicPr>
        <p:blipFill>
          <a:blip r:embed="rId4"/>
          <a:stretch>
            <a:fillRect/>
          </a:stretch>
        </p:blipFill>
        <p:spPr>
          <a:xfrm>
            <a:off x="6846570" y="3874770"/>
            <a:ext cx="342900" cy="342900"/>
          </a:xfrm>
          <a:prstGeom prst="rect">
            <a:avLst/>
          </a:prstGeom>
        </p:spPr>
      </p:pic>
      <p:sp>
        <p:nvSpPr>
          <p:cNvPr id="14" name="Text 8"/>
          <p:cNvSpPr txBox="1"/>
          <p:nvPr/>
        </p:nvSpPr>
        <p:spPr>
          <a:xfrm>
            <a:off x="7543800" y="3685032"/>
            <a:ext cx="4069080" cy="365760"/>
          </a:xfrm>
          <a:prstGeom prst="rect">
            <a:avLst/>
          </a:prstGeom>
          <a:noFill/>
          <a:ln/>
        </p:spPr>
        <p:txBody>
          <a:bodyPr wrap="square" lIns="0" tIns="0" rIns="0" bIns="0" rtlCol="0" anchor="t"/>
          <a:lstStyle/>
          <a:p>
            <a:pPr indent="0" marL="0">
              <a:buNone/>
            </a:pPr>
            <a:r>
              <a:rPr lang="en-US" sz="1700" b="1" dirty="0">
                <a:solidFill>
                  <a:schemeClr val="tx2"/>
                </a:solidFill>
              </a:rPr>
              <a:t>gafgyt/tcp (Ennio)</a:t>
            </a:r>
            <a:endParaRPr lang="en-US" sz="1700" dirty="0"/>
          </a:p>
        </p:txBody>
      </p:sp>
      <p:sp>
        <p:nvSpPr>
          <p:cNvPr id="15" name="Text 9"/>
          <p:cNvSpPr txBox="1"/>
          <p:nvPr/>
        </p:nvSpPr>
        <p:spPr>
          <a:xfrm>
            <a:off x="7543800" y="4069080"/>
            <a:ext cx="4069080" cy="731520"/>
          </a:xfrm>
          <a:prstGeom prst="rect">
            <a:avLst/>
          </a:prstGeom>
          <a:noFill/>
          <a:ln/>
        </p:spPr>
        <p:txBody>
          <a:bodyPr wrap="square" lIns="0" tIns="0" rIns="0" bIns="0" rtlCol="0" anchor="t"/>
          <a:lstStyle/>
          <a:p>
            <a:pPr indent="0" marL="0">
              <a:buNone/>
            </a:pPr>
            <a:r>
              <a:rPr lang="en-US" sz="1400" dirty="0">
                <a:solidFill>
                  <a:schemeClr val="tx1"/>
                </a:solidFill>
              </a:rPr>
              <a:t>0 cảnh báo – đúng lỗi bỏ sót đã phân tích</a:t>
            </a:r>
            <a:endParaRPr lang="en-US" sz="1400" dirty="0"/>
          </a:p>
        </p:txBody>
      </p:sp>
      <p:sp>
        <p:nvSpPr>
          <p:cNvPr id="16" name="demo3-circle"/>
          <p:cNvSpPr/>
          <p:nvPr/>
        </p:nvSpPr>
        <p:spPr>
          <a:xfrm>
            <a:off x="6675120" y="4892040"/>
            <a:ext cx="685800" cy="685800"/>
          </a:xfrm>
          <a:prstGeom prst="ellipse">
            <a:avLst/>
          </a:prstGeom>
          <a:solidFill>
            <a:srgbClr val="2E6FB0"/>
          </a:solidFill>
          <a:ln w="12700">
            <a:solidFill>
              <a:srgbClr val="2E6FB0"/>
            </a:solidFill>
            <a:prstDash val="solid"/>
          </a:ln>
        </p:spPr>
      </p:sp>
      <p:pic>
        <p:nvPicPr>
          <p:cNvPr id="17" name="demo3-icon" descr="preencoded.png">    </p:cNvPr>
          <p:cNvPicPr>
            <a:picLocks noChangeAspect="1"/>
          </p:cNvPicPr>
          <p:nvPr/>
        </p:nvPicPr>
        <p:blipFill>
          <a:blip r:embed="rId5"/>
          <a:stretch>
            <a:fillRect/>
          </a:stretch>
        </p:blipFill>
        <p:spPr>
          <a:xfrm>
            <a:off x="6846570" y="5063490"/>
            <a:ext cx="342900" cy="342900"/>
          </a:xfrm>
          <a:prstGeom prst="rect">
            <a:avLst/>
          </a:prstGeom>
        </p:spPr>
      </p:pic>
      <p:sp>
        <p:nvSpPr>
          <p:cNvPr id="18" name="Text 11"/>
          <p:cNvSpPr txBox="1"/>
          <p:nvPr/>
        </p:nvSpPr>
        <p:spPr>
          <a:xfrm>
            <a:off x="7543800" y="4873752"/>
            <a:ext cx="4069080" cy="365760"/>
          </a:xfrm>
          <a:prstGeom prst="rect">
            <a:avLst/>
          </a:prstGeom>
          <a:noFill/>
          <a:ln/>
        </p:spPr>
        <p:txBody>
          <a:bodyPr wrap="square" lIns="0" tIns="0" rIns="0" bIns="0" rtlCol="0" anchor="t"/>
          <a:lstStyle/>
          <a:p>
            <a:pPr indent="0" marL="0">
              <a:buNone/>
            </a:pPr>
            <a:r>
              <a:rPr lang="en-US" sz="1700" b="1" dirty="0">
                <a:solidFill>
                  <a:schemeClr val="tx2"/>
                </a:solidFill>
              </a:rPr>
              <a:t>MTD time-based</a:t>
            </a:r>
            <a:endParaRPr lang="en-US" sz="1700" dirty="0"/>
          </a:p>
        </p:txBody>
      </p:sp>
      <p:sp>
        <p:nvSpPr>
          <p:cNvPr id="19" name="Text 12"/>
          <p:cNvSpPr txBox="1"/>
          <p:nvPr/>
        </p:nvSpPr>
        <p:spPr>
          <a:xfrm>
            <a:off x="7543800" y="5257800"/>
            <a:ext cx="4069080" cy="731520"/>
          </a:xfrm>
          <a:prstGeom prst="rect">
            <a:avLst/>
          </a:prstGeom>
          <a:noFill/>
          <a:ln/>
        </p:spPr>
        <p:txBody>
          <a:bodyPr wrap="square" lIns="0" tIns="0" rIns="0" bIns="0" rtlCol="0" anchor="t"/>
          <a:lstStyle/>
          <a:p>
            <a:pPr indent="0" marL="0">
              <a:buNone/>
            </a:pPr>
            <a:r>
              <a:rPr lang="en-US" sz="1400" dirty="0">
                <a:solidFill>
                  <a:schemeClr val="tx1"/>
                </a:solidFill>
              </a:rPr>
              <a:t>Lưới an toàn cho tấn công AE bỏ sót</a:t>
            </a:r>
            <a:endParaRPr lang="en-US" sz="1400" dirty="0"/>
          </a:p>
        </p:txBody>
      </p:sp>
      <p:sp>
        <p:nvSpPr>
          <p:cNvPr id="20" name="Text 13"/>
          <p:cNvSpPr txBox="1"/>
          <p:nvPr/>
        </p:nvSpPr>
        <p:spPr>
          <a:xfrm>
            <a:off x="6675120" y="5897880"/>
            <a:ext cx="4937760" cy="365760"/>
          </a:xfrm>
          <a:prstGeom prst="rect">
            <a:avLst/>
          </a:prstGeom>
          <a:noFill/>
          <a:ln/>
        </p:spPr>
        <p:txBody>
          <a:bodyPr wrap="square" lIns="0" tIns="0" rIns="0" bIns="0" rtlCol="0" anchor="t"/>
          <a:lstStyle/>
          <a:p>
            <a:pPr indent="0" marL="0">
              <a:buNone/>
            </a:pPr>
            <a:r>
              <a:rPr lang="en-US" sz="1200" i="1" dirty="0">
                <a:solidFill>
                  <a:schemeClr val="accent4"/>
                </a:solidFill>
              </a:rPr>
              <a:t>Chạy: uvicorn backend.app.main:app → http://127.0.0.1:8000/</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Kết quả: FPR rất thấp, lỗi tập trung ở flood tcp/udp</a:t>
            </a:r>
            <a:endParaRPr lang="en-US" sz="3200" dirty="0"/>
          </a:p>
        </p:txBody>
      </p:sp>
      <p:graphicFrame>
        <p:nvGraphicFramePr>
          <p:cNvPr id="3" name="f1-chart" descr=""/>
          <p:cNvGraphicFramePr/>
          <p:nvPr/>
        </p:nvGraphicFramePr>
        <p:xfrm>
          <a:off x="548640" y="1280160"/>
          <a:ext cx="420624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recall-chart" descr=""/>
          <p:cNvGraphicFramePr/>
          <p:nvPr/>
        </p:nvGraphicFramePr>
        <p:xfrm>
          <a:off x="4937760" y="1280160"/>
          <a:ext cx="3840480" cy="3657600"/>
        </p:xfrm>
        <a:graphic xmlns:a="http://schemas.openxmlformats.org/drawingml/2006/main">
          <a:graphicData uri="http://schemas.openxmlformats.org/drawingml/2006/chart">
            <c:chart xmlns:c="http://schemas.openxmlformats.org/drawingml/2006/chart" r:id="rId2"/>
          </a:graphicData>
        </a:graphic>
      </p:graphicFrame>
      <p:sp>
        <p:nvSpPr>
          <p:cNvPr id="5" name="fpr-num"/>
          <p:cNvSpPr txBox="1"/>
          <p:nvPr/>
        </p:nvSpPr>
        <p:spPr>
          <a:xfrm>
            <a:off x="9052560" y="1371600"/>
            <a:ext cx="256032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0.0025</a:t>
            </a:r>
            <a:endParaRPr lang="en-US" sz="4000" dirty="0"/>
          </a:p>
        </p:txBody>
      </p:sp>
      <p:sp>
        <p:nvSpPr>
          <p:cNvPr id="6" name="fpr-label"/>
          <p:cNvSpPr txBox="1"/>
          <p:nvPr/>
        </p:nvSpPr>
        <p:spPr>
          <a:xfrm>
            <a:off x="9052560" y="2240280"/>
            <a:ext cx="2560320" cy="640080"/>
          </a:xfrm>
          <a:prstGeom prst="rect">
            <a:avLst/>
          </a:prstGeom>
          <a:noFill/>
          <a:ln/>
        </p:spPr>
        <p:txBody>
          <a:bodyPr wrap="square" lIns="0" tIns="0" rIns="0" bIns="0" rtlCol="0" anchor="t"/>
          <a:lstStyle/>
          <a:p>
            <a:pPr indent="0" marL="0">
              <a:buNone/>
            </a:pPr>
            <a:r>
              <a:rPr lang="en-US" sz="1300" dirty="0">
                <a:solidFill>
                  <a:schemeClr val="accent4"/>
                </a:solidFill>
              </a:rPr>
              <a:t>FPR của B0 (Meidan: 0.007)</a:t>
            </a:r>
            <a:endParaRPr lang="en-US" sz="1300" dirty="0"/>
          </a:p>
        </p:txBody>
      </p:sp>
      <p:sp>
        <p:nvSpPr>
          <p:cNvPr id="7" name="tpr-num"/>
          <p:cNvSpPr txBox="1"/>
          <p:nvPr/>
        </p:nvSpPr>
        <p:spPr>
          <a:xfrm>
            <a:off x="9052560" y="3017520"/>
            <a:ext cx="2560320" cy="868680"/>
          </a:xfrm>
          <a:prstGeom prst="rect">
            <a:avLst/>
          </a:prstGeom>
          <a:noFill/>
          <a:ln/>
        </p:spPr>
        <p:txBody>
          <a:bodyPr wrap="square" lIns="0" tIns="0" rIns="0" bIns="0" rtlCol="0" anchor="t"/>
          <a:lstStyle/>
          <a:p>
            <a:pPr indent="0" marL="0">
              <a:buNone/>
            </a:pPr>
            <a:r>
              <a:rPr lang="en-US" sz="4000" b="1" dirty="0">
                <a:solidFill>
                  <a:srgbClr val="D64545"/>
                </a:solidFill>
                <a:latin typeface="Cambria" pitchFamily="34" charset="0"/>
                <a:ea typeface="Cambria" pitchFamily="34" charset="-122"/>
                <a:cs typeface="Cambria" pitchFamily="34" charset="-120"/>
              </a:rPr>
              <a:t>0.822</a:t>
            </a:r>
            <a:endParaRPr lang="en-US" sz="4000" dirty="0"/>
          </a:p>
        </p:txBody>
      </p:sp>
      <p:sp>
        <p:nvSpPr>
          <p:cNvPr id="8" name="tpr-label"/>
          <p:cNvSpPr txBox="1"/>
          <p:nvPr/>
        </p:nvSpPr>
        <p:spPr>
          <a:xfrm>
            <a:off x="9052560" y="3886200"/>
            <a:ext cx="2560320" cy="640080"/>
          </a:xfrm>
          <a:prstGeom prst="rect">
            <a:avLst/>
          </a:prstGeom>
          <a:noFill/>
          <a:ln/>
        </p:spPr>
        <p:txBody>
          <a:bodyPr wrap="square" lIns="0" tIns="0" rIns="0" bIns="0" rtlCol="0" anchor="t"/>
          <a:lstStyle/>
          <a:p>
            <a:pPr indent="0" marL="0">
              <a:buNone/>
            </a:pPr>
            <a:r>
              <a:rPr lang="en-US" sz="1300" dirty="0">
                <a:solidFill>
                  <a:schemeClr val="accent4"/>
                </a:solidFill>
              </a:rPr>
              <a:t>TPR của B0 (Meidan: 100%)</a:t>
            </a:r>
            <a:endParaRPr lang="en-US" sz="1300" dirty="0"/>
          </a:p>
        </p:txBody>
      </p:sp>
      <p:sp>
        <p:nvSpPr>
          <p:cNvPr id="9" name="Text 5"/>
          <p:cNvSpPr txBox="1"/>
          <p:nvPr/>
        </p:nvSpPr>
        <p:spPr>
          <a:xfrm>
            <a:off x="548640" y="5120640"/>
            <a:ext cx="11064240" cy="914400"/>
          </a:xfrm>
          <a:prstGeom prst="rect">
            <a:avLst/>
          </a:prstGeom>
          <a:noFill/>
          <a:ln/>
        </p:spPr>
        <p:txBody>
          <a:bodyPr wrap="square" lIns="0" tIns="0" rIns="0" bIns="0" rtlCol="0" anchor="t"/>
          <a:lstStyle/>
          <a:p>
            <a:pPr indent="0" marL="0">
              <a:buNone/>
            </a:pPr>
            <a:r>
              <a:rPr lang="en-US" sz="1500" dirty="0">
                <a:solidFill>
                  <a:schemeClr val="tx1"/>
                </a:solidFill>
              </a:rPr>
              <a:t>Nguồn bị giả mạo liên tục → mỗi gói như "luồng mới" (weight = 1, variance = 0), MSE nằm dưới ngưỡng mean+std. Tám loại tấn công còn lại recall ≈ 1.0.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Lượng tử hóa int8 và edge benchmark</a:t>
            </a:r>
            <a:endParaRPr lang="en-US" sz="3200" dirty="0"/>
          </a:p>
        </p:txBody>
      </p:sp>
      <p:graphicFrame>
        <p:nvGraphicFramePr>
          <p:cNvPr id="3" name="quant-chart" descr=""/>
          <p:cNvGraphicFramePr/>
          <p:nvPr/>
        </p:nvGraphicFramePr>
        <p:xfrm>
          <a:off x="548640" y="1280160"/>
          <a:ext cx="4937760" cy="4023360"/>
        </p:xfrm>
        <a:graphic xmlns:a="http://schemas.openxmlformats.org/drawingml/2006/main">
          <a:graphicData uri="http://schemas.openxmlformats.org/drawingml/2006/chart">
            <c:chart xmlns:c="http://schemas.openxmlformats.org/drawingml/2006/chart" r:id="rId1"/>
          </a:graphicData>
        </a:graphic>
      </p:graphicFrame>
      <p:sp>
        <p:nvSpPr>
          <p:cNvPr id="4" name="edge0-num"/>
          <p:cNvSpPr txBox="1"/>
          <p:nvPr/>
        </p:nvSpPr>
        <p:spPr>
          <a:xfrm>
            <a:off x="5943600" y="1325880"/>
            <a:ext cx="269748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10.8 µs</a:t>
            </a:r>
            <a:endParaRPr lang="en-US" sz="4000" dirty="0"/>
          </a:p>
        </p:txBody>
      </p:sp>
      <p:sp>
        <p:nvSpPr>
          <p:cNvPr id="5" name="edge0-label"/>
          <p:cNvSpPr txBox="1"/>
          <p:nvPr/>
        </p:nvSpPr>
        <p:spPr>
          <a:xfrm>
            <a:off x="5943600" y="2194560"/>
            <a:ext cx="2697480" cy="640080"/>
          </a:xfrm>
          <a:prstGeom prst="rect">
            <a:avLst/>
          </a:prstGeom>
          <a:noFill/>
          <a:ln/>
        </p:spPr>
        <p:txBody>
          <a:bodyPr wrap="square" lIns="0" tIns="0" rIns="0" bIns="0" rtlCol="0" anchor="t"/>
          <a:lstStyle/>
          <a:p>
            <a:pPr indent="0" marL="0">
              <a:buNone/>
            </a:pPr>
            <a:r>
              <a:rPr lang="en-US" sz="1300" dirty="0">
                <a:solidFill>
                  <a:schemeClr val="accent4"/>
                </a:solidFill>
              </a:rPr>
              <a:t>p95 / mẫu (tiêu chí ≤ 1000 µs)</a:t>
            </a:r>
            <a:endParaRPr lang="en-US" sz="1300" dirty="0"/>
          </a:p>
        </p:txBody>
      </p:sp>
      <p:sp>
        <p:nvSpPr>
          <p:cNvPr id="6" name="edge1-num"/>
          <p:cNvSpPr txBox="1"/>
          <p:nvPr/>
        </p:nvSpPr>
        <p:spPr>
          <a:xfrm>
            <a:off x="8823960" y="1325880"/>
            <a:ext cx="269748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15.3 KB</a:t>
            </a:r>
            <a:endParaRPr lang="en-US" sz="4000" dirty="0"/>
          </a:p>
        </p:txBody>
      </p:sp>
      <p:sp>
        <p:nvSpPr>
          <p:cNvPr id="7" name="edge1-label"/>
          <p:cNvSpPr txBox="1"/>
          <p:nvPr/>
        </p:nvSpPr>
        <p:spPr>
          <a:xfrm>
            <a:off x="8823960" y="2194560"/>
            <a:ext cx="2697480" cy="640080"/>
          </a:xfrm>
          <a:prstGeom prst="rect">
            <a:avLst/>
          </a:prstGeom>
          <a:noFill/>
          <a:ln/>
        </p:spPr>
        <p:txBody>
          <a:bodyPr wrap="square" lIns="0" tIns="0" rIns="0" bIns="0" rtlCol="0" anchor="t"/>
          <a:lstStyle/>
          <a:p>
            <a:pPr indent="0" marL="0">
              <a:buNone/>
            </a:pPr>
            <a:r>
              <a:rPr lang="en-US" sz="1300" dirty="0">
                <a:solidFill>
                  <a:schemeClr val="accent4"/>
                </a:solidFill>
              </a:rPr>
              <a:t>model (tiêu chí ≤ 50 KB)</a:t>
            </a:r>
            <a:endParaRPr lang="en-US" sz="1300" dirty="0"/>
          </a:p>
        </p:txBody>
      </p:sp>
      <p:sp>
        <p:nvSpPr>
          <p:cNvPr id="8" name="edge2-num"/>
          <p:cNvSpPr txBox="1"/>
          <p:nvPr/>
        </p:nvSpPr>
        <p:spPr>
          <a:xfrm>
            <a:off x="5943600" y="3017520"/>
            <a:ext cx="269748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4.6 MB</a:t>
            </a:r>
            <a:endParaRPr lang="en-US" sz="4000" dirty="0"/>
          </a:p>
        </p:txBody>
      </p:sp>
      <p:sp>
        <p:nvSpPr>
          <p:cNvPr id="9" name="edge2-label"/>
          <p:cNvSpPr txBox="1"/>
          <p:nvPr/>
        </p:nvSpPr>
        <p:spPr>
          <a:xfrm>
            <a:off x="5943600" y="3886200"/>
            <a:ext cx="2697480" cy="640080"/>
          </a:xfrm>
          <a:prstGeom prst="rect">
            <a:avLst/>
          </a:prstGeom>
          <a:noFill/>
          <a:ln/>
        </p:spPr>
        <p:txBody>
          <a:bodyPr wrap="square" lIns="0" tIns="0" rIns="0" bIns="0" rtlCol="0" anchor="t"/>
          <a:lstStyle/>
          <a:p>
            <a:pPr indent="0" marL="0">
              <a:buNone/>
            </a:pPr>
            <a:r>
              <a:rPr lang="en-US" sz="1300" dirty="0">
                <a:solidFill>
                  <a:schemeClr val="accent4"/>
                </a:solidFill>
              </a:rPr>
              <a:t>RAM tăng thêm</a:t>
            </a:r>
            <a:endParaRPr lang="en-US" sz="1300" dirty="0"/>
          </a:p>
        </p:txBody>
      </p:sp>
      <p:sp>
        <p:nvSpPr>
          <p:cNvPr id="10" name="edge3-num"/>
          <p:cNvSpPr txBox="1"/>
          <p:nvPr/>
        </p:nvSpPr>
        <p:spPr>
          <a:xfrm>
            <a:off x="8823960" y="3017520"/>
            <a:ext cx="2697480" cy="868680"/>
          </a:xfrm>
          <a:prstGeom prst="rect">
            <a:avLst/>
          </a:prstGeom>
          <a:noFill/>
          <a:ln/>
        </p:spPr>
        <p:txBody>
          <a:bodyPr wrap="square" lIns="0" tIns="0" rIns="0" bIns="0" rtlCol="0" anchor="t"/>
          <a:lstStyle/>
          <a:p>
            <a:pPr indent="0" marL="0">
              <a:buNone/>
            </a:pPr>
            <a:r>
              <a:rPr lang="en-US" sz="4000" b="1" dirty="0">
                <a:solidFill>
                  <a:srgbClr val="0B1F33"/>
                </a:solidFill>
                <a:latin typeface="Cambria" pitchFamily="34" charset="0"/>
                <a:ea typeface="Cambria" pitchFamily="34" charset="-122"/>
                <a:cs typeface="Cambria" pitchFamily="34" charset="-120"/>
              </a:rPr>
              <a:t>102,899</a:t>
            </a:r>
            <a:endParaRPr lang="en-US" sz="4000" dirty="0"/>
          </a:p>
        </p:txBody>
      </p:sp>
      <p:sp>
        <p:nvSpPr>
          <p:cNvPr id="11" name="edge3-label"/>
          <p:cNvSpPr txBox="1"/>
          <p:nvPr/>
        </p:nvSpPr>
        <p:spPr>
          <a:xfrm>
            <a:off x="8823960" y="3886200"/>
            <a:ext cx="2697480" cy="640080"/>
          </a:xfrm>
          <a:prstGeom prst="rect">
            <a:avLst/>
          </a:prstGeom>
          <a:noFill/>
          <a:ln/>
        </p:spPr>
        <p:txBody>
          <a:bodyPr wrap="square" lIns="0" tIns="0" rIns="0" bIns="0" rtlCol="0" anchor="t"/>
          <a:lstStyle/>
          <a:p>
            <a:pPr indent="0" marL="0">
              <a:buNone/>
            </a:pPr>
            <a:r>
              <a:rPr lang="en-US" sz="1300" dirty="0">
                <a:solidFill>
                  <a:schemeClr val="accent4"/>
                </a:solidFill>
              </a:rPr>
              <a:t>mẫu/giây trên 1 lõi E-core</a:t>
            </a:r>
            <a:endParaRPr lang="en-US" sz="1300" dirty="0"/>
          </a:p>
        </p:txBody>
      </p:sp>
      <p:sp>
        <p:nvSpPr>
          <p:cNvPr id="12" name="Text 9"/>
          <p:cNvSpPr txBox="1"/>
          <p:nvPr/>
        </p:nvSpPr>
        <p:spPr>
          <a:xfrm>
            <a:off x="5943600" y="4754880"/>
            <a:ext cx="5669280" cy="1371600"/>
          </a:xfrm>
          <a:prstGeom prst="rect">
            <a:avLst/>
          </a:prstGeom>
          <a:noFill/>
          <a:ln/>
        </p:spPr>
        <p:txBody>
          <a:bodyPr wrap="square" lIns="0" tIns="0" rIns="0" bIns="0" rtlCol="0" anchor="t"/>
          <a:lstStyle/>
          <a:p>
            <a:pPr indent="0" marL="0">
              <a:buNone/>
            </a:pPr>
            <a:r>
              <a:rPr lang="en-US" sz="1400" dirty="0">
                <a:solidFill>
                  <a:schemeClr val="tx1"/>
                </a:solidFill>
              </a:rPr>
              <a:t>Hiệu chỉnh ngưỡng trên DSopt bằng chính model int8: FPR 0.0030 → 0.0016, cửa sổ 153 → 113 mẫu. Energy proxy ≈ 40.5 µJ/mẫu. RQ5 đạt với biên rất lớn.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MTD: tái lập paper chính bằng đúng dữ liệu của paper</a:t>
            </a:r>
            <a:endParaRPr lang="en-US" sz="3200" dirty="0"/>
          </a:p>
        </p:txBody>
      </p:sp>
      <p:graphicFrame>
        <p:nvGraphicFramePr>
          <p:cNvPr id="10" name="tharm-table"/>
          <p:cNvGraphicFramePr>
            <a:graphicFrameLocks noGrp="1"/>
          </p:cNvGraphicFramePr>
          <p:nvPr>
            <p:extLst>
              <p:ext uri="{D42A27DB-BD31-4B8C-83A1-F6EECF244321}">
                <p14:modId xmlns:p14="http://schemas.microsoft.com/office/powerpoint/2010/main" val="1579011935"/>
              </p:ext>
            </p:extLst>
          </p:nvPr>
        </p:nvGraphicFramePr>
        <p:xfrm>
          <a:off x="548640" y="1280160"/>
          <a:ext cx="5760720" cy="914400"/>
        </p:xfrm>
        <a:graphic>
          <a:graphicData uri="http://schemas.openxmlformats.org/drawingml/2006/table">
            <a:tbl>
              <a:tblPr/>
              <a:tblGrid>
                <a:gridCol w="2651760"/>
                <a:gridCol w="1371600"/>
                <a:gridCol w="1737360"/>
              </a:tblGrid>
              <a:tr h="411480">
                <a:tc>
                  <a:txBody>
                    <a:bodyPr/>
                    <a:lstStyle/>
                    <a:p>
                      <a:pPr indent="0" marL="0">
                        <a:buNone/>
                      </a:pPr>
                      <a:r>
                        <a:rPr lang="en-US" sz="1400" b="1" dirty="0">
                          <a:solidFill>
                            <a:srgbClr val="FFFFFF"/>
                          </a:solidFill>
                        </a:rPr>
                        <a:t>Rủi ro</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rPr>
                        <a:t>Paper</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rPr>
                        <a:t>Tái lập</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r>
              <a:tr h="411480">
                <a:tc>
                  <a:txBody>
                    <a:bodyPr/>
                    <a:lstStyle/>
                    <a:p>
                      <a:pPr indent="0" marL="0">
                        <a:buNone/>
                      </a:pPr>
                      <a:r>
                        <a:rPr lang="en-US" sz="1400" dirty="0">
                          <a:solidFill>
                            <a:srgbClr val="1B2430"/>
                          </a:solidFill>
                        </a:rPr>
                        <a:t>R_V5 (Windows 11)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12.58</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12.578</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B2430"/>
                          </a:solidFill>
                        </a:rPr>
                        <a:t>R_V7 · R_V8</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8.67 · 5.62</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8.667 · 5.625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411480">
                <a:tc>
                  <a:txBody>
                    <a:bodyPr/>
                    <a:lstStyle/>
                    <a:p>
                      <a:pPr indent="0" marL="0">
                        <a:buNone/>
                      </a:pPr>
                      <a:r>
                        <a:rPr lang="en-US" sz="1400" dirty="0">
                          <a:solidFill>
                            <a:srgbClr val="1B2430"/>
                          </a:solidFill>
                        </a:rPr>
                        <a:t>Đường shuffle</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43.15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42.81 (-0.8%)</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B2430"/>
                          </a:solidFill>
                        </a:rPr>
                        <a:t>Đường diversity</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43.31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42.97 (-0.8%)</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411480">
                <a:tc>
                  <a:txBody>
                    <a:bodyPr/>
                    <a:lstStyle/>
                    <a:p>
                      <a:pPr indent="0" marL="0">
                        <a:buNone/>
                      </a:pPr>
                      <a:r>
                        <a:rPr lang="en-US" sz="1400" dirty="0">
                          <a:solidFill>
                            <a:srgbClr val="1B2430"/>
                          </a:solidFill>
                        </a:rPr>
                        <a:t>Đường redundancy</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43.31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42.97 (-0.8%)</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bl>
          </a:graphicData>
        </a:graphic>
      </p:graphicFrame>
      <p:sp>
        <p:nvSpPr>
          <p:cNvPr id="4" name="trend-fig3-num"/>
          <p:cNvSpPr txBox="1"/>
          <p:nvPr/>
        </p:nvSpPr>
        <p:spPr>
          <a:xfrm>
            <a:off x="6675120" y="1280160"/>
            <a:ext cx="2377440" cy="868680"/>
          </a:xfrm>
          <a:prstGeom prst="rect">
            <a:avLst/>
          </a:prstGeom>
          <a:noFill/>
          <a:ln/>
        </p:spPr>
        <p:txBody>
          <a:bodyPr wrap="square" lIns="0" tIns="0" rIns="0" bIns="0" rtlCol="0" anchor="t"/>
          <a:lstStyle/>
          <a:p>
            <a:pPr indent="0" marL="0">
              <a:buNone/>
            </a:pPr>
            <a:r>
              <a:rPr lang="en-US" sz="4000" b="1" dirty="0">
                <a:solidFill>
                  <a:srgbClr val="0E9F8E"/>
                </a:solidFill>
                <a:latin typeface="Cambria" pitchFamily="34" charset="0"/>
                <a:ea typeface="Cambria" pitchFamily="34" charset="-122"/>
                <a:cs typeface="Cambria" pitchFamily="34" charset="-120"/>
              </a:rPr>
              <a:t>6/7</a:t>
            </a:r>
            <a:endParaRPr lang="en-US" sz="4000" dirty="0"/>
          </a:p>
        </p:txBody>
      </p:sp>
      <p:sp>
        <p:nvSpPr>
          <p:cNvPr id="5" name="trend-fig3-label"/>
          <p:cNvSpPr txBox="1"/>
          <p:nvPr/>
        </p:nvSpPr>
        <p:spPr>
          <a:xfrm>
            <a:off x="6675120" y="2148840"/>
            <a:ext cx="2377440" cy="640080"/>
          </a:xfrm>
          <a:prstGeom prst="rect">
            <a:avLst/>
          </a:prstGeom>
          <a:noFill/>
          <a:ln/>
        </p:spPr>
        <p:txBody>
          <a:bodyPr wrap="square" lIns="0" tIns="0" rIns="0" bIns="0" rtlCol="0" anchor="t"/>
          <a:lstStyle/>
          <a:p>
            <a:pPr indent="0" marL="0">
              <a:buNone/>
            </a:pPr>
            <a:r>
              <a:rPr lang="en-US" sz="1300" dirty="0">
                <a:solidFill>
                  <a:schemeClr val="accent4"/>
                </a:solidFill>
              </a:rPr>
              <a:t>kết luận tái lập được (topology Hình 3)</a:t>
            </a:r>
            <a:endParaRPr lang="en-US" sz="1300" dirty="0"/>
          </a:p>
        </p:txBody>
      </p:sp>
      <p:sp>
        <p:nvSpPr>
          <p:cNvPr id="6" name="trend-def2-num"/>
          <p:cNvSpPr txBox="1"/>
          <p:nvPr/>
        </p:nvSpPr>
        <p:spPr>
          <a:xfrm>
            <a:off x="9235440" y="1280160"/>
            <a:ext cx="2377440" cy="868680"/>
          </a:xfrm>
          <a:prstGeom prst="rect">
            <a:avLst/>
          </a:prstGeom>
          <a:noFill/>
          <a:ln/>
        </p:spPr>
        <p:txBody>
          <a:bodyPr wrap="square" lIns="0" tIns="0" rIns="0" bIns="0" rtlCol="0" anchor="t"/>
          <a:lstStyle/>
          <a:p>
            <a:pPr indent="0" marL="0">
              <a:buNone/>
            </a:pPr>
            <a:r>
              <a:rPr lang="en-US" sz="4000" b="1" dirty="0">
                <a:solidFill>
                  <a:srgbClr val="D64545"/>
                </a:solidFill>
                <a:latin typeface="Cambria" pitchFamily="34" charset="0"/>
                <a:ea typeface="Cambria" pitchFamily="34" charset="-122"/>
                <a:cs typeface="Cambria" pitchFamily="34" charset="-120"/>
              </a:rPr>
              <a:t>3/7</a:t>
            </a:r>
            <a:endParaRPr lang="en-US" sz="4000" dirty="0"/>
          </a:p>
        </p:txBody>
      </p:sp>
      <p:sp>
        <p:nvSpPr>
          <p:cNvPr id="7" name="trend-def2-label"/>
          <p:cNvSpPr txBox="1"/>
          <p:nvPr/>
        </p:nvSpPr>
        <p:spPr>
          <a:xfrm>
            <a:off x="9235440" y="2148840"/>
            <a:ext cx="2377440" cy="640080"/>
          </a:xfrm>
          <a:prstGeom prst="rect">
            <a:avLst/>
          </a:prstGeom>
          <a:noFill/>
          <a:ln/>
        </p:spPr>
        <p:txBody>
          <a:bodyPr wrap="square" lIns="0" tIns="0" rIns="0" bIns="0" rtlCol="0" anchor="t"/>
          <a:lstStyle/>
          <a:p>
            <a:pPr indent="0" marL="0">
              <a:buNone/>
            </a:pPr>
            <a:r>
              <a:rPr lang="en-US" sz="1300" dirty="0">
                <a:solidFill>
                  <a:schemeClr val="accent4"/>
                </a:solidFill>
              </a:rPr>
              <a:t>nếu dùng đúng Definition 2</a:t>
            </a:r>
            <a:endParaRPr lang="en-US" sz="1300" dirty="0"/>
          </a:p>
        </p:txBody>
      </p:sp>
      <p:sp>
        <p:nvSpPr>
          <p:cNvPr id="8" name="tharm-note"/>
          <p:cNvSpPr/>
          <p:nvPr/>
        </p:nvSpPr>
        <p:spPr>
          <a:xfrm>
            <a:off x="6675120" y="3108960"/>
            <a:ext cx="4937760" cy="1737360"/>
          </a:xfrm>
          <a:prstGeom prst="roundRect">
            <a:avLst>
              <a:gd name="adj" fmla="val 6316"/>
            </a:avLst>
          </a:prstGeom>
          <a:solidFill>
            <a:srgbClr val="EAF2F5"/>
          </a:solidFill>
          <a:ln w="12700">
            <a:solidFill>
              <a:srgbClr val="EAF2F5"/>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858000" y="3246120"/>
            <a:ext cx="4572000" cy="1508760"/>
          </a:xfrm>
          <a:prstGeom prst="rect">
            <a:avLst/>
          </a:prstGeom>
          <a:noFill/>
          <a:ln/>
        </p:spPr>
        <p:txBody>
          <a:bodyPr wrap="square" lIns="0" tIns="0" rIns="0" bIns="0" rtlCol="0" anchor="t"/>
          <a:lstStyle/>
          <a:p>
            <a:pPr indent="0" marL="0">
              <a:buNone/>
            </a:pPr>
            <a:r>
              <a:rPr lang="en-US" sz="1400" dirty="0">
                <a:solidFill>
                  <a:schemeClr val="tx1"/>
                </a:solidFill>
              </a:rPr>
              <a:t>Khớp: rủi ro mức VM ±0.01, đường tấn công −0.8%. Không khớp: tổng toàn mạng – paper cắt danh sách cạnh, công thức in mâu thuẫn; kết luận "S+D tốt nhất" phụ thuộc cạnh V6 → V4.</a:t>
            </a:r>
            <a:endParaRPr lang="en-US" sz="1400" dirty="0"/>
          </a:p>
        </p:txBody>
      </p:sp>
      <p:sp>
        <p:nvSpPr>
          <p:cNvPr id="10" name="Text 7"/>
          <p:cNvSpPr txBox="1"/>
          <p:nvPr/>
        </p:nvSpPr>
        <p:spPr>
          <a:xfrm>
            <a:off x="548640" y="4023360"/>
            <a:ext cx="5760720" cy="1280160"/>
          </a:xfrm>
          <a:prstGeom prst="rect">
            <a:avLst/>
          </a:prstGeom>
          <a:noFill/>
          <a:ln/>
        </p:spPr>
        <p:txBody>
          <a:bodyPr wrap="square" lIns="0" tIns="0" rIns="0" bIns="0" rtlCol="0" anchor="t"/>
          <a:lstStyle/>
          <a:p>
            <a:pPr indent="0" marL="0">
              <a:buNone/>
            </a:pPr>
            <a:r>
              <a:rPr lang="en-US" sz="1400" dirty="0">
                <a:solidFill>
                  <a:schemeClr val="tx1"/>
                </a:solidFill>
              </a:rPr>
              <a:t>HARM rút gọn (chu kỳ 20): ASP không MTD 0.498 → shuffle 0.409 · diversity 0.437 · kết hợp 0.327. MTD lai dùng cảnh báo AE: cùng chi phí, lộ diện ít hơn time-based.</a:t>
            </a:r>
            <a:endParaRPr lang="en-US" sz="1400" dirty="0"/>
          </a:p>
        </p:txBody>
      </p:sp>
      <p:sp>
        <p:nvSpPr>
          <p:cNvPr id="11" name="Text 8"/>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200" i="1" dirty="0">
                <a:solidFill>
                  <a:schemeClr val="accent4"/>
                </a:solidFill>
              </a:rPr>
              <a:t>Dữ liệu paper: 18 CVE OS + 14 CVE dịch vụ (Bảng 1–2), 8 VM, Definition 2; shuffle/diversity/redundancy theo mục 4.2–4.4</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Đối chiếu tiêu chí và kết luận</a:t>
            </a:r>
            <a:endParaRPr lang="en-US" sz="3200" dirty="0"/>
          </a:p>
        </p:txBody>
      </p:sp>
      <p:graphicFrame>
        <p:nvGraphicFramePr>
          <p:cNvPr id="11" name="crit-table"/>
          <p:cNvGraphicFramePr>
            <a:graphicFrameLocks noGrp="1"/>
          </p:cNvGraphicFramePr>
          <p:nvPr>
            <p:extLst>
              <p:ext uri="{D42A27DB-BD31-4B8C-83A1-F6EECF244321}">
                <p14:modId xmlns:p14="http://schemas.microsoft.com/office/powerpoint/2010/main" val="1579011935"/>
              </p:ext>
            </p:extLst>
          </p:nvPr>
        </p:nvGraphicFramePr>
        <p:xfrm>
          <a:off x="548640" y="1280160"/>
          <a:ext cx="5852160" cy="914400"/>
        </p:xfrm>
        <a:graphic>
          <a:graphicData uri="http://schemas.openxmlformats.org/drawingml/2006/table">
            <a:tbl>
              <a:tblPr/>
              <a:tblGrid>
                <a:gridCol w="822960"/>
                <a:gridCol w="3566160"/>
                <a:gridCol w="1463040"/>
              </a:tblGrid>
              <a:tr h="502920">
                <a:tc>
                  <a:txBody>
                    <a:bodyPr/>
                    <a:lstStyle/>
                    <a:p>
                      <a:pPr indent="0" marL="0">
                        <a:buNone/>
                      </a:pPr>
                      <a:r>
                        <a:rPr lang="en-US" sz="1400" b="1" dirty="0">
                          <a:solidFill>
                            <a:srgbClr val="FFFFFF"/>
                          </a:solidFill>
                        </a:rPr>
                        <a:t>RQ</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rPr>
                        <a:t>Giá trị đo</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rPr>
                        <a:t>Kết luận</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0B1F33"/>
                    </a:solidFill>
                  </a:tcPr>
                </a:tc>
              </a:tr>
              <a:tr h="502920">
                <a:tc>
                  <a:txBody>
                    <a:bodyPr/>
                    <a:lstStyle/>
                    <a:p>
                      <a:pPr indent="0" marL="0">
                        <a:buNone/>
                      </a:pPr>
                      <a:r>
                        <a:rPr lang="en-US" sz="1400" dirty="0">
                          <a:solidFill>
                            <a:srgbClr val="1B2430"/>
                          </a:solidFill>
                        </a:rPr>
                        <a:t>RQ1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TPR=0.8222, FPR=0.0025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b="1" dirty="0">
                          <a:solidFill>
                            <a:srgbClr val="D64545"/>
                          </a:solidFill>
                        </a:rPr>
                        <a:t>Không 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430"/>
                          </a:solidFill>
                        </a:rPr>
                        <a:t>RQ2</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thắng 4/9, p=0.2852</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b="1" dirty="0">
                          <a:solidFill>
                            <a:srgbClr val="D64545"/>
                          </a:solidFill>
                        </a:rPr>
                        <a:t>Không 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502920">
                <a:tc>
                  <a:txBody>
                    <a:bodyPr/>
                    <a:lstStyle/>
                    <a:p>
                      <a:pPr indent="0" marL="0">
                        <a:buNone/>
                      </a:pPr>
                      <a:r>
                        <a:rPr lang="en-US" sz="1400" dirty="0">
                          <a:solidFill>
                            <a:srgbClr val="1B2430"/>
                          </a:solidFill>
                        </a:rPr>
                        <a:t>RQ3</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tham số 21.9%, Δ=+0.0171</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b="1" dirty="0">
                          <a:solidFill>
                            <a:srgbClr val="D64545"/>
                          </a:solidFill>
                        </a:rPr>
                        <a:t>Không 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430"/>
                          </a:solidFill>
                        </a:rPr>
                        <a:t>RQ4</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dirty="0">
                          <a:solidFill>
                            <a:srgbClr val="1B2430"/>
                          </a:solidFill>
                        </a:rPr>
                        <a:t>Δ=-0.0278, kích thước 45.5%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c>
                  <a:txBody>
                    <a:bodyPr/>
                    <a:lstStyle/>
                    <a:p>
                      <a:pPr indent="0" marL="0">
                        <a:buNone/>
                      </a:pPr>
                      <a:r>
                        <a:rPr lang="en-US" sz="1400" b="1" dirty="0">
                          <a:solidFill>
                            <a:srgbClr val="D64545"/>
                          </a:solidFill>
                        </a:rPr>
                        <a:t>Không 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EAF2F5"/>
                    </a:solidFill>
                  </a:tcPr>
                </a:tc>
              </a:tr>
              <a:tr h="502920">
                <a:tc>
                  <a:txBody>
                    <a:bodyPr/>
                    <a:lstStyle/>
                    <a:p>
                      <a:pPr indent="0" marL="0">
                        <a:buNone/>
                      </a:pPr>
                      <a:r>
                        <a:rPr lang="en-US" sz="1400" dirty="0">
                          <a:solidFill>
                            <a:srgbClr val="1B2430"/>
                          </a:solidFill>
                        </a:rPr>
                        <a:t>RQ5</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p95=10.8 µs, 15.3 KB, ΔRSS=4.6 MB</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c>
                  <a:txBody>
                    <a:bodyPr/>
                    <a:lstStyle/>
                    <a:p>
                      <a:pPr indent="0" marL="0">
                        <a:buNone/>
                      </a:pPr>
                      <a:r>
                        <a:rPr lang="en-US" sz="1400" b="1" dirty="0">
                          <a:solidFill>
                            <a:srgbClr val="3A9D5D"/>
                          </a:solidFill>
                        </a:rPr>
                        <a:t>Đạt</a:t>
                      </a:r>
                      <a:endParaRPr lang="en-US" sz="1400" dirty="0"/>
                    </a:p>
                  </a:txBody>
                  <a:tcPr marL="91440" marR="91440" marT="45720" marB="45720" anchor="ctr">
                    <a:lnL w="6350" cap="flat" cmpd="sng" algn="ctr">
                      <a:solidFill>
                        <a:srgbClr val="D0DAE0"/>
                      </a:solidFill>
                      <a:prstDash val="solid"/>
                      <a:round/>
                      <a:headEnd type="none" w="med" len="med"/>
                      <a:tailEnd type="none" w="med" len="med"/>
                    </a:lnL>
                    <a:lnR w="6350" cap="flat" cmpd="sng" algn="ctr">
                      <a:solidFill>
                        <a:srgbClr val="D0DAE0"/>
                      </a:solidFill>
                      <a:prstDash val="solid"/>
                      <a:round/>
                      <a:headEnd type="none" w="med" len="med"/>
                      <a:tailEnd type="none" w="med" len="med"/>
                    </a:lnR>
                    <a:lnT w="6350" cap="flat" cmpd="sng" algn="ctr">
                      <a:solidFill>
                        <a:srgbClr val="D0DAE0"/>
                      </a:solidFill>
                      <a:prstDash val="solid"/>
                      <a:round/>
                      <a:headEnd type="none" w="med" len="med"/>
                      <a:tailEnd type="none" w="med" len="med"/>
                    </a:lnT>
                    <a:lnB w="6350" cap="flat" cmpd="sng" algn="ctr">
                      <a:solidFill>
                        <a:srgbClr val="D0DA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663440"/>
            <a:ext cx="5852160" cy="457200"/>
          </a:xfrm>
          <a:prstGeom prst="rect">
            <a:avLst/>
          </a:prstGeom>
          <a:noFill/>
          <a:ln/>
        </p:spPr>
        <p:txBody>
          <a:bodyPr wrap="square" lIns="0" tIns="0" rIns="0" bIns="0" rtlCol="0" anchor="t"/>
          <a:lstStyle/>
          <a:p>
            <a:pPr indent="0" marL="0">
              <a:buNone/>
            </a:pPr>
            <a:r>
              <a:rPr lang="en-US" sz="1300" i="1" dirty="0">
                <a:solidFill>
                  <a:schemeClr val="accent4"/>
                </a:solidFill>
              </a:rPr>
              <a:t>Không chỉnh tiêu chí sau khi có kết quả; báo cáo đủ 468 lần chạy.</a:t>
            </a:r>
            <a:endParaRPr lang="en-US" sz="1300" dirty="0"/>
          </a:p>
        </p:txBody>
      </p:sp>
      <p:sp>
        <p:nvSpPr>
          <p:cNvPr id="5" name="concl-card"/>
          <p:cNvSpPr/>
          <p:nvPr/>
        </p:nvSpPr>
        <p:spPr>
          <a:xfrm>
            <a:off x="6766560" y="1280160"/>
            <a:ext cx="4846320" cy="4800600"/>
          </a:xfrm>
          <a:prstGeom prst="roundRect">
            <a:avLst>
              <a:gd name="adj" fmla="val 2286"/>
            </a:avLst>
          </a:prstGeom>
          <a:solidFill>
            <a:srgbClr val="0B1F33"/>
          </a:solidFill>
          <a:ln w="12700">
            <a:solidFill>
              <a:srgbClr val="0B1F33"/>
            </a:solidFill>
            <a:prstDash val="solid"/>
          </a:ln>
          <a:effectLst>
            <a:outerShdw sx="100000" sy="100000" kx="0" ky="0" algn="bl" rotWithShape="0" blurRad="76200" dist="25400" dir="5400000">
              <a:srgbClr val="000000">
                <a:alpha val="12000"/>
              </a:srgbClr>
            </a:outerShdw>
          </a:effectLst>
        </p:spPr>
      </p:sp>
      <p:sp>
        <p:nvSpPr>
          <p:cNvPr id="6" name="concl-text"/>
          <p:cNvSpPr txBox="1"/>
          <p:nvPr/>
        </p:nvSpPr>
        <p:spPr>
          <a:xfrm>
            <a:off x="7040880" y="1508760"/>
            <a:ext cx="4389120" cy="4389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AE per-device bắt gần tuyệt đối 8/10 loại tấn công, FPR rất thấp; bỏ sót flood tcp/udp giả mạo nguồn</a:t>
            </a:r>
            <a:endParaRPr lang="en-US" sz="1600" dirty="0"/>
          </a:p>
          <a:p>
            <a:pPr marL="342900" indent="-342900">
              <a:spcAft>
                <a:spcPts val="1000"/>
              </a:spcAft>
              <a:buSzPct val="100000"/>
              <a:buChar char="•"/>
            </a:pPr>
            <a:r>
              <a:rPr lang="en-US" sz="1600" dirty="0">
                <a:solidFill>
                  <a:schemeClr val="bg1"/>
                </a:solidFill>
              </a:rPr>
              <a:t>V1 int8 15 KB, ~10 µs/mẫu trên 1 lõi – khả thi cho edge</a:t>
            </a:r>
            <a:endParaRPr lang="en-US" sz="1600" dirty="0"/>
          </a:p>
          <a:p>
            <a:pPr marL="342900" indent="-342900">
              <a:spcAft>
                <a:spcPts val="1000"/>
              </a:spcAft>
              <a:buSzPct val="100000"/>
              <a:buChar char="•"/>
            </a:pPr>
            <a:r>
              <a:rPr lang="en-US" sz="1600" dirty="0">
                <a:solidFill>
                  <a:schemeClr val="bg1"/>
                </a:solidFill>
              </a:rPr>
              <a:t>Kết quả dao động theo seed → cần nhiều lần chạy và kiểm định</a:t>
            </a:r>
            <a:endParaRPr lang="en-US" sz="1600" dirty="0"/>
          </a:p>
          <a:p>
            <a:pPr marL="342900" indent="-342900">
              <a:spcAft>
                <a:spcPts val="1000"/>
              </a:spcAft>
              <a:buSzPct val="100000"/>
              <a:buChar char="•"/>
            </a:pPr>
            <a:r>
              <a:rPr lang="en-US" sz="1600" dirty="0">
                <a:solidFill>
                  <a:schemeClr val="bg1"/>
                </a:solidFill>
              </a:rPr>
              <a:t>Tái lập paper chính: khớp mức VM/đường, 6/7 kết luận định tính</a:t>
            </a:r>
            <a:endParaRPr lang="en-US" sz="1600" dirty="0"/>
          </a:p>
          <a:p>
            <a:pPr marL="342900" indent="-342900">
              <a:spcAft>
                <a:spcPts val="1000"/>
              </a:spcAft>
              <a:buSzPct val="100000"/>
              <a:buChar char="•"/>
            </a:pPr>
            <a:r>
              <a:rPr lang="en-US" sz="1600" dirty="0">
                <a:solidFill>
                  <a:schemeClr val="accent2"/>
                </a:solidFill>
              </a:rPr>
              <a:t>Tiếp theo: đặc trưng cho flood giả mạo · Raspberry Pi + đo điện thật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T043 Edge Defense">
  <a:themeElements>
    <a:clrScheme name="DT043 Edge Defense">
      <a:dk1>
        <a:srgbClr val="1B2430"/>
      </a:dk1>
      <a:lt1>
        <a:srgbClr val="FFFFFF"/>
      </a:lt1>
      <a:dk2>
        <a:srgbClr val="0B1F33"/>
      </a:dk2>
      <a:lt2>
        <a:srgbClr val="EAF2F5"/>
      </a:lt2>
      <a:accent1>
        <a:srgbClr val="0E9F8E"/>
      </a:accent1>
      <a:accent2>
        <a:srgbClr val="F2A541"/>
      </a:accent2>
      <a:accent3>
        <a:srgbClr val="D64545"/>
      </a:accent3>
      <a:accent4>
        <a:srgbClr val="5B6B7C"/>
      </a:accent4>
      <a:accent5>
        <a:srgbClr val="2E6FB0"/>
      </a:accent5>
      <a:accent6>
        <a:srgbClr val="3A9D5D"/>
      </a:accent6>
      <a:hlink>
        <a:srgbClr val="2E6FB0"/>
      </a:hlink>
      <a:folHlink>
        <a:srgbClr val="5B6B7C"/>
      </a:folHlink>
    </a:clrScheme>
    <a:fontScheme name="DT043 Edge Def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DT043 – Phát hiện botnet IoT bằng autoencoder nhẹ</dc:title>
  <dc:subject>PptxGenJS Presentation</dc:subject>
  <dc:creator>Hoàng Thanh Trà</dc:creator>
  <cp:lastModifiedBy>Hoàng Thanh Trà</cp:lastModifiedBy>
  <cp:revision>1</cp:revision>
  <dcterms:created xsi:type="dcterms:W3CDTF">2026-10-22T16:33:53Z</dcterms:created>
  <dcterms:modified xsi:type="dcterms:W3CDTF">2026-10-22T16:33:53Z</dcterms:modified>
</cp:coreProperties>
</file>