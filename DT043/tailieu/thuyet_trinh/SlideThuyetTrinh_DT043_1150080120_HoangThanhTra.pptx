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d3e7460a-c6ed-34df-6630-d86e5b58f94f}">
          <p14:sldIdLst>
            <p14:sldId id="256"/>
            <p14:sldId id="257"/>
            <p14:sldId id="258"/>
          </p14:sldIdLst>
        </p14:section>
        <p14:section name="Dữ liệu &amp; phương pháp" id="{25bd5f2e-3dca-f741-23ba-512542af6d9d}">
          <p14:sldIdLst>
            <p14:sldId id="259"/>
            <p14:sldId id="260"/>
            <p14:sldId id="261"/>
            <p14:sldId id="262"/>
            <p14:sldId id="263"/>
          </p14:sldIdLst>
        </p14:section>
        <p14:section name="Kết quả" id="{db1b6ea1-61d3-596b-f93e-dd8071607655}">
          <p14:sldIdLst>
            <p14:sldId id="264"/>
            <p14:sldId id="265"/>
            <p14:sldId id="266"/>
            <p14:sldId id="267"/>
            <p14:sldId id="268"/>
            <p14:sldId id="269"/>
            <p14:sldId id="270"/>
          </p14:sldIdLst>
        </p14:section>
        <p14:section name="Kết luận" id="{a851329b-71e8-e157-38d1-99d44153c429}">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macro-F1</c:v>
                </c:pt>
              </c:strCache>
            </c:strRef>
          </c:tx>
          <c:spPr>
            <a:solidFill>
              <a:srgbClr val="0B1F33"/>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B0 AE</c:v>
                  </c:pt>
                  <c:pt idx="1">
                    <c:v>B1 global</c:v>
                  </c:pt>
                  <c:pt idx="2">
                    <c:v>B1 chung+pdnorm</c:v>
                  </c:pt>
                  <c:pt idx="3">
                    <c:v>B2 IForest</c:v>
                  </c:pt>
                  <c:pt idx="4">
                    <c:v>V1 AE nhẹ</c:v>
                  </c:pt>
                </c:lvl>
              </c:multiLvlStrCache>
            </c:multiLvlStrRef>
          </c:cat>
          <c:val>
            <c:numRef>
              <c:f>Sheet1!$B$2:$B$6</c:f>
              <c:numCache>
                <c:formatCode>General</c:formatCode>
                <c:ptCount val="5"/>
                <c:pt idx="0">
                  <c:v>0.7061</c:v>
                </c:pt>
                <c:pt idx="1">
                  <c:v>0.6843</c:v>
                </c:pt>
                <c:pt idx="2">
                  <c:v>0.7748</c:v>
                </c:pt>
                <c:pt idx="3">
                  <c:v>0.8857</c:v>
                </c:pt>
                <c:pt idx="4">
                  <c:v>0.689</c:v>
                </c:pt>
              </c:numCache>
            </c:numRef>
          </c:val>
        </c:ser>
        <c:ser>
          <c:idx val="1"/>
          <c:order val="1"/>
          <c:tx>
            <c:strRef>
              <c:f>Sheet1!$C$1</c:f>
              <c:strCache>
                <c:ptCount val="1"/>
                <c:pt idx="0">
                  <c:v>F1 cân bằng</c:v>
                </c:pt>
              </c:strCache>
            </c:strRef>
          </c:tx>
          <c:spPr>
            <a:solidFill>
              <a:srgbClr val="0E9F8E"/>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B0 AE</c:v>
                  </c:pt>
                  <c:pt idx="1">
                    <c:v>B1 global</c:v>
                  </c:pt>
                  <c:pt idx="2">
                    <c:v>B1 chung+pdnorm</c:v>
                  </c:pt>
                  <c:pt idx="3">
                    <c:v>B2 IForest</c:v>
                  </c:pt>
                  <c:pt idx="4">
                    <c:v>V1 AE nhẹ</c:v>
                  </c:pt>
                </c:lvl>
              </c:multiLvlStrCache>
            </c:multiLvlStrRef>
          </c:cat>
          <c:val>
            <c:numRef>
              <c:f>Sheet1!$C$2:$C$6</c:f>
              <c:numCache>
                <c:formatCode>General</c:formatCode>
                <c:ptCount val="5"/>
                <c:pt idx="0">
                  <c:v>0.8841</c:v>
                </c:pt>
                <c:pt idx="1">
                  <c:v>0.8782</c:v>
                </c:pt>
                <c:pt idx="2">
                  <c:v>0.9098</c:v>
                </c:pt>
                <c:pt idx="3">
                  <c:v>0.955</c:v>
                </c:pt>
                <c:pt idx="4">
                  <c:v>0.8779</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Recall theo nhóm tấn công</a:t>
            </a:r>
          </a:p>
        </c:rich>
      </c:tx>
      <c:layout/>
      <c:overlay val="0"/>
    </c:title>
    <c:autoTitleDeleted val="0"/>
    <c:plotArea>
      <c:layout/>
      <c:barChart>
        <c:barDir val="bar"/>
        <c:grouping val="clustered"/>
        <c:varyColors val="0"/>
        <c:ser>
          <c:idx val="0"/>
          <c:order val="0"/>
          <c:tx>
            <c:strRef>
              <c:f>Sheet1!$B$1</c:f>
              <c:strCache>
                <c:ptCount val="1"/>
                <c:pt idx="0">
                  <c:v>tcp/udp</c:v>
                </c:pt>
              </c:strCache>
            </c:strRef>
          </c:tx>
          <c:spPr>
            <a:solidFill>
              <a:srgbClr val="D64545"/>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B0 AE</c:v>
                  </c:pt>
                  <c:pt idx="1">
                    <c:v>V1 AE nhẹ</c:v>
                  </c:pt>
                  <c:pt idx="2">
                    <c:v>B1 global</c:v>
                  </c:pt>
                  <c:pt idx="3">
                    <c:v>B2 IForest</c:v>
                  </c:pt>
                </c:lvl>
              </c:multiLvlStrCache>
            </c:multiLvlStrRef>
          </c:cat>
          <c:val>
            <c:numRef>
              <c:f>Sheet1!$B$2:$B$5</c:f>
              <c:numCache>
                <c:formatCode>General</c:formatCode>
                <c:ptCount val="4"/>
                <c:pt idx="0">
                  <c:v>0.4667</c:v>
                </c:pt>
                <c:pt idx="1">
                  <c:v>0.4222</c:v>
                </c:pt>
                <c:pt idx="2">
                  <c:v>0.4</c:v>
                </c:pt>
                <c:pt idx="3">
                  <c:v>0.7778</c:v>
                </c:pt>
              </c:numCache>
            </c:numRef>
          </c:val>
        </c:ser>
        <c:ser>
          <c:idx val="1"/>
          <c:order val="1"/>
          <c:tx>
            <c:strRef>
              <c:f>Sheet1!$C$1</c:f>
              <c:strCache>
                <c:ptCount val="1"/>
                <c:pt idx="0">
                  <c:v>8 loại còn lại</c:v>
                </c:pt>
              </c:strCache>
            </c:strRef>
          </c:tx>
          <c:spPr>
            <a:solidFill>
              <a:srgbClr val="0E9F8E"/>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B0 AE</c:v>
                  </c:pt>
                  <c:pt idx="1">
                    <c:v>V1 AE nhẹ</c:v>
                  </c:pt>
                  <c:pt idx="2">
                    <c:v>B1 global</c:v>
                  </c:pt>
                  <c:pt idx="3">
                    <c:v>B2 IForest</c:v>
                  </c:pt>
                </c:lvl>
              </c:multiLvlStrCache>
            </c:multiLvlStrRef>
          </c:cat>
          <c:val>
            <c:numRef>
              <c:f>Sheet1!$C$2:$C$5</c:f>
              <c:numCache>
                <c:formatCode>General</c:formatCode>
                <c:ptCount val="4"/>
                <c:pt idx="0">
                  <c:v>0.9999</c:v>
                </c:pt>
                <c:pt idx="1">
                  <c:v>0.9999</c:v>
                </c:pt>
                <c:pt idx="2">
                  <c:v>1</c:v>
                </c:pt>
                <c:pt idx="3">
                  <c:v>0.9728</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b"/>
        <c:majorGridlines>
          <c:spPr>
            <a:ln w="6350" cap="flat">
              <a:solidFill>
                <a:srgbClr val="D9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Kích thước file TFLite (KB)</a:t>
            </a:r>
          </a:p>
        </c:rich>
      </c:tx>
      <c:layout/>
      <c:overlay val="0"/>
    </c:title>
    <c:autoTitleDeleted val="0"/>
    <c:plotArea>
      <c:layout/>
      <c:barChart>
        <c:barDir val="col"/>
        <c:grouping val="clustered"/>
        <c:varyColors val="0"/>
        <c:ser>
          <c:idx val="0"/>
          <c:order val="0"/>
          <c:tx>
            <c:strRef>
              <c:f>Sheet1!$B$1</c:f>
              <c:strCache>
                <c:ptCount val="1"/>
                <c:pt idx="0">
                  <c:v>KB</c:v>
                </c:pt>
              </c:strCache>
            </c:strRef>
          </c:tx>
          <c:spPr>
            <a:solidFill>
              <a:srgbClr val="0E9F8E"/>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0E9F8E"/>
              </a:solidFill>
              <a:effectLst/>
            </c:spPr>
          </c:dPt>
          <c:dPt>
            <c:idx val="1"/>
            <c:invertIfNegative val="0"/>
            <c:bubble3D val="0"/>
            <c:spPr>
              <a:solidFill>
                <a:srgbClr val="0E9F8E"/>
              </a:solidFill>
              <a:effectLst/>
            </c:spPr>
          </c:dPt>
          <c:dPt>
            <c:idx val="2"/>
            <c:invertIfNegative val="0"/>
            <c:bubble3D val="0"/>
            <c:spPr>
              <a:solidFill>
                <a:srgbClr val="0E9F8E"/>
              </a:solidFill>
              <a:effectLst/>
            </c:spPr>
          </c:dPt>
          <c:dPt>
            <c:idx val="3"/>
            <c:invertIfNegative val="0"/>
            <c:bubble3D val="0"/>
            <c:spPr>
              <a:solidFill>
                <a:srgbClr val="F2A541"/>
              </a:solidFill>
              <a:effectLst/>
            </c:spPr>
          </c:dPt>
          <c:cat>
            <c:multiLvlStrRef>
              <c:f>Sheet1!$A$2:$A$5</c:f>
              <c:multiLvlStrCache>
                <c:ptCount val="4"/>
                <c:lvl>
                  <c:pt idx="0">
                    <c:v>V1 fp32</c:v>
                  </c:pt>
                  <c:pt idx="1">
                    <c:v>V1 fp16</c:v>
                  </c:pt>
                  <c:pt idx="2">
                    <c:v>V1 dyn</c:v>
                  </c:pt>
                  <c:pt idx="3">
                    <c:v>V1 int8</c:v>
                  </c:pt>
                </c:lvl>
              </c:multiLvlStrCache>
            </c:multiLvlStrRef>
          </c:cat>
          <c:val>
            <c:numRef>
              <c:f>Sheet1!$B$2:$B$5</c:f>
              <c:numCache>
                <c:formatCode>General</c:formatCode>
                <c:ptCount val="4"/>
                <c:pt idx="0">
                  <c:v>33.7</c:v>
                </c:pt>
                <c:pt idx="1">
                  <c:v>19</c:v>
                </c:pt>
                <c:pt idx="2">
                  <c:v>13.9</c:v>
                </c:pt>
                <c:pt idx="3">
                  <c:v>15.3</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9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Xác suất tấn công thành công (chu kỳ 20 bước)</a:t>
            </a:r>
          </a:p>
        </c:rich>
      </c:tx>
      <c:layout/>
      <c:overlay val="0"/>
    </c:title>
    <c:autoTitleDeleted val="0"/>
    <c:plotArea>
      <c:layout/>
      <c:barChart>
        <c:barDir val="col"/>
        <c:grouping val="clustered"/>
        <c:varyColors val="0"/>
        <c:ser>
          <c:idx val="0"/>
          <c:order val="0"/>
          <c:tx>
            <c:strRef>
              <c:f>Sheet1!$B$1</c:f>
              <c:strCache>
                <c:ptCount val="1"/>
                <c:pt idx="0">
                  <c:v>ASP</c:v>
                </c:pt>
              </c:strCache>
            </c:strRef>
          </c:tx>
          <c:spPr>
            <a:solidFill>
              <a:srgbClr val="5B6B7C"/>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6B7C"/>
              </a:solidFill>
              <a:effectLst/>
            </c:spPr>
          </c:dPt>
          <c:dPt>
            <c:idx val="1"/>
            <c:invertIfNegative val="0"/>
            <c:bubble3D val="0"/>
            <c:spPr>
              <a:solidFill>
                <a:srgbClr val="2E6FB0"/>
              </a:solidFill>
              <a:effectLst/>
            </c:spPr>
          </c:dPt>
          <c:dPt>
            <c:idx val="2"/>
            <c:invertIfNegative val="0"/>
            <c:bubble3D val="0"/>
            <c:spPr>
              <a:solidFill>
                <a:srgbClr val="F2A541"/>
              </a:solidFill>
              <a:effectLst/>
            </c:spPr>
          </c:dPt>
          <c:dPt>
            <c:idx val="3"/>
            <c:invertIfNegative val="0"/>
            <c:bubble3D val="0"/>
            <c:spPr>
              <a:solidFill>
                <a:srgbClr val="0E9F8E"/>
              </a:solidFill>
              <a:effectLst/>
            </c:spPr>
          </c:dPt>
          <c:cat>
            <c:multiLvlStrRef>
              <c:f>Sheet1!$A$2:$A$5</c:f>
              <c:multiLvlStrCache>
                <c:ptCount val="4"/>
                <c:lvl>
                  <c:pt idx="0">
                    <c:v>Không MTD</c:v>
                  </c:pt>
                  <c:pt idx="1">
                    <c:v>Shuffle</c:v>
                  </c:pt>
                  <c:pt idx="2">
                    <c:v>Diversity</c:v>
                  </c:pt>
                  <c:pt idx="3">
                    <c:v>Kết hợp</c:v>
                  </c:pt>
                </c:lvl>
              </c:multiLvlStrCache>
            </c:multiLvlStrRef>
          </c:cat>
          <c:val>
            <c:numRef>
              <c:f>Sheet1!$B$2:$B$5</c:f>
              <c:numCache>
                <c:formatCode>General</c:formatCode>
                <c:ptCount val="4"/>
                <c:pt idx="0">
                  <c:v>0.4985</c:v>
                </c:pt>
                <c:pt idx="1">
                  <c:v>0.4087</c:v>
                </c:pt>
                <c:pt idx="2">
                  <c:v>0.4369</c:v>
                </c:pt>
                <c:pt idx="3">
                  <c:v>0.3273</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9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phát hiện thiết bị IoT bị nhiễm botnet ngay tại edge bằng autoencoder huấn luyện riêng cho từng thiết bị, thu nhỏ và lượng tử hóa để chạy trên thiết bị yếu, và nối với hướng Moving Target Defence của paper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lý do của bài toán. Sáu câu hỏi nghiên cứu, mỗi câu có tiêu chí định lượng được chốt và lưu checksum trước khi chạy để không chỉnh tiêu chí theo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hiện quan trọng khi đọc paper: paper chính lệch chủ đề. Em không gượng ép tái lập số liệu MTD bằng autoencoder mà chia hai track; track B nối hai mảng bằng cách dùng cảnh báo AE làm bộ kích hoạt event-based cho MTD 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ghi rõ nguồn, giấy phép, ngày tải, checksum. Hai vấn đề chất lượng: trùng lặp và mất cân bằng nặng – quyết định cách chọn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cho thấy các dòng liền kề gần giống nhau, nên chia ngẫu nhiên là rò rỉ. Mỗi biện pháp chống rò rỉ đều có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giống Meidan nhưng thống nhất tối ưu bằng Adam + early stopping, 5 seed. Cải tiến chính là V1 lượng tử hóa int8 rồi tính lại ngưỡng trên DSopt bằng chính model int8.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Tầng AI và BE chỉ nói chuyện qua gói triển khai có checksum, nên thay model không phải sửa backend. Có test từ chối gói bị sửa 1 byte và chặn path traversal.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phát lại dữ liệu test công khai qua API. Tấn công Mirai sinh cảnh báo và hai hành động MTD được ghi vào CSDL; benign không cảnh báo; tcp của Ennio bị bỏ sót đúng như phân tích – demo không che giấu điểm yếu.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trung thực: FPR rất thấp nhưng TPR không đạt 100% như Meidan. F1 cân bằng phản ánh tốt hơn macro-F1 khi test mất cân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suy giảm đến từ hai file gafgyt tcp và udp; tám loại tấn công còn lại recall gần 1. Đã kiểm tra trên dữ liệu thô để giải thích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 rõ ràng: bắt được tấn công giống benign thì phải chấp nhận cửa sổ dài (phát hiện chậm) và FPR cao hơn. Em ghi rõ đây là hậu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Trọng số giảm 4 lần nhưng file chỉ còn khoảng 45% vì khung flatbuffer chiếm tỷ trọng lớn ở model nhỏ, nên không đạt tiêu chí 30%. Hiệu chỉnh ngưỡng là cải tiến về FPR và độ trễ, không phải macro-F1.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cấu hình đo trong process riêng: 10.000 lần × 5 lượt, báo cáo p50/p95/p99. Phần lớn thời gian mỗi lần gọi là overhead Python; invoke() chỉ vài µs.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Ổn định: cùng cấu hình, đổi seed có thể lật kết quả phát hiện tcp/udp. Robustness: thử offline né tránh, nhiễu và đầu độc dữ liệu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B: mô hình HARM rút gọn với tham số giả định, chỉ so xu hướng. MTD lai dùng chuỗi cảnh báo thật của V1 trên luồng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tiêu chí không đạt và em giữ nguyên, giải thích nguyên nhân ở các slide trước. Riêng edge đạt với biên rất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năm ý chính và hướng phát triển. Mã nguồn, cấu hình, log, manifest và hướng dẫn chạy lại ở thư mục DT043 trên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731520" y="1645920"/>
            <a:ext cx="10698480" cy="4480560"/>
          </a:xfrm>
          <a:prstGeom prst="rect">
            <a:avLst/>
          </a:prstGeom>
          <a:noFill/>
          <a:ln/>
        </p:spPr>
        <p:txBody>
          <a:bodyPr wrap="square" rtlCol="0"/>
          <a:lstStyle>
            <a:lvl1pPr indent="0" marL="0">
              <a:buNone/>
              <a:defRPr lang="en-US" sz="1900" dirty="0">
                <a:solidFill>
                  <a:schemeClr val="bg2"/>
                </a:solidFill>
              </a:defRPr>
            </a:lvl1pPr>
          </a:lstStyle>
          <a:p>
            <a:pPr indent="0" marL="0">
              <a:buNone/>
            </a:pPr>
            <a:endParaRPr lang="en-US" sz="1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DT043 · Hoàng Thanh Trà · 1150080120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Phát hiện botnet IoT bằng autoencoder nhẹ</a:t>
            </a: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en-US" sz="1800" dirty="0">
                <a:solidFill>
                  <a:schemeClr val="bg2"/>
                </a:solidFill>
              </a:rPr>
              <a:t>Đề tài DT043 · Bài giữa kỳ An toàn Bảo mật Hệ thống thông tin</a:t>
            </a:r>
            <a:endParaRPr lang="en-US" sz="1800" dirty="0"/>
          </a:p>
          <a:p>
            <a:pPr indent="0" marL="0">
              <a:buNone/>
            </a:pPr>
            <a:r>
              <a:rPr lang="en-US" sz="1800" dirty="0">
                <a:solidFill>
                  <a:schemeClr val="bg2"/>
                </a:solidFill>
              </a:rPr>
              <a:t>Hoàng Thanh Trà · MSSV 1150080120 · Lớp 11CNPM2</a:t>
            </a:r>
            <a:endParaRPr lang="en-US" sz="1800" dirty="0"/>
          </a:p>
          <a:p>
            <a:pPr indent="0" marL="0">
              <a:buNone/>
            </a:pPr>
            <a:r>
              <a:rPr lang="en-US" sz="1800" i="1" dirty="0">
                <a:solidFill>
                  <a:schemeClr val="accent2"/>
                </a:solidFill>
              </a:rPr>
              <a:t>Per-device AE · lượng tử hóa int8 · edge benchmark · MTD lai</a:t>
            </a:r>
            <a:endParaRPr lang="en-US" sz="1800" dirty="0"/>
          </a:p>
        </p:txBody>
      </p:sp>
      <p:sp>
        <p:nvSpPr>
          <p:cNvPr id="4" name="logo-circle"/>
          <p:cNvSpPr/>
          <p:nvPr/>
        </p:nvSpPr>
        <p:spPr>
          <a:xfrm>
            <a:off x="731520" y="640080"/>
            <a:ext cx="914400" cy="914400"/>
          </a:xfrm>
          <a:prstGeom prst="ellipse">
            <a:avLst/>
          </a:prstGeom>
          <a:solidFill>
            <a:srgbClr val="0E9F8E"/>
          </a:solidFill>
          <a:ln w="12700">
            <a:solidFill>
              <a:srgbClr val="0E9F8E"/>
            </a:solidFill>
            <a:prstDash val="solid"/>
          </a:ln>
        </p:spPr>
      </p:sp>
      <p:pic>
        <p:nvPicPr>
          <p:cNvPr id="5" name="logo-icon" descr="preencoded.png">    </p:cNvPr>
          <p:cNvPicPr>
            <a:picLocks noChangeAspect="1"/>
          </p:cNvPicPr>
          <p:nvPr/>
        </p:nvPicPr>
        <p:blipFill>
          <a:blip r:embed="rId1"/>
          <a:stretch>
            <a:fillRect/>
          </a:stretch>
        </p:blipFill>
        <p:spPr>
          <a:xfrm>
            <a:off x="960120" y="8686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Bài toán: phát hiện botnet ngay tại edge</a:t>
            </a:r>
            <a:endParaRPr lang="en-US" sz="3200" dirty="0"/>
          </a:p>
        </p:txBody>
      </p:sp>
      <p:sp>
        <p:nvSpPr>
          <p:cNvPr id="3" name="prob0-circle"/>
          <p:cNvSpPr/>
          <p:nvPr/>
        </p:nvSpPr>
        <p:spPr>
          <a:xfrm>
            <a:off x="640080" y="1417320"/>
            <a:ext cx="822960" cy="822960"/>
          </a:xfrm>
          <a:prstGeom prst="ellipse">
            <a:avLst/>
          </a:prstGeom>
          <a:solidFill>
            <a:srgbClr val="D64545"/>
          </a:solidFill>
          <a:ln w="12700">
            <a:solidFill>
              <a:srgbClr val="D64545"/>
            </a:solidFill>
            <a:prstDash val="solid"/>
          </a:ln>
        </p:spPr>
      </p:sp>
      <p:pic>
        <p:nvPicPr>
          <p:cNvPr id="4" name="prob0-icon" descr="preencoded.png">    </p:cNvPr>
          <p:cNvPicPr>
            <a:picLocks noChangeAspect="1"/>
          </p:cNvPicPr>
          <p:nvPr/>
        </p:nvPicPr>
        <p:blipFill>
          <a:blip r:embed="rId1"/>
          <a:stretch>
            <a:fillRect/>
          </a:stretch>
        </p:blipFill>
        <p:spPr>
          <a:xfrm>
            <a:off x="845820" y="1623060"/>
            <a:ext cx="411480" cy="411480"/>
          </a:xfrm>
          <a:prstGeom prst="rect">
            <a:avLst/>
          </a:prstGeom>
        </p:spPr>
      </p:pic>
      <p:sp>
        <p:nvSpPr>
          <p:cNvPr id="5" name="Text 2"/>
          <p:cNvSpPr txBox="1"/>
          <p:nvPr/>
        </p:nvSpPr>
        <p:spPr>
          <a:xfrm>
            <a:off x="1691640" y="1417320"/>
            <a:ext cx="4572000" cy="411480"/>
          </a:xfrm>
          <a:prstGeom prst="rect">
            <a:avLst/>
          </a:prstGeom>
          <a:noFill/>
          <a:ln/>
        </p:spPr>
        <p:txBody>
          <a:bodyPr wrap="square" lIns="0" tIns="0" rIns="0" bIns="0" rtlCol="0" anchor="t"/>
          <a:lstStyle/>
          <a:p>
            <a:pPr indent="0" marL="0">
              <a:buNone/>
            </a:pPr>
            <a:r>
              <a:rPr lang="en-US" sz="1900" b="1" dirty="0">
                <a:solidFill>
                  <a:schemeClr val="tx2"/>
                </a:solidFill>
              </a:rPr>
              <a:t>Thiết bị IoT dễ bị chiếm</a:t>
            </a:r>
            <a:endParaRPr lang="en-US" sz="1900" dirty="0"/>
          </a:p>
        </p:txBody>
      </p:sp>
      <p:sp>
        <p:nvSpPr>
          <p:cNvPr id="6" name="Text 3"/>
          <p:cNvSpPr txBox="1"/>
          <p:nvPr/>
        </p:nvSpPr>
        <p:spPr>
          <a:xfrm>
            <a:off x="1691640" y="1856232"/>
            <a:ext cx="4572000" cy="822960"/>
          </a:xfrm>
          <a:prstGeom prst="rect">
            <a:avLst/>
          </a:prstGeom>
          <a:noFill/>
          <a:ln/>
        </p:spPr>
        <p:txBody>
          <a:bodyPr wrap="square" lIns="0" tIns="0" rIns="0" bIns="0" rtlCol="0" anchor="t"/>
          <a:lstStyle/>
          <a:p>
            <a:pPr indent="0" marL="0">
              <a:buNone/>
            </a:pPr>
            <a:r>
              <a:rPr lang="en-US" sz="1500" dirty="0">
                <a:solidFill>
                  <a:schemeClr val="tx1"/>
                </a:solidFill>
              </a:rPr>
              <a:t>Mật khẩu mặc định, ít vá – Mirai, BASHLITE chiếm hàng loạt để DDoS</a:t>
            </a:r>
            <a:endParaRPr lang="en-US" sz="1500" dirty="0"/>
          </a:p>
        </p:txBody>
      </p:sp>
      <p:sp>
        <p:nvSpPr>
          <p:cNvPr id="7" name="prob1-circle"/>
          <p:cNvSpPr/>
          <p:nvPr/>
        </p:nvSpPr>
        <p:spPr>
          <a:xfrm>
            <a:off x="640080" y="2880360"/>
            <a:ext cx="822960" cy="822960"/>
          </a:xfrm>
          <a:prstGeom prst="ellipse">
            <a:avLst/>
          </a:prstGeom>
          <a:solidFill>
            <a:srgbClr val="2E6FB0"/>
          </a:solidFill>
          <a:ln w="12700">
            <a:solidFill>
              <a:srgbClr val="2E6FB0"/>
            </a:solidFill>
            <a:prstDash val="solid"/>
          </a:ln>
        </p:spPr>
      </p:sp>
      <p:pic>
        <p:nvPicPr>
          <p:cNvPr id="8" name="prob1-icon" descr="preencoded.png">    </p:cNvPr>
          <p:cNvPicPr>
            <a:picLocks noChangeAspect="1"/>
          </p:cNvPicPr>
          <p:nvPr/>
        </p:nvPicPr>
        <p:blipFill>
          <a:blip r:embed="rId2"/>
          <a:stretch>
            <a:fillRect/>
          </a:stretch>
        </p:blipFill>
        <p:spPr>
          <a:xfrm>
            <a:off x="845820" y="3086100"/>
            <a:ext cx="411480" cy="411480"/>
          </a:xfrm>
          <a:prstGeom prst="rect">
            <a:avLst/>
          </a:prstGeom>
        </p:spPr>
      </p:pic>
      <p:sp>
        <p:nvSpPr>
          <p:cNvPr id="9" name="Text 5"/>
          <p:cNvSpPr txBox="1"/>
          <p:nvPr/>
        </p:nvSpPr>
        <p:spPr>
          <a:xfrm>
            <a:off x="1691640" y="2880360"/>
            <a:ext cx="4572000" cy="411480"/>
          </a:xfrm>
          <a:prstGeom prst="rect">
            <a:avLst/>
          </a:prstGeom>
          <a:noFill/>
          <a:ln/>
        </p:spPr>
        <p:txBody>
          <a:bodyPr wrap="square" lIns="0" tIns="0" rIns="0" bIns="0" rtlCol="0" anchor="t"/>
          <a:lstStyle/>
          <a:p>
            <a:pPr indent="0" marL="0">
              <a:buNone/>
            </a:pPr>
            <a:r>
              <a:rPr lang="en-US" sz="1900" b="1" dirty="0">
                <a:solidFill>
                  <a:schemeClr val="tx2"/>
                </a:solidFill>
              </a:rPr>
              <a:t>Edge có tài nguyên hạn chế</a:t>
            </a:r>
            <a:endParaRPr lang="en-US" sz="1900" dirty="0"/>
          </a:p>
        </p:txBody>
      </p:sp>
      <p:sp>
        <p:nvSpPr>
          <p:cNvPr id="10" name="Text 6"/>
          <p:cNvSpPr txBox="1"/>
          <p:nvPr/>
        </p:nvSpPr>
        <p:spPr>
          <a:xfrm>
            <a:off x="1691640" y="3319272"/>
            <a:ext cx="4572000" cy="822960"/>
          </a:xfrm>
          <a:prstGeom prst="rect">
            <a:avLst/>
          </a:prstGeom>
          <a:noFill/>
          <a:ln/>
        </p:spPr>
        <p:txBody>
          <a:bodyPr wrap="square" lIns="0" tIns="0" rIns="0" bIns="0" rtlCol="0" anchor="t"/>
          <a:lstStyle/>
          <a:p>
            <a:pPr indent="0" marL="0">
              <a:buNone/>
            </a:pPr>
            <a:r>
              <a:rPr lang="en-US" sz="1500" dirty="0">
                <a:solidFill>
                  <a:schemeClr val="tx1"/>
                </a:solidFill>
              </a:rPr>
              <a:t>Bộ phát hiện phải nhỏ (KB), nhanh (µs), ít RAM và năng lượng</a:t>
            </a:r>
            <a:endParaRPr lang="en-US" sz="1500" dirty="0"/>
          </a:p>
        </p:txBody>
      </p:sp>
      <p:sp>
        <p:nvSpPr>
          <p:cNvPr id="11" name="prob2-circle"/>
          <p:cNvSpPr/>
          <p:nvPr/>
        </p:nvSpPr>
        <p:spPr>
          <a:xfrm>
            <a:off x="640080" y="4343400"/>
            <a:ext cx="822960" cy="822960"/>
          </a:xfrm>
          <a:prstGeom prst="ellipse">
            <a:avLst/>
          </a:prstGeom>
          <a:solidFill>
            <a:srgbClr val="0E9F8E"/>
          </a:solidFill>
          <a:ln w="12700">
            <a:solidFill>
              <a:srgbClr val="0E9F8E"/>
            </a:solidFill>
            <a:prstDash val="solid"/>
          </a:ln>
        </p:spPr>
      </p:sp>
      <p:pic>
        <p:nvPicPr>
          <p:cNvPr id="12" name="prob2-icon" descr="preencoded.png">    </p:cNvPr>
          <p:cNvPicPr>
            <a:picLocks noChangeAspect="1"/>
          </p:cNvPicPr>
          <p:nvPr/>
        </p:nvPicPr>
        <p:blipFill>
          <a:blip r:embed="rId3"/>
          <a:stretch>
            <a:fillRect/>
          </a:stretch>
        </p:blipFill>
        <p:spPr>
          <a:xfrm>
            <a:off x="845820" y="4549140"/>
            <a:ext cx="411480" cy="411480"/>
          </a:xfrm>
          <a:prstGeom prst="rect">
            <a:avLst/>
          </a:prstGeom>
        </p:spPr>
      </p:pic>
      <p:sp>
        <p:nvSpPr>
          <p:cNvPr id="13" name="Text 8"/>
          <p:cNvSpPr txBox="1"/>
          <p:nvPr/>
        </p:nvSpPr>
        <p:spPr>
          <a:xfrm>
            <a:off x="1691640" y="4343400"/>
            <a:ext cx="4572000" cy="411480"/>
          </a:xfrm>
          <a:prstGeom prst="rect">
            <a:avLst/>
          </a:prstGeom>
          <a:noFill/>
          <a:ln/>
        </p:spPr>
        <p:txBody>
          <a:bodyPr wrap="square" lIns="0" tIns="0" rIns="0" bIns="0" rtlCol="0" anchor="t"/>
          <a:lstStyle/>
          <a:p>
            <a:pPr indent="0" marL="0">
              <a:buNone/>
            </a:pPr>
            <a:r>
              <a:rPr lang="en-US" sz="1900" b="1" dirty="0">
                <a:solidFill>
                  <a:schemeClr val="tx2"/>
                </a:solidFill>
              </a:rPr>
              <a:t>Mỗi thiết bị một hành vi</a:t>
            </a:r>
            <a:endParaRPr lang="en-US" sz="1900" dirty="0"/>
          </a:p>
        </p:txBody>
      </p:sp>
      <p:sp>
        <p:nvSpPr>
          <p:cNvPr id="14" name="Text 9"/>
          <p:cNvSpPr txBox="1"/>
          <p:nvPr/>
        </p:nvSpPr>
        <p:spPr>
          <a:xfrm>
            <a:off x="1691640" y="4782312"/>
            <a:ext cx="4572000" cy="822960"/>
          </a:xfrm>
          <a:prstGeom prst="rect">
            <a:avLst/>
          </a:prstGeom>
          <a:noFill/>
          <a:ln/>
        </p:spPr>
        <p:txBody>
          <a:bodyPr wrap="square" lIns="0" tIns="0" rIns="0" bIns="0" rtlCol="0" anchor="t"/>
          <a:lstStyle/>
          <a:p>
            <a:pPr indent="0" marL="0">
              <a:buNone/>
            </a:pPr>
            <a:r>
              <a:rPr lang="en-US" sz="1500" dirty="0">
                <a:solidFill>
                  <a:schemeClr val="tx1"/>
                </a:solidFill>
              </a:rPr>
              <a:t>Học benign riêng từng thiết bị, cảnh báo khi lỗi tái tạo tăng</a:t>
            </a:r>
            <a:endParaRPr lang="en-US" sz="1500" dirty="0"/>
          </a:p>
        </p:txBody>
      </p:sp>
      <p:sp>
        <p:nvSpPr>
          <p:cNvPr id="15" name="rq-card"/>
          <p:cNvSpPr/>
          <p:nvPr/>
        </p:nvSpPr>
        <p:spPr>
          <a:xfrm>
            <a:off x="6675120" y="1325880"/>
            <a:ext cx="4937760" cy="4754880"/>
          </a:xfrm>
          <a:prstGeom prst="roundRect">
            <a:avLst>
              <a:gd name="adj" fmla="val 2308"/>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6" name="Text 11"/>
          <p:cNvSpPr txBox="1"/>
          <p:nvPr/>
        </p:nvSpPr>
        <p:spPr>
          <a:xfrm>
            <a:off x="6949440" y="1508760"/>
            <a:ext cx="4389120" cy="411480"/>
          </a:xfrm>
          <a:prstGeom prst="rect">
            <a:avLst/>
          </a:prstGeom>
          <a:noFill/>
          <a:ln/>
        </p:spPr>
        <p:txBody>
          <a:bodyPr wrap="square" lIns="0" tIns="0" rIns="0" bIns="0" rtlCol="0" anchor="t"/>
          <a:lstStyle/>
          <a:p>
            <a:pPr indent="0" marL="0">
              <a:buNone/>
            </a:pPr>
            <a:r>
              <a:rPr lang="en-US" sz="1900" b="1" dirty="0">
                <a:solidFill>
                  <a:schemeClr val="tx2"/>
                </a:solidFill>
              </a:rPr>
              <a:t>Câu hỏi nghiên cứu</a:t>
            </a:r>
            <a:endParaRPr lang="en-US" sz="1900" dirty="0"/>
          </a:p>
        </p:txBody>
      </p:sp>
      <p:sp>
        <p:nvSpPr>
          <p:cNvPr id="17" name="Text 12"/>
          <p:cNvSpPr txBox="1"/>
          <p:nvPr/>
        </p:nvSpPr>
        <p:spPr>
          <a:xfrm>
            <a:off x="6949440" y="2011680"/>
            <a:ext cx="448056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RQ1 Tái lập baseline Meidan 2018</a:t>
            </a:r>
            <a:endParaRPr lang="en-US" sz="1600" dirty="0"/>
          </a:p>
          <a:p>
            <a:pPr marL="342900" indent="-342900">
              <a:spcAft>
                <a:spcPts val="800"/>
              </a:spcAft>
              <a:buSzPct val="100000"/>
              <a:buChar char="•"/>
            </a:pPr>
            <a:r>
              <a:rPr lang="en-US" sz="1600" dirty="0">
                <a:solidFill>
                  <a:schemeClr val="tx1"/>
                </a:solidFill>
              </a:rPr>
              <a:t>RQ2 Per-device có hơn model chung?</a:t>
            </a:r>
            <a:endParaRPr lang="en-US" sz="1600" dirty="0"/>
          </a:p>
          <a:p>
            <a:pPr marL="342900" indent="-342900">
              <a:spcAft>
                <a:spcPts val="800"/>
              </a:spcAft>
              <a:buSzPct val="100000"/>
              <a:buChar char="•"/>
            </a:pPr>
            <a:r>
              <a:rPr lang="en-US" sz="1600" dirty="0">
                <a:solidFill>
                  <a:schemeClr val="tx1"/>
                </a:solidFill>
              </a:rPr>
              <a:t>RQ3 AE nhẹ giữ chất lượng?</a:t>
            </a:r>
            <a:endParaRPr lang="en-US" sz="1600" dirty="0"/>
          </a:p>
          <a:p>
            <a:pPr marL="342900" indent="-342900">
              <a:spcAft>
                <a:spcPts val="800"/>
              </a:spcAft>
              <a:buSzPct val="100000"/>
              <a:buChar char="•"/>
            </a:pPr>
            <a:r>
              <a:rPr lang="en-US" sz="1600" dirty="0">
                <a:solidFill>
                  <a:schemeClr val="tx1"/>
                </a:solidFill>
              </a:rPr>
              <a:t>RQ4 int8 + hiệu chỉnh ngưỡng</a:t>
            </a:r>
            <a:endParaRPr lang="en-US" sz="1600" dirty="0"/>
          </a:p>
          <a:p>
            <a:pPr marL="342900" indent="-342900">
              <a:spcAft>
                <a:spcPts val="800"/>
              </a:spcAft>
              <a:buSzPct val="100000"/>
              <a:buChar char="•"/>
            </a:pPr>
            <a:r>
              <a:rPr lang="en-US" sz="1600" dirty="0">
                <a:solidFill>
                  <a:schemeClr val="tx1"/>
                </a:solidFill>
              </a:rPr>
              <a:t>RQ5 Chạy được trên edge?</a:t>
            </a:r>
            <a:endParaRPr lang="en-US" sz="1600" dirty="0"/>
          </a:p>
          <a:p>
            <a:pPr marL="342900" indent="-342900">
              <a:spcAft>
                <a:spcPts val="800"/>
              </a:spcAft>
              <a:buSzPct val="100000"/>
              <a:buChar char="•"/>
            </a:pPr>
            <a:r>
              <a:rPr lang="en-US" sz="1600" dirty="0">
                <a:solidFill>
                  <a:schemeClr val="tx1"/>
                </a:solidFill>
              </a:rPr>
              <a:t>RQ6 AE kích hoạt MTD lai</a:t>
            </a:r>
            <a:endParaRPr lang="en-US" sz="1600" dirty="0"/>
          </a:p>
        </p:txBody>
      </p:sp>
      <p:sp>
        <p:nvSpPr>
          <p:cNvPr id="18" name="Text 13"/>
          <p:cNvSpPr txBox="1"/>
          <p:nvPr/>
        </p:nvSpPr>
        <p:spPr>
          <a:xfrm>
            <a:off x="6949440" y="5349240"/>
            <a:ext cx="4480560" cy="548640"/>
          </a:xfrm>
          <a:prstGeom prst="rect">
            <a:avLst/>
          </a:prstGeom>
          <a:noFill/>
          <a:ln/>
        </p:spPr>
        <p:txBody>
          <a:bodyPr wrap="square" lIns="0" tIns="0" rIns="0" bIns="0" rtlCol="0" anchor="t"/>
          <a:lstStyle/>
          <a:p>
            <a:pPr indent="0" marL="0">
              <a:buNone/>
            </a:pPr>
            <a:r>
              <a:rPr lang="en-US" sz="1200" i="1" dirty="0">
                <a:solidFill>
                  <a:schemeClr val="accent4"/>
                </a:solidFill>
              </a:rPr>
              <a:t>Tiêu chí thành công chốt trước khi chạy (SHA-256 ghi trong nhật ký)</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Paper chính nói về MTD → chiến lược hai track</a:t>
            </a:r>
            <a:endParaRPr lang="en-US" sz="3200" dirty="0"/>
          </a:p>
        </p:txBody>
      </p:sp>
      <p:sp>
        <p:nvSpPr>
          <p:cNvPr id="3" name="Text 1"/>
          <p:cNvSpPr txBox="1"/>
          <p:nvPr/>
        </p:nvSpPr>
        <p:spPr>
          <a:xfrm>
            <a:off x="548640" y="1234440"/>
            <a:ext cx="11064240" cy="640080"/>
          </a:xfrm>
          <a:prstGeom prst="rect">
            <a:avLst/>
          </a:prstGeom>
          <a:noFill/>
          <a:ln/>
        </p:spPr>
        <p:txBody>
          <a:bodyPr wrap="square" lIns="0" tIns="0" rIns="0" bIns="0" rtlCol="0" anchor="t"/>
          <a:lstStyle/>
          <a:p>
            <a:pPr indent="0" marL="0">
              <a:buNone/>
            </a:pPr>
            <a:r>
              <a:rPr lang="en-US" sz="1500" dirty="0">
                <a:solidFill>
                  <a:schemeClr val="accent4"/>
                </a:solidFill>
              </a:rPr>
              <a:t>Masud et al. (2025, Computers &amp; Security) – hybrid Moving Target Defence + mô hình đồ thị tấn công 3-layer THARM; không dùng autoencoder, N-BaIoT hay edge.</a:t>
            </a:r>
            <a:endParaRPr lang="en-US" sz="1500" dirty="0"/>
          </a:p>
        </p:txBody>
      </p:sp>
      <p:sp>
        <p:nvSpPr>
          <p:cNvPr id="4" name="track0"/>
          <p:cNvSpPr/>
          <p:nvPr/>
        </p:nvSpPr>
        <p:spPr>
          <a:xfrm>
            <a:off x="548640" y="2057400"/>
            <a:ext cx="5257800" cy="3108960"/>
          </a:xfrm>
          <a:prstGeom prst="roundRect">
            <a:avLst>
              <a:gd name="adj" fmla="val 3529"/>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5" name="trackicon0-circle"/>
          <p:cNvSpPr/>
          <p:nvPr/>
        </p:nvSpPr>
        <p:spPr>
          <a:xfrm>
            <a:off x="822960" y="2286000"/>
            <a:ext cx="731520" cy="731520"/>
          </a:xfrm>
          <a:prstGeom prst="ellipse">
            <a:avLst/>
          </a:prstGeom>
          <a:solidFill>
            <a:srgbClr val="0E9F8E"/>
          </a:solidFill>
          <a:ln w="12700">
            <a:solidFill>
              <a:srgbClr val="0E9F8E"/>
            </a:solidFill>
            <a:prstDash val="solid"/>
          </a:ln>
        </p:spPr>
      </p:sp>
      <p:pic>
        <p:nvPicPr>
          <p:cNvPr id="6" name="trackicon0-icon" descr="preencoded.png">    </p:cNvPr>
          <p:cNvPicPr>
            <a:picLocks noChangeAspect="1"/>
          </p:cNvPicPr>
          <p:nvPr/>
        </p:nvPicPr>
        <p:blipFill>
          <a:blip r:embed="rId1"/>
          <a:stretch>
            <a:fillRect/>
          </a:stretch>
        </p:blipFill>
        <p:spPr>
          <a:xfrm>
            <a:off x="1005840" y="2468880"/>
            <a:ext cx="365760" cy="365760"/>
          </a:xfrm>
          <a:prstGeom prst="rect">
            <a:avLst/>
          </a:prstGeom>
        </p:spPr>
      </p:pic>
      <p:sp>
        <p:nvSpPr>
          <p:cNvPr id="7" name="Text 4"/>
          <p:cNvSpPr txBox="1"/>
          <p:nvPr/>
        </p:nvSpPr>
        <p:spPr>
          <a:xfrm>
            <a:off x="1737360" y="2423160"/>
            <a:ext cx="3840480" cy="457200"/>
          </a:xfrm>
          <a:prstGeom prst="rect">
            <a:avLst/>
          </a:prstGeom>
          <a:noFill/>
          <a:ln/>
        </p:spPr>
        <p:txBody>
          <a:bodyPr wrap="square" lIns="0" tIns="0" rIns="0" bIns="0" rtlCol="0" anchor="t"/>
          <a:lstStyle/>
          <a:p>
            <a:pPr indent="0" marL="0">
              <a:buNone/>
            </a:pPr>
            <a:r>
              <a:rPr lang="en-US" sz="2000" b="1" dirty="0">
                <a:solidFill>
                  <a:schemeClr val="tx2"/>
                </a:solidFill>
              </a:rPr>
              <a:t>Track A · lõi · ~70%</a:t>
            </a:r>
            <a:endParaRPr lang="en-US" sz="2000" dirty="0"/>
          </a:p>
        </p:txBody>
      </p:sp>
      <p:sp>
        <p:nvSpPr>
          <p:cNvPr id="8" name="Text 5"/>
          <p:cNvSpPr txBox="1"/>
          <p:nvPr/>
        </p:nvSpPr>
        <p:spPr>
          <a:xfrm>
            <a:off x="914400" y="3246120"/>
            <a:ext cx="4572000"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Per-device AE trên N-BaIoT</a:t>
            </a:r>
            <a:endParaRPr lang="en-US" sz="1600" dirty="0"/>
          </a:p>
          <a:p>
            <a:pPr marL="342900" indent="-342900">
              <a:spcAft>
                <a:spcPts val="800"/>
              </a:spcAft>
              <a:buSzPct val="100000"/>
              <a:buChar char="•"/>
            </a:pPr>
            <a:r>
              <a:rPr lang="en-US" sz="1600" dirty="0">
                <a:solidFill>
                  <a:schemeClr val="tx1"/>
                </a:solidFill>
              </a:rPr>
              <a:t>Baseline: Meidan 2018</a:t>
            </a:r>
            <a:endParaRPr lang="en-US" sz="1600" dirty="0"/>
          </a:p>
          <a:p>
            <a:pPr marL="342900" indent="-342900">
              <a:spcAft>
                <a:spcPts val="800"/>
              </a:spcAft>
              <a:buSzPct val="100000"/>
              <a:buChar char="•"/>
            </a:pPr>
            <a:r>
              <a:rPr lang="en-US" sz="1600" dirty="0">
                <a:solidFill>
                  <a:schemeClr val="tx1"/>
                </a:solidFill>
              </a:rPr>
              <a:t>Model nhẹ + int8 + hiệu chỉnh ngưỡng</a:t>
            </a:r>
            <a:endParaRPr lang="en-US" sz="1600" dirty="0"/>
          </a:p>
          <a:p>
            <a:pPr marL="342900" indent="-342900">
              <a:spcAft>
                <a:spcPts val="800"/>
              </a:spcAft>
              <a:buSzPct val="100000"/>
              <a:buChar char="•"/>
            </a:pPr>
            <a:r>
              <a:rPr lang="en-US" sz="1600" dirty="0">
                <a:solidFill>
                  <a:schemeClr val="tx1"/>
                </a:solidFill>
              </a:rPr>
              <a:t>Edge benchmark</a:t>
            </a:r>
            <a:endParaRPr lang="en-US" sz="1600" dirty="0"/>
          </a:p>
        </p:txBody>
      </p:sp>
      <p:sp>
        <p:nvSpPr>
          <p:cNvPr id="9" name="track1"/>
          <p:cNvSpPr/>
          <p:nvPr/>
        </p:nvSpPr>
        <p:spPr>
          <a:xfrm>
            <a:off x="6355080" y="2057400"/>
            <a:ext cx="5257800" cy="3108960"/>
          </a:xfrm>
          <a:prstGeom prst="roundRect">
            <a:avLst>
              <a:gd name="adj" fmla="val 3529"/>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0" name="trackicon1-circle"/>
          <p:cNvSpPr/>
          <p:nvPr/>
        </p:nvSpPr>
        <p:spPr>
          <a:xfrm>
            <a:off x="6629400" y="2286000"/>
            <a:ext cx="731520" cy="731520"/>
          </a:xfrm>
          <a:prstGeom prst="ellipse">
            <a:avLst/>
          </a:prstGeom>
          <a:solidFill>
            <a:srgbClr val="F2A541"/>
          </a:solidFill>
          <a:ln w="12700">
            <a:solidFill>
              <a:srgbClr val="F2A541"/>
            </a:solidFill>
            <a:prstDash val="solid"/>
          </a:ln>
        </p:spPr>
      </p:sp>
      <p:pic>
        <p:nvPicPr>
          <p:cNvPr id="11" name="trackicon1-icon" descr="preencoded.png">    </p:cNvPr>
          <p:cNvPicPr>
            <a:picLocks noChangeAspect="1"/>
          </p:cNvPicPr>
          <p:nvPr/>
        </p:nvPicPr>
        <p:blipFill>
          <a:blip r:embed="rId2"/>
          <a:stretch>
            <a:fillRect/>
          </a:stretch>
        </p:blipFill>
        <p:spPr>
          <a:xfrm>
            <a:off x="6812280" y="2468880"/>
            <a:ext cx="365760" cy="365760"/>
          </a:xfrm>
          <a:prstGeom prst="rect">
            <a:avLst/>
          </a:prstGeom>
        </p:spPr>
      </p:pic>
      <p:sp>
        <p:nvSpPr>
          <p:cNvPr id="12" name="Text 8"/>
          <p:cNvSpPr txBox="1"/>
          <p:nvPr/>
        </p:nvSpPr>
        <p:spPr>
          <a:xfrm>
            <a:off x="7543800" y="2423160"/>
            <a:ext cx="3840480" cy="457200"/>
          </a:xfrm>
          <a:prstGeom prst="rect">
            <a:avLst/>
          </a:prstGeom>
          <a:noFill/>
          <a:ln/>
        </p:spPr>
        <p:txBody>
          <a:bodyPr wrap="square" lIns="0" tIns="0" rIns="0" bIns="0" rtlCol="0" anchor="t"/>
          <a:lstStyle/>
          <a:p>
            <a:pPr indent="0" marL="0">
              <a:buNone/>
            </a:pPr>
            <a:r>
              <a:rPr lang="en-US" sz="2000" b="1" dirty="0">
                <a:solidFill>
                  <a:schemeClr val="tx2"/>
                </a:solidFill>
              </a:rPr>
              <a:t>Track B · cầu nối · ~30%</a:t>
            </a:r>
            <a:endParaRPr lang="en-US" sz="2000" dirty="0"/>
          </a:p>
        </p:txBody>
      </p:sp>
      <p:sp>
        <p:nvSpPr>
          <p:cNvPr id="13" name="Text 9"/>
          <p:cNvSpPr txBox="1"/>
          <p:nvPr/>
        </p:nvSpPr>
        <p:spPr>
          <a:xfrm>
            <a:off x="6720840" y="3246120"/>
            <a:ext cx="4572000"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Tái lập xu hướng MTD: shuffle / diversity / kết hợp</a:t>
            </a:r>
            <a:endParaRPr lang="en-US" sz="1600" dirty="0"/>
          </a:p>
          <a:p>
            <a:pPr marL="342900" indent="-342900">
              <a:spcAft>
                <a:spcPts val="800"/>
              </a:spcAft>
              <a:buSzPct val="100000"/>
              <a:buChar char="•"/>
            </a:pPr>
            <a:r>
              <a:rPr lang="en-US" sz="1600" dirty="0">
                <a:solidFill>
                  <a:schemeClr val="tx1"/>
                </a:solidFill>
              </a:rPr>
              <a:t>Mô hình HARM rút gọn</a:t>
            </a:r>
            <a:endParaRPr lang="en-US" sz="1600" dirty="0"/>
          </a:p>
          <a:p>
            <a:pPr marL="342900" indent="-342900">
              <a:spcAft>
                <a:spcPts val="800"/>
              </a:spcAft>
              <a:buSzPct val="100000"/>
              <a:buChar char="•"/>
            </a:pPr>
            <a:r>
              <a:rPr lang="en-US" sz="1600" dirty="0">
                <a:solidFill>
                  <a:schemeClr val="tx1"/>
                </a:solidFill>
              </a:rPr>
              <a:t>MTD lai: cảnh báo AE kích hoạt move</a:t>
            </a:r>
            <a:endParaRPr lang="en-US" sz="1600" dirty="0"/>
          </a:p>
        </p:txBody>
      </p:sp>
      <p:sp>
        <p:nvSpPr>
          <p:cNvPr id="14" name="Text 10"/>
          <p:cNvSpPr txBox="1"/>
          <p:nvPr/>
        </p:nvSpPr>
        <p:spPr>
          <a:xfrm>
            <a:off x="548640" y="5440680"/>
            <a:ext cx="11064240" cy="457200"/>
          </a:xfrm>
          <a:prstGeom prst="rect">
            <a:avLst/>
          </a:prstGeom>
          <a:noFill/>
          <a:ln/>
        </p:spPr>
        <p:txBody>
          <a:bodyPr wrap="square" lIns="0" tIns="0" rIns="0" bIns="0" rtlCol="0" anchor="t"/>
          <a:lstStyle/>
          <a:p>
            <a:pPr algn="ctr" indent="0" marL="0">
              <a:buNone/>
            </a:pPr>
            <a:r>
              <a:rPr lang="en-US" sz="1600" b="1" dirty="0">
                <a:solidFill>
                  <a:schemeClr val="accent3"/>
                </a:solidFill>
              </a:rPr>
              <a:t>Cầu nối: cửa sổ cảnh báo của AE (Track A) là sự kiện kích hoạt MTD event-based (Track B)</a:t>
            </a:r>
            <a:endParaRPr lang="en-US" sz="1600" dirty="0"/>
          </a:p>
        </p:txBody>
      </p:sp>
      <p:sp>
        <p:nvSpPr>
          <p:cNvPr id="15" name="track-arrow"/>
          <p:cNvSpPr/>
          <p:nvPr/>
        </p:nvSpPr>
        <p:spPr>
          <a:xfrm>
            <a:off x="5596128" y="3383280"/>
            <a:ext cx="548640" cy="457200"/>
          </a:xfrm>
          <a:prstGeom prst="rightArrow">
            <a:avLst/>
          </a:prstGeom>
          <a:solidFill>
            <a:srgbClr val="D64545"/>
          </a:solidFill>
          <a:ln w="12700">
            <a:solidFill>
              <a:srgbClr val="D64545"/>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Dữ liệu N-BaIoT: lớn, trùng lặp và mất cân bằng</a:t>
            </a:r>
            <a:endParaRPr lang="en-US" sz="3200" dirty="0"/>
          </a:p>
        </p:txBody>
      </p:sp>
      <p:sp>
        <p:nvSpPr>
          <p:cNvPr id="3" name="stat0-num"/>
          <p:cNvSpPr txBox="1"/>
          <p:nvPr/>
        </p:nvSpPr>
        <p:spPr>
          <a:xfrm>
            <a:off x="548640" y="1371600"/>
            <a:ext cx="256032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7.06M</a:t>
            </a:r>
            <a:endParaRPr lang="en-US" sz="4000" dirty="0"/>
          </a:p>
        </p:txBody>
      </p:sp>
      <p:sp>
        <p:nvSpPr>
          <p:cNvPr id="4" name="stat0-label"/>
          <p:cNvSpPr txBox="1"/>
          <p:nvPr/>
        </p:nvSpPr>
        <p:spPr>
          <a:xfrm>
            <a:off x="548640" y="2240280"/>
            <a:ext cx="2560320" cy="640080"/>
          </a:xfrm>
          <a:prstGeom prst="rect">
            <a:avLst/>
          </a:prstGeom>
          <a:noFill/>
          <a:ln/>
        </p:spPr>
        <p:txBody>
          <a:bodyPr wrap="square" lIns="0" tIns="0" rIns="0" bIns="0" rtlCol="0" anchor="t"/>
          <a:lstStyle/>
          <a:p>
            <a:pPr indent="0" marL="0">
              <a:buNone/>
            </a:pPr>
            <a:r>
              <a:rPr lang="en-US" sz="1300" dirty="0">
                <a:solidFill>
                  <a:schemeClr val="accent4"/>
                </a:solidFill>
              </a:rPr>
              <a:t>dòng (UCI, CC BY 4.0)</a:t>
            </a:r>
            <a:endParaRPr lang="en-US" sz="1300" dirty="0"/>
          </a:p>
        </p:txBody>
      </p:sp>
      <p:sp>
        <p:nvSpPr>
          <p:cNvPr id="5" name="stat1-num"/>
          <p:cNvSpPr txBox="1"/>
          <p:nvPr/>
        </p:nvSpPr>
        <p:spPr>
          <a:xfrm>
            <a:off x="3383280" y="1371600"/>
            <a:ext cx="256032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115</a:t>
            </a:r>
            <a:endParaRPr lang="en-US" sz="4000" dirty="0"/>
          </a:p>
        </p:txBody>
      </p:sp>
      <p:sp>
        <p:nvSpPr>
          <p:cNvPr id="6" name="stat1-label"/>
          <p:cNvSpPr txBox="1"/>
          <p:nvPr/>
        </p:nvSpPr>
        <p:spPr>
          <a:xfrm>
            <a:off x="3383280" y="2240280"/>
            <a:ext cx="2560320" cy="640080"/>
          </a:xfrm>
          <a:prstGeom prst="rect">
            <a:avLst/>
          </a:prstGeom>
          <a:noFill/>
          <a:ln/>
        </p:spPr>
        <p:txBody>
          <a:bodyPr wrap="square" lIns="0" tIns="0" rIns="0" bIns="0" rtlCol="0" anchor="t"/>
          <a:lstStyle/>
          <a:p>
            <a:pPr indent="0" marL="0">
              <a:buNone/>
            </a:pPr>
            <a:r>
              <a:rPr lang="en-US" sz="1300" dirty="0">
                <a:solidFill>
                  <a:schemeClr val="accent4"/>
                </a:solidFill>
              </a:rPr>
              <a:t>đặc trưng = 23 thống kê × 5 cửa sổ</a:t>
            </a:r>
            <a:endParaRPr lang="en-US" sz="1300" dirty="0"/>
          </a:p>
        </p:txBody>
      </p:sp>
      <p:sp>
        <p:nvSpPr>
          <p:cNvPr id="7" name="stat2-num"/>
          <p:cNvSpPr txBox="1"/>
          <p:nvPr/>
        </p:nvSpPr>
        <p:spPr>
          <a:xfrm>
            <a:off x="6217920" y="1371600"/>
            <a:ext cx="256032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9</a:t>
            </a:r>
            <a:endParaRPr lang="en-US" sz="4000" dirty="0"/>
          </a:p>
        </p:txBody>
      </p:sp>
      <p:sp>
        <p:nvSpPr>
          <p:cNvPr id="8" name="stat2-label"/>
          <p:cNvSpPr txBox="1"/>
          <p:nvPr/>
        </p:nvSpPr>
        <p:spPr>
          <a:xfrm>
            <a:off x="6217920" y="2240280"/>
            <a:ext cx="2560320" cy="640080"/>
          </a:xfrm>
          <a:prstGeom prst="rect">
            <a:avLst/>
          </a:prstGeom>
          <a:noFill/>
          <a:ln/>
        </p:spPr>
        <p:txBody>
          <a:bodyPr wrap="square" lIns="0" tIns="0" rIns="0" bIns="0" rtlCol="0" anchor="t"/>
          <a:lstStyle/>
          <a:p>
            <a:pPr indent="0" marL="0">
              <a:buNone/>
            </a:pPr>
            <a:r>
              <a:rPr lang="en-US" sz="1300" dirty="0">
                <a:solidFill>
                  <a:schemeClr val="accent4"/>
                </a:solidFill>
              </a:rPr>
              <a:t>thiết bị IoT thương mại</a:t>
            </a:r>
            <a:endParaRPr lang="en-US" sz="1300" dirty="0"/>
          </a:p>
        </p:txBody>
      </p:sp>
      <p:sp>
        <p:nvSpPr>
          <p:cNvPr id="9" name="stat3-num"/>
          <p:cNvSpPr txBox="1"/>
          <p:nvPr/>
        </p:nvSpPr>
        <p:spPr>
          <a:xfrm>
            <a:off x="9052560" y="1371600"/>
            <a:ext cx="256032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10</a:t>
            </a:r>
            <a:endParaRPr lang="en-US" sz="4000" dirty="0"/>
          </a:p>
        </p:txBody>
      </p:sp>
      <p:sp>
        <p:nvSpPr>
          <p:cNvPr id="10" name="stat3-label"/>
          <p:cNvSpPr txBox="1"/>
          <p:nvPr/>
        </p:nvSpPr>
        <p:spPr>
          <a:xfrm>
            <a:off x="9052560" y="2240280"/>
            <a:ext cx="2560320" cy="640080"/>
          </a:xfrm>
          <a:prstGeom prst="rect">
            <a:avLst/>
          </a:prstGeom>
          <a:noFill/>
          <a:ln/>
        </p:spPr>
        <p:txBody>
          <a:bodyPr wrap="square" lIns="0" tIns="0" rIns="0" bIns="0" rtlCol="0" anchor="t"/>
          <a:lstStyle/>
          <a:p>
            <a:pPr indent="0" marL="0">
              <a:buNone/>
            </a:pPr>
            <a:r>
              <a:rPr lang="en-US" sz="1300" dirty="0">
                <a:solidFill>
                  <a:schemeClr val="accent4"/>
                </a:solidFill>
              </a:rPr>
              <a:t>kiểu tấn công Mirai + BASHLITE</a:t>
            </a:r>
            <a:endParaRPr lang="en-US" sz="1300" dirty="0"/>
          </a:p>
        </p:txBody>
      </p:sp>
      <p:sp>
        <p:nvSpPr>
          <p:cNvPr id="11" name="dup-card"/>
          <p:cNvSpPr/>
          <p:nvPr/>
        </p:nvSpPr>
        <p:spPr>
          <a:xfrm>
            <a:off x="548640" y="3429000"/>
            <a:ext cx="5349240" cy="2194560"/>
          </a:xfrm>
          <a:prstGeom prst="roundRect">
            <a:avLst>
              <a:gd name="adj" fmla="val 5000"/>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822960" y="3611880"/>
            <a:ext cx="4846320" cy="82296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157,779</a:t>
            </a:r>
            <a:endParaRPr lang="en-US" sz="3600" dirty="0"/>
          </a:p>
        </p:txBody>
      </p:sp>
      <p:sp>
        <p:nvSpPr>
          <p:cNvPr id="13" name="Text 11"/>
          <p:cNvSpPr txBox="1"/>
          <p:nvPr/>
        </p:nvSpPr>
        <p:spPr>
          <a:xfrm>
            <a:off x="822960" y="4434840"/>
            <a:ext cx="4846320" cy="1463040"/>
          </a:xfrm>
          <a:prstGeom prst="rect">
            <a:avLst/>
          </a:prstGeom>
          <a:noFill/>
          <a:ln/>
        </p:spPr>
        <p:txBody>
          <a:bodyPr wrap="square" lIns="0" tIns="0" rIns="0" bIns="0" rtlCol="0" anchor="t"/>
          <a:lstStyle/>
          <a:p>
            <a:pPr indent="0" marL="0">
              <a:buNone/>
            </a:pPr>
            <a:r>
              <a:rPr lang="en-US" sz="1500" dirty="0">
                <a:solidFill>
                  <a:schemeClr val="tx1"/>
                </a:solidFill>
              </a:rPr>
              <a:t>dòng trùng lặp chính xác bị loại (benign Danmini 18.5%; gafgyt tcp/udp). Còn 6,904,827 dòng; manifest SHA-256 cho 107 file.</a:t>
            </a:r>
            <a:endParaRPr lang="en-US" sz="1500" dirty="0"/>
          </a:p>
        </p:txBody>
      </p:sp>
      <p:sp>
        <p:nvSpPr>
          <p:cNvPr id="14" name="imb-card"/>
          <p:cNvSpPr/>
          <p:nvPr/>
        </p:nvSpPr>
        <p:spPr>
          <a:xfrm>
            <a:off x="6263640" y="3429000"/>
            <a:ext cx="5349240" cy="2194560"/>
          </a:xfrm>
          <a:prstGeom prst="roundRect">
            <a:avLst>
              <a:gd name="adj" fmla="val 5000"/>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537960" y="3611880"/>
            <a:ext cx="4846320" cy="82296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5.5–61.8×</a:t>
            </a:r>
            <a:endParaRPr lang="en-US" sz="3600" dirty="0"/>
          </a:p>
        </p:txBody>
      </p:sp>
      <p:sp>
        <p:nvSpPr>
          <p:cNvPr id="16" name="Text 14"/>
          <p:cNvSpPr txBox="1"/>
          <p:nvPr/>
        </p:nvSpPr>
        <p:spPr>
          <a:xfrm>
            <a:off x="6537960" y="4434840"/>
            <a:ext cx="4846320" cy="1463040"/>
          </a:xfrm>
          <a:prstGeom prst="rect">
            <a:avLst/>
          </a:prstGeom>
          <a:noFill/>
          <a:ln/>
        </p:spPr>
        <p:txBody>
          <a:bodyPr wrap="square" lIns="0" tIns="0" rIns="0" bIns="0" rtlCol="0" anchor="t"/>
          <a:lstStyle/>
          <a:p>
            <a:pPr indent="0" marL="0">
              <a:buNone/>
            </a:pPr>
            <a:r>
              <a:rPr lang="en-US" sz="1500" dirty="0">
                <a:solidFill>
                  <a:schemeClr val="tx1"/>
                </a:solidFill>
              </a:rPr>
              <a:t>attack nhiều hơn benign → Accuracy vô nghĩa; metric chính là macro-F1 và FPR mức cửa sổ, kèm F1 khi test cân bằng.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Chống rò rỉ: chia theo thời gian, có vùng đệm</a:t>
            </a:r>
            <a:endParaRPr lang="en-US" sz="3200" dirty="0"/>
          </a:p>
        </p:txBody>
      </p:sp>
      <p:sp>
        <p:nvSpPr>
          <p:cNvPr id="3" name="split0"/>
          <p:cNvSpPr/>
          <p:nvPr/>
        </p:nvSpPr>
        <p:spPr>
          <a:xfrm>
            <a:off x="548640" y="1463040"/>
            <a:ext cx="3383280" cy="822960"/>
          </a:xfrm>
          <a:prstGeom prst="rect">
            <a:avLst/>
          </a:prstGeom>
          <a:solidFill>
            <a:srgbClr val="0E9F8E"/>
          </a:solidFill>
          <a:ln w="12700">
            <a:solidFill>
              <a:srgbClr val="0E9F8E"/>
            </a:solidFill>
            <a:prstDash val="solid"/>
          </a:ln>
        </p:spPr>
      </p:sp>
      <p:sp>
        <p:nvSpPr>
          <p:cNvPr id="4" name="Text 2"/>
          <p:cNvSpPr txBox="1"/>
          <p:nvPr/>
        </p:nvSpPr>
        <p:spPr>
          <a:xfrm>
            <a:off x="685800" y="1463040"/>
            <a:ext cx="3108960" cy="822960"/>
          </a:xfrm>
          <a:prstGeom prst="rect">
            <a:avLst/>
          </a:prstGeom>
          <a:noFill/>
          <a:ln/>
        </p:spPr>
        <p:txBody>
          <a:bodyPr wrap="square" lIns="0" tIns="0" rIns="0" bIns="0" rtlCol="0" anchor="ctr"/>
          <a:lstStyle/>
          <a:p>
            <a:pPr algn="ctr" indent="0" marL="0">
              <a:buNone/>
            </a:pPr>
            <a:r>
              <a:rPr lang="en-US" sz="1500" b="1" dirty="0">
                <a:solidFill>
                  <a:schemeClr val="bg1"/>
                </a:solidFill>
              </a:rPr>
              <a:t>DStrn · train AE + fit scaler</a:t>
            </a:r>
            <a:endParaRPr lang="en-US" sz="1500" dirty="0"/>
          </a:p>
        </p:txBody>
      </p:sp>
      <p:sp>
        <p:nvSpPr>
          <p:cNvPr id="5" name="split1"/>
          <p:cNvSpPr/>
          <p:nvPr/>
        </p:nvSpPr>
        <p:spPr>
          <a:xfrm>
            <a:off x="4297680" y="1463040"/>
            <a:ext cx="3383280" cy="822960"/>
          </a:xfrm>
          <a:prstGeom prst="rect">
            <a:avLst/>
          </a:prstGeom>
          <a:solidFill>
            <a:srgbClr val="2E6FB0"/>
          </a:solidFill>
          <a:ln w="12700">
            <a:solidFill>
              <a:srgbClr val="2E6FB0"/>
            </a:solidFill>
            <a:prstDash val="solid"/>
          </a:ln>
        </p:spPr>
      </p:sp>
      <p:sp>
        <p:nvSpPr>
          <p:cNvPr id="6" name="Text 4"/>
          <p:cNvSpPr txBox="1"/>
          <p:nvPr/>
        </p:nvSpPr>
        <p:spPr>
          <a:xfrm>
            <a:off x="4434840" y="1463040"/>
            <a:ext cx="3108960" cy="822960"/>
          </a:xfrm>
          <a:prstGeom prst="rect">
            <a:avLst/>
          </a:prstGeom>
          <a:noFill/>
          <a:ln/>
        </p:spPr>
        <p:txBody>
          <a:bodyPr wrap="square" lIns="0" tIns="0" rIns="0" bIns="0" rtlCol="0" anchor="ctr"/>
          <a:lstStyle/>
          <a:p>
            <a:pPr algn="ctr" indent="0" marL="0">
              <a:buNone/>
            </a:pPr>
            <a:r>
              <a:rPr lang="en-US" sz="1500" b="1" dirty="0">
                <a:solidFill>
                  <a:schemeClr val="bg1"/>
                </a:solidFill>
              </a:rPr>
              <a:t>DSopt · ngưỡng tr*, cửa sổ ws*</a:t>
            </a:r>
            <a:endParaRPr lang="en-US" sz="1500" dirty="0"/>
          </a:p>
        </p:txBody>
      </p:sp>
      <p:sp>
        <p:nvSpPr>
          <p:cNvPr id="7" name="split2"/>
          <p:cNvSpPr/>
          <p:nvPr/>
        </p:nvSpPr>
        <p:spPr>
          <a:xfrm>
            <a:off x="8046720" y="1463040"/>
            <a:ext cx="3383280" cy="822960"/>
          </a:xfrm>
          <a:prstGeom prst="rect">
            <a:avLst/>
          </a:prstGeom>
          <a:solidFill>
            <a:srgbClr val="D64545"/>
          </a:solidFill>
          <a:ln w="12700">
            <a:solidFill>
              <a:srgbClr val="D64545"/>
            </a:solidFill>
            <a:prstDash val="solid"/>
          </a:ln>
        </p:spPr>
      </p:sp>
      <p:sp>
        <p:nvSpPr>
          <p:cNvPr id="8" name="Text 6"/>
          <p:cNvSpPr txBox="1"/>
          <p:nvPr/>
        </p:nvSpPr>
        <p:spPr>
          <a:xfrm>
            <a:off x="8183880" y="1463040"/>
            <a:ext cx="3108960" cy="822960"/>
          </a:xfrm>
          <a:prstGeom prst="rect">
            <a:avLst/>
          </a:prstGeom>
          <a:noFill/>
          <a:ln/>
        </p:spPr>
        <p:txBody>
          <a:bodyPr wrap="square" lIns="0" tIns="0" rIns="0" bIns="0" rtlCol="0" anchor="ctr"/>
          <a:lstStyle/>
          <a:p>
            <a:pPr algn="ctr" indent="0" marL="0">
              <a:buNone/>
            </a:pPr>
            <a:r>
              <a:rPr lang="en-US" sz="1500" b="1" dirty="0">
                <a:solidFill>
                  <a:schemeClr val="bg1"/>
                </a:solidFill>
              </a:rPr>
              <a:t>Test benign + mọi tấn công</a:t>
            </a:r>
            <a:endParaRPr lang="en-US" sz="1500" dirty="0"/>
          </a:p>
        </p:txBody>
      </p:sp>
      <p:sp>
        <p:nvSpPr>
          <p:cNvPr id="9" name="Text 7"/>
          <p:cNvSpPr txBox="1"/>
          <p:nvPr/>
        </p:nvSpPr>
        <p:spPr>
          <a:xfrm>
            <a:off x="548640" y="2423160"/>
            <a:ext cx="11064240" cy="365760"/>
          </a:xfrm>
          <a:prstGeom prst="rect">
            <a:avLst/>
          </a:prstGeom>
          <a:noFill/>
          <a:ln/>
        </p:spPr>
        <p:txBody>
          <a:bodyPr wrap="square" lIns="0" tIns="0" rIns="0" bIns="0" rtlCol="0" anchor="t"/>
          <a:lstStyle/>
          <a:p>
            <a:pPr algn="ctr" indent="0" marL="0">
              <a:buNone/>
            </a:pPr>
            <a:r>
              <a:rPr lang="en-US" sz="1300" dirty="0">
                <a:solidFill>
                  <a:schemeClr val="accent4"/>
                </a:solidFill>
              </a:rPr>
              <a:t>← thứ tự thời gian của benign (1/3 · 1/3 · 1/3 như Meidan); khoảng trắng giữa các khối = 500 dòng đệm bị bỏ →</a:t>
            </a:r>
            <a:endParaRPr lang="en-US" sz="1300" dirty="0"/>
          </a:p>
        </p:txBody>
      </p:sp>
      <p:sp>
        <p:nvSpPr>
          <p:cNvPr id="10" name="ac-num"/>
          <p:cNvSpPr txBox="1"/>
          <p:nvPr/>
        </p:nvSpPr>
        <p:spPr>
          <a:xfrm>
            <a:off x="548640" y="3063240"/>
            <a:ext cx="5120640" cy="868680"/>
          </a:xfrm>
          <a:prstGeom prst="rect">
            <a:avLst/>
          </a:prstGeom>
          <a:noFill/>
          <a:ln/>
        </p:spPr>
        <p:txBody>
          <a:bodyPr wrap="square" lIns="0" tIns="0" rIns="0" bIns="0" rtlCol="0" anchor="t"/>
          <a:lstStyle/>
          <a:p>
            <a:pPr indent="0" marL="0">
              <a:buNone/>
            </a:pPr>
            <a:r>
              <a:rPr lang="en-US" sz="4000" b="1" dirty="0">
                <a:solidFill>
                  <a:srgbClr val="F2A541"/>
                </a:solidFill>
                <a:latin typeface="Cambria" pitchFamily="34" charset="0"/>
                <a:ea typeface="Cambria" pitchFamily="34" charset="-122"/>
                <a:cs typeface="Cambria" pitchFamily="34" charset="-120"/>
              </a:rPr>
              <a:t>0.20–0.86</a:t>
            </a:r>
            <a:endParaRPr lang="en-US" sz="4000" dirty="0"/>
          </a:p>
        </p:txBody>
      </p:sp>
      <p:sp>
        <p:nvSpPr>
          <p:cNvPr id="11" name="ac-label"/>
          <p:cNvSpPr txBox="1"/>
          <p:nvPr/>
        </p:nvSpPr>
        <p:spPr>
          <a:xfrm>
            <a:off x="548640" y="3931920"/>
            <a:ext cx="5120640" cy="640080"/>
          </a:xfrm>
          <a:prstGeom prst="rect">
            <a:avLst/>
          </a:prstGeom>
          <a:noFill/>
          <a:ln/>
        </p:spPr>
        <p:txBody>
          <a:bodyPr wrap="square" lIns="0" tIns="0" rIns="0" bIns="0" rtlCol="0" anchor="t"/>
          <a:lstStyle/>
          <a:p>
            <a:pPr indent="0" marL="0">
              <a:buNone/>
            </a:pPr>
            <a:r>
              <a:rPr lang="en-US" sz="1300" dirty="0">
                <a:solidFill>
                  <a:schemeClr val="accent4"/>
                </a:solidFill>
              </a:rPr>
              <a:t>tự tương quan bậc 1 của benign theo thứ tự gốc (xáo trộn: ≈ 0.00) → chia ngẫu nhiên sẽ rò rỉ</a:t>
            </a:r>
            <a:endParaRPr lang="en-US" sz="1300" dirty="0"/>
          </a:p>
        </p:txBody>
      </p:sp>
      <p:sp>
        <p:nvSpPr>
          <p:cNvPr id="12" name="Text 10"/>
          <p:cNvSpPr txBox="1"/>
          <p:nvPr/>
        </p:nvSpPr>
        <p:spPr>
          <a:xfrm>
            <a:off x="6126480" y="3063240"/>
            <a:ext cx="548640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Khử trùng lặp trong từng file</a:t>
            </a:r>
            <a:endParaRPr lang="en-US" sz="1600" dirty="0"/>
          </a:p>
          <a:p>
            <a:pPr marL="342900" indent="-342900">
              <a:spcAft>
                <a:spcPts val="800"/>
              </a:spcAft>
              <a:buSzPct val="100000"/>
              <a:buChar char="•"/>
            </a:pPr>
            <a:r>
              <a:rPr lang="en-US" sz="1600" dirty="0">
                <a:solidFill>
                  <a:schemeClr val="tx1"/>
                </a:solidFill>
              </a:rPr>
              <a:t>Scaler fit chỉ trên DStrn, gắn tên thiết bị</a:t>
            </a:r>
            <a:endParaRPr lang="en-US" sz="1600" dirty="0"/>
          </a:p>
          <a:p>
            <a:pPr marL="342900" indent="-342900">
              <a:spcAft>
                <a:spcPts val="800"/>
              </a:spcAft>
              <a:buSzPct val="100000"/>
              <a:buChar char="•"/>
            </a:pPr>
            <a:r>
              <a:rPr lang="en-US" sz="1600" dirty="0">
                <a:solidFill>
                  <a:schemeClr val="tx1"/>
                </a:solidFill>
              </a:rPr>
              <a:t>Ngưỡng/cửa sổ chỉ từ DSopt benign</a:t>
            </a:r>
            <a:endParaRPr lang="en-US" sz="1600" dirty="0"/>
          </a:p>
          <a:p>
            <a:pPr marL="342900" indent="-342900">
              <a:spcAft>
                <a:spcPts val="800"/>
              </a:spcAft>
              <a:buSzPct val="100000"/>
              <a:buChar char="•"/>
            </a:pPr>
            <a:r>
              <a:rPr lang="en-US" sz="1600" dirty="0">
                <a:solidFill>
                  <a:schemeClr val="tx1"/>
                </a:solidFill>
              </a:rPr>
              <a:t>Vote không vượt ranh giới file</a:t>
            </a:r>
            <a:endParaRPr lang="en-US" sz="1600" dirty="0"/>
          </a:p>
          <a:p>
            <a:pPr marL="342900" indent="-342900">
              <a:spcAft>
                <a:spcPts val="800"/>
              </a:spcAft>
              <a:buSzPct val="100000"/>
              <a:buChar char="•"/>
            </a:pPr>
            <a:r>
              <a:rPr lang="en-US" sz="1600" dirty="0">
                <a:solidFill>
                  <a:schemeClr val="tx1"/>
                </a:solidFill>
              </a:rPr>
              <a:t>Đối chứng E6: cố tình làm sai để đo sai lệch</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Pipeline và các mô hình so sánh</a:t>
            </a:r>
            <a:endParaRPr lang="en-US" sz="3200" dirty="0"/>
          </a:p>
        </p:txBody>
      </p:sp>
      <p:sp>
        <p:nvSpPr>
          <p:cNvPr id="3" name="step0"/>
          <p:cNvSpPr/>
          <p:nvPr/>
        </p:nvSpPr>
        <p:spPr>
          <a:xfrm>
            <a:off x="548640" y="1371600"/>
            <a:ext cx="1920240" cy="1005840"/>
          </a:xfrm>
          <a:prstGeom prst="roundRect">
            <a:avLst>
              <a:gd name="adj" fmla="val 9091"/>
            </a:avLst>
          </a:prstGeom>
          <a:solidFill>
            <a:srgbClr val="0B1F33"/>
          </a:solidFill>
          <a:ln w="12700">
            <a:solidFill>
              <a:srgbClr val="0B1F33"/>
            </a:solidFill>
            <a:prstDash val="solid"/>
          </a:ln>
        </p:spPr>
      </p:sp>
      <p:sp>
        <p:nvSpPr>
          <p:cNvPr id="4" name="Text 2"/>
          <p:cNvSpPr txBox="1"/>
          <p:nvPr/>
        </p:nvSpPr>
        <p:spPr>
          <a:xfrm>
            <a:off x="548640" y="1371600"/>
            <a:ext cx="1920240" cy="1005840"/>
          </a:xfrm>
          <a:prstGeom prst="rect">
            <a:avLst/>
          </a:prstGeom>
          <a:noFill/>
          <a:ln/>
        </p:spPr>
        <p:txBody>
          <a:bodyPr wrap="square" lIns="0" tIns="0" rIns="0" bIns="0" rtlCol="0" anchor="ctr"/>
          <a:lstStyle/>
          <a:p>
            <a:pPr algn="ctr" indent="0" marL="0">
              <a:buNone/>
            </a:pPr>
            <a:r>
              <a:rPr lang="en-US" sz="1400" b="1" dirty="0">
                <a:solidFill>
                  <a:schemeClr val="bg1"/>
                </a:solidFill>
              </a:rPr>
              <a:t>z-score</a:t>
            </a:r>
            <a:endParaRPr lang="en-US" sz="1400" dirty="0"/>
          </a:p>
          <a:p>
            <a:pPr algn="ctr" indent="0" marL="0">
              <a:buNone/>
            </a:pPr>
            <a:r>
              <a:rPr lang="en-US" sz="1400" b="1" dirty="0">
                <a:solidFill>
                  <a:schemeClr val="bg1"/>
                </a:solidFill>
              </a:rPr>
              <a:t>per-device</a:t>
            </a:r>
            <a:endParaRPr lang="en-US" sz="1400" dirty="0"/>
          </a:p>
        </p:txBody>
      </p:sp>
      <p:sp>
        <p:nvSpPr>
          <p:cNvPr id="5" name="arrow0"/>
          <p:cNvSpPr/>
          <p:nvPr/>
        </p:nvSpPr>
        <p:spPr>
          <a:xfrm>
            <a:off x="2496312" y="1719072"/>
            <a:ext cx="310896" cy="310896"/>
          </a:xfrm>
          <a:prstGeom prst="rightArrow">
            <a:avLst/>
          </a:prstGeom>
          <a:solidFill>
            <a:srgbClr val="5B6B7C"/>
          </a:solidFill>
          <a:ln w="12700">
            <a:solidFill>
              <a:srgbClr val="5B6B7C"/>
            </a:solidFill>
            <a:prstDash val="solid"/>
          </a:ln>
        </p:spPr>
      </p:sp>
      <p:sp>
        <p:nvSpPr>
          <p:cNvPr id="6" name="step1"/>
          <p:cNvSpPr/>
          <p:nvPr/>
        </p:nvSpPr>
        <p:spPr>
          <a:xfrm>
            <a:off x="2834640" y="1371600"/>
            <a:ext cx="1920240" cy="1005840"/>
          </a:xfrm>
          <a:prstGeom prst="roundRect">
            <a:avLst>
              <a:gd name="adj" fmla="val 9091"/>
            </a:avLst>
          </a:prstGeom>
          <a:solidFill>
            <a:srgbClr val="0B1F33"/>
          </a:solidFill>
          <a:ln w="12700">
            <a:solidFill>
              <a:srgbClr val="0B1F33"/>
            </a:solidFill>
            <a:prstDash val="solid"/>
          </a:ln>
        </p:spPr>
      </p:sp>
      <p:sp>
        <p:nvSpPr>
          <p:cNvPr id="7" name="Text 5"/>
          <p:cNvSpPr txBox="1"/>
          <p:nvPr/>
        </p:nvSpPr>
        <p:spPr>
          <a:xfrm>
            <a:off x="2834640" y="1371600"/>
            <a:ext cx="1920240" cy="1005840"/>
          </a:xfrm>
          <a:prstGeom prst="rect">
            <a:avLst/>
          </a:prstGeom>
          <a:noFill/>
          <a:ln/>
        </p:spPr>
        <p:txBody>
          <a:bodyPr wrap="square" lIns="0" tIns="0" rIns="0" bIns="0" rtlCol="0" anchor="ctr"/>
          <a:lstStyle/>
          <a:p>
            <a:pPr algn="ctr" indent="0" marL="0">
              <a:buNone/>
            </a:pPr>
            <a:r>
              <a:rPr lang="en-US" sz="1400" b="1" dirty="0">
                <a:solidFill>
                  <a:schemeClr val="bg1"/>
                </a:solidFill>
              </a:rPr>
              <a:t>Autoencoder</a:t>
            </a:r>
            <a:endParaRPr lang="en-US" sz="1400" dirty="0"/>
          </a:p>
          <a:p>
            <a:pPr algn="ctr" indent="0" marL="0">
              <a:buNone/>
            </a:pPr>
            <a:r>
              <a:rPr lang="en-US" sz="1400" b="1" dirty="0">
                <a:solidFill>
                  <a:schemeClr val="bg1"/>
                </a:solidFill>
              </a:rPr>
              <a:t>(benign)</a:t>
            </a:r>
            <a:endParaRPr lang="en-US" sz="1400" dirty="0"/>
          </a:p>
        </p:txBody>
      </p:sp>
      <p:sp>
        <p:nvSpPr>
          <p:cNvPr id="8" name="arrow1"/>
          <p:cNvSpPr/>
          <p:nvPr/>
        </p:nvSpPr>
        <p:spPr>
          <a:xfrm>
            <a:off x="4782312" y="1719072"/>
            <a:ext cx="310896" cy="310896"/>
          </a:xfrm>
          <a:prstGeom prst="rightArrow">
            <a:avLst/>
          </a:prstGeom>
          <a:solidFill>
            <a:srgbClr val="5B6B7C"/>
          </a:solidFill>
          <a:ln w="12700">
            <a:solidFill>
              <a:srgbClr val="5B6B7C"/>
            </a:solidFill>
            <a:prstDash val="solid"/>
          </a:ln>
        </p:spPr>
      </p:sp>
      <p:sp>
        <p:nvSpPr>
          <p:cNvPr id="9" name="step2"/>
          <p:cNvSpPr/>
          <p:nvPr/>
        </p:nvSpPr>
        <p:spPr>
          <a:xfrm>
            <a:off x="5120640" y="1371600"/>
            <a:ext cx="1920240" cy="1005840"/>
          </a:xfrm>
          <a:prstGeom prst="roundRect">
            <a:avLst>
              <a:gd name="adj" fmla="val 9091"/>
            </a:avLst>
          </a:prstGeom>
          <a:solidFill>
            <a:srgbClr val="0B1F33"/>
          </a:solidFill>
          <a:ln w="12700">
            <a:solidFill>
              <a:srgbClr val="0B1F33"/>
            </a:solidFill>
            <a:prstDash val="solid"/>
          </a:ln>
        </p:spPr>
      </p:sp>
      <p:sp>
        <p:nvSpPr>
          <p:cNvPr id="10" name="Text 8"/>
          <p:cNvSpPr txBox="1"/>
          <p:nvPr/>
        </p:nvSpPr>
        <p:spPr>
          <a:xfrm>
            <a:off x="5120640" y="1371600"/>
            <a:ext cx="1920240" cy="1005840"/>
          </a:xfrm>
          <a:prstGeom prst="rect">
            <a:avLst/>
          </a:prstGeom>
          <a:noFill/>
          <a:ln/>
        </p:spPr>
        <p:txBody>
          <a:bodyPr wrap="square" lIns="0" tIns="0" rIns="0" bIns="0" rtlCol="0" anchor="ctr"/>
          <a:lstStyle/>
          <a:p>
            <a:pPr algn="ctr" indent="0" marL="0">
              <a:buNone/>
            </a:pPr>
            <a:r>
              <a:rPr lang="en-US" sz="1400" b="1" dirty="0">
                <a:solidFill>
                  <a:schemeClr val="bg1"/>
                </a:solidFill>
              </a:rPr>
              <a:t>MSE tái tạo</a:t>
            </a:r>
            <a:endParaRPr lang="en-US" sz="1400" dirty="0"/>
          </a:p>
        </p:txBody>
      </p:sp>
      <p:sp>
        <p:nvSpPr>
          <p:cNvPr id="11" name="arrow2"/>
          <p:cNvSpPr/>
          <p:nvPr/>
        </p:nvSpPr>
        <p:spPr>
          <a:xfrm>
            <a:off x="7068312" y="1719072"/>
            <a:ext cx="310896" cy="310896"/>
          </a:xfrm>
          <a:prstGeom prst="rightArrow">
            <a:avLst/>
          </a:prstGeom>
          <a:solidFill>
            <a:srgbClr val="5B6B7C"/>
          </a:solidFill>
          <a:ln w="12700">
            <a:solidFill>
              <a:srgbClr val="5B6B7C"/>
            </a:solidFill>
            <a:prstDash val="solid"/>
          </a:ln>
        </p:spPr>
      </p:sp>
      <p:sp>
        <p:nvSpPr>
          <p:cNvPr id="12" name="step3"/>
          <p:cNvSpPr/>
          <p:nvPr/>
        </p:nvSpPr>
        <p:spPr>
          <a:xfrm>
            <a:off x="7406640" y="1371600"/>
            <a:ext cx="1920240" cy="1005840"/>
          </a:xfrm>
          <a:prstGeom prst="roundRect">
            <a:avLst>
              <a:gd name="adj" fmla="val 9091"/>
            </a:avLst>
          </a:prstGeom>
          <a:solidFill>
            <a:srgbClr val="0B1F33"/>
          </a:solidFill>
          <a:ln w="12700">
            <a:solidFill>
              <a:srgbClr val="0B1F33"/>
            </a:solidFill>
            <a:prstDash val="solid"/>
          </a:ln>
        </p:spPr>
      </p:sp>
      <p:sp>
        <p:nvSpPr>
          <p:cNvPr id="13" name="Text 11"/>
          <p:cNvSpPr txBox="1"/>
          <p:nvPr/>
        </p:nvSpPr>
        <p:spPr>
          <a:xfrm>
            <a:off x="7406640" y="1371600"/>
            <a:ext cx="1920240" cy="1005840"/>
          </a:xfrm>
          <a:prstGeom prst="rect">
            <a:avLst/>
          </a:prstGeom>
          <a:noFill/>
          <a:ln/>
        </p:spPr>
        <p:txBody>
          <a:bodyPr wrap="square" lIns="0" tIns="0" rIns="0" bIns="0" rtlCol="0" anchor="ctr"/>
          <a:lstStyle/>
          <a:p>
            <a:pPr algn="ctr" indent="0" marL="0">
              <a:buNone/>
            </a:pPr>
            <a:r>
              <a:rPr lang="en-US" sz="1400" b="1" dirty="0">
                <a:solidFill>
                  <a:schemeClr val="bg1"/>
                </a:solidFill>
              </a:rPr>
              <a:t>tr* = mean+std</a:t>
            </a:r>
            <a:endParaRPr lang="en-US" sz="1400" dirty="0"/>
          </a:p>
          <a:p>
            <a:pPr algn="ctr" indent="0" marL="0">
              <a:buNone/>
            </a:pPr>
            <a:r>
              <a:rPr lang="en-US" sz="1400" b="1" dirty="0">
                <a:solidFill>
                  <a:schemeClr val="bg1"/>
                </a:solidFill>
              </a:rPr>
              <a:t>ws* vote</a:t>
            </a:r>
            <a:endParaRPr lang="en-US" sz="1400" dirty="0"/>
          </a:p>
        </p:txBody>
      </p:sp>
      <p:sp>
        <p:nvSpPr>
          <p:cNvPr id="14" name="arrow3"/>
          <p:cNvSpPr/>
          <p:nvPr/>
        </p:nvSpPr>
        <p:spPr>
          <a:xfrm>
            <a:off x="9354312" y="1719072"/>
            <a:ext cx="310896" cy="310896"/>
          </a:xfrm>
          <a:prstGeom prst="rightArrow">
            <a:avLst/>
          </a:prstGeom>
          <a:solidFill>
            <a:srgbClr val="5B6B7C"/>
          </a:solidFill>
          <a:ln w="12700">
            <a:solidFill>
              <a:srgbClr val="5B6B7C"/>
            </a:solidFill>
            <a:prstDash val="solid"/>
          </a:ln>
        </p:spPr>
      </p:sp>
      <p:sp>
        <p:nvSpPr>
          <p:cNvPr id="15" name="step4"/>
          <p:cNvSpPr/>
          <p:nvPr/>
        </p:nvSpPr>
        <p:spPr>
          <a:xfrm>
            <a:off x="9692640" y="1371600"/>
            <a:ext cx="1920240" cy="1005840"/>
          </a:xfrm>
          <a:prstGeom prst="roundRect">
            <a:avLst>
              <a:gd name="adj" fmla="val 9091"/>
            </a:avLst>
          </a:prstGeom>
          <a:solidFill>
            <a:srgbClr val="F2A541"/>
          </a:solidFill>
          <a:ln w="12700">
            <a:solidFill>
              <a:srgbClr val="F2A541"/>
            </a:solidFill>
            <a:prstDash val="solid"/>
          </a:ln>
        </p:spPr>
      </p:sp>
      <p:sp>
        <p:nvSpPr>
          <p:cNvPr id="16" name="Text 14"/>
          <p:cNvSpPr txBox="1"/>
          <p:nvPr/>
        </p:nvSpPr>
        <p:spPr>
          <a:xfrm>
            <a:off x="9692640" y="1371600"/>
            <a:ext cx="1920240" cy="1005840"/>
          </a:xfrm>
          <a:prstGeom prst="rect">
            <a:avLst/>
          </a:prstGeom>
          <a:noFill/>
          <a:ln/>
        </p:spPr>
        <p:txBody>
          <a:bodyPr wrap="square" lIns="0" tIns="0" rIns="0" bIns="0" rtlCol="0" anchor="ctr"/>
          <a:lstStyle/>
          <a:p>
            <a:pPr algn="ctr" indent="0" marL="0">
              <a:buNone/>
            </a:pPr>
            <a:r>
              <a:rPr lang="en-US" sz="1400" b="1" dirty="0">
                <a:solidFill>
                  <a:schemeClr val="tx1"/>
                </a:solidFill>
              </a:rPr>
              <a:t>TFLite int8</a:t>
            </a:r>
            <a:endParaRPr lang="en-US" sz="1400" dirty="0"/>
          </a:p>
          <a:p>
            <a:pPr algn="ctr" indent="0" marL="0">
              <a:buNone/>
            </a:pPr>
            <a:r>
              <a:rPr lang="en-US" sz="1400" b="1" dirty="0">
                <a:solidFill>
                  <a:schemeClr val="tx1"/>
                </a:solidFill>
              </a:rPr>
              <a:t>+ hiệu chỉnh</a:t>
            </a:r>
            <a:endParaRPr lang="en-US" sz="1400" dirty="0"/>
          </a:p>
        </p:txBody>
      </p:sp>
      <p:graphicFrame>
        <p:nvGraphicFramePr>
          <p:cNvPr id="7" name="model-table"/>
          <p:cNvGraphicFramePr>
            <a:graphicFrameLocks noGrp="1"/>
          </p:cNvGraphicFramePr>
          <p:nvPr>
            <p:extLst>
              <p:ext uri="{D42A27DB-BD31-4B8C-83A1-F6EECF244321}">
                <p14:modId xmlns:p14="http://schemas.microsoft.com/office/powerpoint/2010/main" val="1579011935"/>
              </p:ext>
            </p:extLst>
          </p:nvPr>
        </p:nvGraphicFramePr>
        <p:xfrm>
          <a:off x="548640" y="2788920"/>
          <a:ext cx="11064240" cy="914400"/>
        </p:xfrm>
        <a:graphic>
          <a:graphicData uri="http://schemas.openxmlformats.org/drawingml/2006/table">
            <a:tbl>
              <a:tblPr/>
              <a:tblGrid>
                <a:gridCol w="1188720"/>
                <a:gridCol w="3657600"/>
                <a:gridCol w="1645920"/>
                <a:gridCol w="4572000"/>
              </a:tblGrid>
              <a:tr h="457200">
                <a:tc>
                  <a:txBody>
                    <a:bodyPr/>
                    <a:lstStyle/>
                    <a:p>
                      <a:pPr indent="0" marL="0">
                        <a:buNone/>
                      </a:pPr>
                      <a:r>
                        <a:rPr lang="en-US" sz="1400" b="1" dirty="0">
                          <a:solidFill>
                            <a:srgbClr val="FFFFFF"/>
                          </a:solidFill>
                        </a:rPr>
                        <a:t>Mô hình</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c>
                  <a:txBody>
                    <a:bodyPr/>
                    <a:lstStyle/>
                    <a:p>
                      <a:pPr indent="0" marL="0">
                        <a:buNone/>
                      </a:pPr>
                      <a:r>
                        <a:rPr lang="en-US" sz="1400" b="1" dirty="0">
                          <a:solidFill>
                            <a:srgbClr val="FFFFFF"/>
                          </a:solidFill>
                        </a:rPr>
                        <a:t>Kiến trúc</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c>
                  <a:txBody>
                    <a:bodyPr/>
                    <a:lstStyle/>
                    <a:p>
                      <a:pPr indent="0" marL="0">
                        <a:buNone/>
                      </a:pPr>
                      <a:r>
                        <a:rPr lang="en-US" sz="1400" b="1" dirty="0">
                          <a:solidFill>
                            <a:srgbClr val="FFFFFF"/>
                          </a:solidFill>
                        </a:rPr>
                        <a:t>Tham số</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c>
                  <a:txBody>
                    <a:bodyPr/>
                    <a:lstStyle/>
                    <a:p>
                      <a:pPr indent="0" marL="0">
                        <a:buNone/>
                      </a:pPr>
                      <a:r>
                        <a:rPr lang="en-US" sz="1400" b="1" dirty="0">
                          <a:solidFill>
                            <a:srgbClr val="FFFFFF"/>
                          </a:solidFill>
                        </a:rPr>
                        <a:t>Vai trò</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r>
              <a:tr h="457200">
                <a:tc>
                  <a:txBody>
                    <a:bodyPr/>
                    <a:lstStyle/>
                    <a:p>
                      <a:pPr indent="0" marL="0">
                        <a:buNone/>
                      </a:pPr>
                      <a:r>
                        <a:rPr lang="en-US" sz="1400" dirty="0">
                          <a:solidFill>
                            <a:srgbClr val="1B2430"/>
                          </a:solidFill>
                        </a:rPr>
                        <a:t>B0</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115-86-58-38-29-…-115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36,876</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Baseline Meidan, per-device</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B1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B0 dùng chung 9 thiết bị</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36,876</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Kiểm tra giả thuyết per-device</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457200">
                <a:tc>
                  <a:txBody>
                    <a:bodyPr/>
                    <a:lstStyle/>
                    <a:p>
                      <a:pPr indent="0" marL="0">
                        <a:buNone/>
                      </a:pPr>
                      <a:r>
                        <a:rPr lang="en-US" sz="1400" dirty="0">
                          <a:solidFill>
                            <a:srgbClr val="1B2430"/>
                          </a:solidFill>
                        </a:rPr>
                        <a:t>B2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Isolation Forest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Baseline không phải NN</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V1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115-32-8-32-115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8,059</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AE nhẹ (21.9% tham số)</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457200">
                <a:tc>
                  <a:txBody>
                    <a:bodyPr/>
                    <a:lstStyle/>
                    <a:p>
                      <a:pPr indent="0" marL="0">
                        <a:buNone/>
                      </a:pPr>
                      <a:r>
                        <a:rPr lang="en-US" sz="1400" dirty="0">
                          <a:solidFill>
                            <a:srgbClr val="1B2430"/>
                          </a:solidFill>
                        </a:rPr>
                        <a:t>V2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23-12-4-12-23 × 5 cửa sổ</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~700</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Bớt cả đặc trưng</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Hệ thống demo tách 4 tầng: AI · BE · DB · FE</a:t>
            </a:r>
            <a:endParaRPr lang="en-US" sz="3200" dirty="0"/>
          </a:p>
        </p:txBody>
      </p:sp>
      <p:sp>
        <p:nvSpPr>
          <p:cNvPr id="3" name="tier0"/>
          <p:cNvSpPr/>
          <p:nvPr/>
        </p:nvSpPr>
        <p:spPr>
          <a:xfrm>
            <a:off x="548640" y="1417320"/>
            <a:ext cx="2560320" cy="3291840"/>
          </a:xfrm>
          <a:prstGeom prst="roundRect">
            <a:avLst>
              <a:gd name="adj" fmla="val 4286"/>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4" name="tiericon0-circle"/>
          <p:cNvSpPr/>
          <p:nvPr/>
        </p:nvSpPr>
        <p:spPr>
          <a:xfrm>
            <a:off x="1371600" y="1645920"/>
            <a:ext cx="914400" cy="914400"/>
          </a:xfrm>
          <a:prstGeom prst="ellipse">
            <a:avLst/>
          </a:prstGeom>
          <a:solidFill>
            <a:srgbClr val="0E9F8E"/>
          </a:solidFill>
          <a:ln w="12700">
            <a:solidFill>
              <a:srgbClr val="0E9F8E"/>
            </a:solidFill>
            <a:prstDash val="solid"/>
          </a:ln>
        </p:spPr>
      </p:sp>
      <p:pic>
        <p:nvPicPr>
          <p:cNvPr id="5" name="tiericon0-icon" descr="preencoded.png">    </p:cNvPr>
          <p:cNvPicPr>
            <a:picLocks noChangeAspect="1"/>
          </p:cNvPicPr>
          <p:nvPr/>
        </p:nvPicPr>
        <p:blipFill>
          <a:blip r:embed="rId1"/>
          <a:stretch>
            <a:fillRect/>
          </a:stretch>
        </p:blipFill>
        <p:spPr>
          <a:xfrm>
            <a:off x="1600200" y="1874520"/>
            <a:ext cx="457200" cy="457200"/>
          </a:xfrm>
          <a:prstGeom prst="rect">
            <a:avLst/>
          </a:prstGeom>
        </p:spPr>
      </p:pic>
      <p:sp>
        <p:nvSpPr>
          <p:cNvPr id="6" name="Text 3"/>
          <p:cNvSpPr txBox="1"/>
          <p:nvPr/>
        </p:nvSpPr>
        <p:spPr>
          <a:xfrm>
            <a:off x="731520" y="2697480"/>
            <a:ext cx="2194560" cy="457200"/>
          </a:xfrm>
          <a:prstGeom prst="rect">
            <a:avLst/>
          </a:prstGeom>
          <a:noFill/>
          <a:ln/>
        </p:spPr>
        <p:txBody>
          <a:bodyPr wrap="square" lIns="0" tIns="0" rIns="0" bIns="0" rtlCol="0" anchor="t"/>
          <a:lstStyle/>
          <a:p>
            <a:pPr algn="ctr" indent="0" marL="0">
              <a:buNone/>
            </a:pPr>
            <a:r>
              <a:rPr lang="en-US" sz="2000" b="1" dirty="0">
                <a:solidFill>
                  <a:schemeClr val="tx2"/>
                </a:solidFill>
              </a:rPr>
              <a:t>AI</a:t>
            </a:r>
            <a:endParaRPr lang="en-US" sz="2000" dirty="0"/>
          </a:p>
        </p:txBody>
      </p:sp>
      <p:sp>
        <p:nvSpPr>
          <p:cNvPr id="7" name="Text 4"/>
          <p:cNvSpPr txBox="1"/>
          <p:nvPr/>
        </p:nvSpPr>
        <p:spPr>
          <a:xfrm>
            <a:off x="777240" y="3200400"/>
            <a:ext cx="2103120" cy="1828800"/>
          </a:xfrm>
          <a:prstGeom prst="rect">
            <a:avLst/>
          </a:prstGeom>
          <a:noFill/>
          <a:ln/>
        </p:spPr>
        <p:txBody>
          <a:bodyPr wrap="square" lIns="0" tIns="0" rIns="0" bIns="0" rtlCol="0" anchor="t"/>
          <a:lstStyle/>
          <a:p>
            <a:pPr indent="0" marL="0">
              <a:buNone/>
            </a:pPr>
            <a:r>
              <a:rPr lang="en-US" sz="1300" dirty="0">
                <a:solidFill>
                  <a:schemeClr val="tx1"/>
                </a:solidFill>
              </a:rPr>
              <a:t>ai/ – huấn luyện, đánh giá, lượng tử hóa, benchmark, xuất gói triển khai</a:t>
            </a:r>
            <a:endParaRPr lang="en-US" sz="1300" dirty="0"/>
          </a:p>
        </p:txBody>
      </p:sp>
      <p:sp>
        <p:nvSpPr>
          <p:cNvPr id="8" name="tier1"/>
          <p:cNvSpPr/>
          <p:nvPr/>
        </p:nvSpPr>
        <p:spPr>
          <a:xfrm>
            <a:off x="3383280" y="1417320"/>
            <a:ext cx="2560320" cy="3291840"/>
          </a:xfrm>
          <a:prstGeom prst="roundRect">
            <a:avLst>
              <a:gd name="adj" fmla="val 4286"/>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9" name="tiericon1-circle"/>
          <p:cNvSpPr/>
          <p:nvPr/>
        </p:nvSpPr>
        <p:spPr>
          <a:xfrm>
            <a:off x="4206240" y="1645920"/>
            <a:ext cx="914400" cy="914400"/>
          </a:xfrm>
          <a:prstGeom prst="ellipse">
            <a:avLst/>
          </a:prstGeom>
          <a:solidFill>
            <a:srgbClr val="2E6FB0"/>
          </a:solidFill>
          <a:ln w="12700">
            <a:solidFill>
              <a:srgbClr val="2E6FB0"/>
            </a:solidFill>
            <a:prstDash val="solid"/>
          </a:ln>
        </p:spPr>
      </p:sp>
      <p:pic>
        <p:nvPicPr>
          <p:cNvPr id="10" name="tiericon1-icon" descr="preencoded.png">    </p:cNvPr>
          <p:cNvPicPr>
            <a:picLocks noChangeAspect="1"/>
          </p:cNvPicPr>
          <p:nvPr/>
        </p:nvPicPr>
        <p:blipFill>
          <a:blip r:embed="rId2"/>
          <a:stretch>
            <a:fillRect/>
          </a:stretch>
        </p:blipFill>
        <p:spPr>
          <a:xfrm>
            <a:off x="4434840" y="1874520"/>
            <a:ext cx="457200" cy="457200"/>
          </a:xfrm>
          <a:prstGeom prst="rect">
            <a:avLst/>
          </a:prstGeom>
        </p:spPr>
      </p:pic>
      <p:sp>
        <p:nvSpPr>
          <p:cNvPr id="11" name="Text 7"/>
          <p:cNvSpPr txBox="1"/>
          <p:nvPr/>
        </p:nvSpPr>
        <p:spPr>
          <a:xfrm>
            <a:off x="3566160" y="2697480"/>
            <a:ext cx="2194560" cy="457200"/>
          </a:xfrm>
          <a:prstGeom prst="rect">
            <a:avLst/>
          </a:prstGeom>
          <a:noFill/>
          <a:ln/>
        </p:spPr>
        <p:txBody>
          <a:bodyPr wrap="square" lIns="0" tIns="0" rIns="0" bIns="0" rtlCol="0" anchor="t"/>
          <a:lstStyle/>
          <a:p>
            <a:pPr algn="ctr" indent="0" marL="0">
              <a:buNone/>
            </a:pPr>
            <a:r>
              <a:rPr lang="en-US" sz="2000" b="1" dirty="0">
                <a:solidFill>
                  <a:schemeClr val="tx2"/>
                </a:solidFill>
              </a:rPr>
              <a:t>Backend</a:t>
            </a:r>
            <a:endParaRPr lang="en-US" sz="2000" dirty="0"/>
          </a:p>
        </p:txBody>
      </p:sp>
      <p:sp>
        <p:nvSpPr>
          <p:cNvPr id="12" name="Text 8"/>
          <p:cNvSpPr txBox="1"/>
          <p:nvPr/>
        </p:nvSpPr>
        <p:spPr>
          <a:xfrm>
            <a:off x="3611880" y="3200400"/>
            <a:ext cx="2103120" cy="1828800"/>
          </a:xfrm>
          <a:prstGeom prst="rect">
            <a:avLst/>
          </a:prstGeom>
          <a:noFill/>
          <a:ln/>
        </p:spPr>
        <p:txBody>
          <a:bodyPr wrap="square" lIns="0" tIns="0" rIns="0" bIns="0" rtlCol="0" anchor="t"/>
          <a:lstStyle/>
          <a:p>
            <a:pPr indent="0" marL="0">
              <a:buNone/>
            </a:pPr>
            <a:r>
              <a:rPr lang="en-US" sz="1300" dirty="0">
                <a:solidFill>
                  <a:schemeClr val="tx1"/>
                </a:solidFill>
              </a:rPr>
              <a:t>FastAPI – nạp gói (kiểm SHA-256), suy luận TFLite 1 luồng, API detect/replay/alerts/MTD</a:t>
            </a:r>
            <a:endParaRPr lang="en-US" sz="1300" dirty="0"/>
          </a:p>
        </p:txBody>
      </p:sp>
      <p:sp>
        <p:nvSpPr>
          <p:cNvPr id="13" name="tier2"/>
          <p:cNvSpPr/>
          <p:nvPr/>
        </p:nvSpPr>
        <p:spPr>
          <a:xfrm>
            <a:off x="6217920" y="1417320"/>
            <a:ext cx="2560320" cy="3291840"/>
          </a:xfrm>
          <a:prstGeom prst="roundRect">
            <a:avLst>
              <a:gd name="adj" fmla="val 4286"/>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4" name="tiericon2-circle"/>
          <p:cNvSpPr/>
          <p:nvPr/>
        </p:nvSpPr>
        <p:spPr>
          <a:xfrm>
            <a:off x="7040880" y="1645920"/>
            <a:ext cx="914400" cy="914400"/>
          </a:xfrm>
          <a:prstGeom prst="ellipse">
            <a:avLst/>
          </a:prstGeom>
          <a:solidFill>
            <a:srgbClr val="F2A541"/>
          </a:solidFill>
          <a:ln w="12700">
            <a:solidFill>
              <a:srgbClr val="F2A541"/>
            </a:solidFill>
            <a:prstDash val="solid"/>
          </a:ln>
        </p:spPr>
      </p:sp>
      <p:pic>
        <p:nvPicPr>
          <p:cNvPr id="15" name="tiericon2-icon" descr="preencoded.png">    </p:cNvPr>
          <p:cNvPicPr>
            <a:picLocks noChangeAspect="1"/>
          </p:cNvPicPr>
          <p:nvPr/>
        </p:nvPicPr>
        <p:blipFill>
          <a:blip r:embed="rId3"/>
          <a:stretch>
            <a:fillRect/>
          </a:stretch>
        </p:blipFill>
        <p:spPr>
          <a:xfrm>
            <a:off x="7269480" y="1874520"/>
            <a:ext cx="457200" cy="457200"/>
          </a:xfrm>
          <a:prstGeom prst="rect">
            <a:avLst/>
          </a:prstGeom>
        </p:spPr>
      </p:pic>
      <p:sp>
        <p:nvSpPr>
          <p:cNvPr id="16" name="Text 11"/>
          <p:cNvSpPr txBox="1"/>
          <p:nvPr/>
        </p:nvSpPr>
        <p:spPr>
          <a:xfrm>
            <a:off x="6400800" y="2697480"/>
            <a:ext cx="2194560" cy="457200"/>
          </a:xfrm>
          <a:prstGeom prst="rect">
            <a:avLst/>
          </a:prstGeom>
          <a:noFill/>
          <a:ln/>
        </p:spPr>
        <p:txBody>
          <a:bodyPr wrap="square" lIns="0" tIns="0" rIns="0" bIns="0" rtlCol="0" anchor="t"/>
          <a:lstStyle/>
          <a:p>
            <a:pPr algn="ctr" indent="0" marL="0">
              <a:buNone/>
            </a:pPr>
            <a:r>
              <a:rPr lang="en-US" sz="2000" b="1" dirty="0">
                <a:solidFill>
                  <a:schemeClr val="tx2"/>
                </a:solidFill>
              </a:rPr>
              <a:t>Database</a:t>
            </a:r>
            <a:endParaRPr lang="en-US" sz="2000" dirty="0"/>
          </a:p>
        </p:txBody>
      </p:sp>
      <p:sp>
        <p:nvSpPr>
          <p:cNvPr id="17" name="Text 12"/>
          <p:cNvSpPr txBox="1"/>
          <p:nvPr/>
        </p:nvSpPr>
        <p:spPr>
          <a:xfrm>
            <a:off x="6446520" y="3200400"/>
            <a:ext cx="2103120" cy="1828800"/>
          </a:xfrm>
          <a:prstGeom prst="rect">
            <a:avLst/>
          </a:prstGeom>
          <a:noFill/>
          <a:ln/>
        </p:spPr>
        <p:txBody>
          <a:bodyPr wrap="square" lIns="0" tIns="0" rIns="0" bIns="0" rtlCol="0" anchor="t"/>
          <a:lstStyle/>
          <a:p>
            <a:pPr indent="0" marL="0">
              <a:buNone/>
            </a:pPr>
            <a:r>
              <a:rPr lang="en-US" sz="1300" dirty="0">
                <a:solidFill>
                  <a:schemeClr val="tx1"/>
                </a:solidFill>
              </a:rPr>
              <a:t>SQLite – devices, models, detection_batches, alerts, mtd_actions, experiment_results</a:t>
            </a:r>
            <a:endParaRPr lang="en-US" sz="1300" dirty="0"/>
          </a:p>
        </p:txBody>
      </p:sp>
      <p:sp>
        <p:nvSpPr>
          <p:cNvPr id="18" name="tier3"/>
          <p:cNvSpPr/>
          <p:nvPr/>
        </p:nvSpPr>
        <p:spPr>
          <a:xfrm>
            <a:off x="9052560" y="1417320"/>
            <a:ext cx="2560320" cy="3291840"/>
          </a:xfrm>
          <a:prstGeom prst="roundRect">
            <a:avLst>
              <a:gd name="adj" fmla="val 4286"/>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9" name="tiericon3-circle"/>
          <p:cNvSpPr/>
          <p:nvPr/>
        </p:nvSpPr>
        <p:spPr>
          <a:xfrm>
            <a:off x="9875520" y="1645920"/>
            <a:ext cx="914400" cy="914400"/>
          </a:xfrm>
          <a:prstGeom prst="ellipse">
            <a:avLst/>
          </a:prstGeom>
          <a:solidFill>
            <a:srgbClr val="D64545"/>
          </a:solidFill>
          <a:ln w="12700">
            <a:solidFill>
              <a:srgbClr val="D64545"/>
            </a:solidFill>
            <a:prstDash val="solid"/>
          </a:ln>
        </p:spPr>
      </p:sp>
      <p:pic>
        <p:nvPicPr>
          <p:cNvPr id="20" name="tiericon3-icon" descr="preencoded.png">    </p:cNvPr>
          <p:cNvPicPr>
            <a:picLocks noChangeAspect="1"/>
          </p:cNvPicPr>
          <p:nvPr/>
        </p:nvPicPr>
        <p:blipFill>
          <a:blip r:embed="rId4"/>
          <a:stretch>
            <a:fillRect/>
          </a:stretch>
        </p:blipFill>
        <p:spPr>
          <a:xfrm>
            <a:off x="10104120" y="1874520"/>
            <a:ext cx="457200" cy="457200"/>
          </a:xfrm>
          <a:prstGeom prst="rect">
            <a:avLst/>
          </a:prstGeom>
        </p:spPr>
      </p:pic>
      <p:sp>
        <p:nvSpPr>
          <p:cNvPr id="21" name="Text 15"/>
          <p:cNvSpPr txBox="1"/>
          <p:nvPr/>
        </p:nvSpPr>
        <p:spPr>
          <a:xfrm>
            <a:off x="9235440" y="2697480"/>
            <a:ext cx="2194560" cy="457200"/>
          </a:xfrm>
          <a:prstGeom prst="rect">
            <a:avLst/>
          </a:prstGeom>
          <a:noFill/>
          <a:ln/>
        </p:spPr>
        <p:txBody>
          <a:bodyPr wrap="square" lIns="0" tIns="0" rIns="0" bIns="0" rtlCol="0" anchor="t"/>
          <a:lstStyle/>
          <a:p>
            <a:pPr algn="ctr" indent="0" marL="0">
              <a:buNone/>
            </a:pPr>
            <a:r>
              <a:rPr lang="en-US" sz="2000" b="1" dirty="0">
                <a:solidFill>
                  <a:schemeClr val="tx2"/>
                </a:solidFill>
              </a:rPr>
              <a:t>Frontend</a:t>
            </a:r>
            <a:endParaRPr lang="en-US" sz="2000" dirty="0"/>
          </a:p>
        </p:txBody>
      </p:sp>
      <p:sp>
        <p:nvSpPr>
          <p:cNvPr id="22" name="Text 16"/>
          <p:cNvSpPr txBox="1"/>
          <p:nvPr/>
        </p:nvSpPr>
        <p:spPr>
          <a:xfrm>
            <a:off x="9281160" y="3200400"/>
            <a:ext cx="2103120" cy="1828800"/>
          </a:xfrm>
          <a:prstGeom prst="rect">
            <a:avLst/>
          </a:prstGeom>
          <a:noFill/>
          <a:ln/>
        </p:spPr>
        <p:txBody>
          <a:bodyPr wrap="square" lIns="0" tIns="0" rIns="0" bIns="0" rtlCol="0" anchor="t"/>
          <a:lstStyle/>
          <a:p>
            <a:pPr indent="0" marL="0">
              <a:buNone/>
            </a:pPr>
            <a:r>
              <a:rPr lang="en-US" sz="1300" dirty="0">
                <a:solidFill>
                  <a:schemeClr val="tx1"/>
                </a:solidFill>
              </a:rPr>
              <a:t>Dashboard HTML/JS – thiết bị, phát lại lưu lượng, biểu đồ MSE, cảnh báo, nhật ký MTD</a:t>
            </a:r>
            <a:endParaRPr lang="en-US" sz="1300" dirty="0"/>
          </a:p>
        </p:txBody>
      </p:sp>
      <p:sp>
        <p:nvSpPr>
          <p:cNvPr id="23" name="Text 17"/>
          <p:cNvSpPr txBox="1"/>
          <p:nvPr/>
        </p:nvSpPr>
        <p:spPr>
          <a:xfrm>
            <a:off x="548640" y="5029200"/>
            <a:ext cx="11064240" cy="548640"/>
          </a:xfrm>
          <a:prstGeom prst="rect">
            <a:avLst/>
          </a:prstGeom>
          <a:noFill/>
          <a:ln/>
        </p:spPr>
        <p:txBody>
          <a:bodyPr wrap="square" lIns="0" tIns="0" rIns="0" bIns="0" rtlCol="0" anchor="t"/>
          <a:lstStyle/>
          <a:p>
            <a:pPr indent="0" marL="0">
              <a:buNone/>
            </a:pPr>
            <a:r>
              <a:rPr lang="en-US" sz="1400" i="1" dirty="0">
                <a:solidFill>
                  <a:schemeClr val="accent4"/>
                </a:solidFill>
              </a:rPr>
              <a:t>Hợp đồng AI → BE: artifacts/deploy/&lt;thiết bị&gt;/{model.tflite, scaler.json, meta.json} · 42 test tự động (30 AI + 12 BE/DB)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Demo: phát hiện + cảnh báo + MTD trên dashboard</a:t>
            </a:r>
            <a:endParaRPr lang="en-US" sz="3200" dirty="0"/>
          </a:p>
        </p:txBody>
      </p:sp>
      <p:pic>
        <p:nvPicPr>
          <p:cNvPr id="3" name="demo-img" descr="D:\BAITAP\Antoan-BM\LAB_AT_BMHTTT\DT043\results\figures\demo_dashboard_crop.png">    </p:cNvPr>
          <p:cNvPicPr>
            <a:picLocks noChangeAspect="1"/>
          </p:cNvPicPr>
          <p:nvPr/>
        </p:nvPicPr>
        <p:blipFill>
          <a:blip r:embed="rId1"/>
          <a:stretch>
            <a:fillRect/>
          </a:stretch>
        </p:blipFill>
        <p:spPr>
          <a:xfrm>
            <a:off x="548640" y="1234440"/>
            <a:ext cx="5806440" cy="5020056"/>
          </a:xfrm>
          <a:prstGeom prst="rect">
            <a:avLst/>
          </a:prstGeom>
          <a:effectLst>
            <a:outerShdw sx="100000" sy="100000" kx="0" ky="0" algn="bl" rotWithShape="0" blurRad="76200" dist="25400" dir="5400000">
              <a:srgbClr val="000000">
                <a:alpha val="18000"/>
              </a:srgbClr>
            </a:outerShdw>
          </a:effectLst>
        </p:spPr>
      </p:pic>
      <p:sp>
        <p:nvSpPr>
          <p:cNvPr id="4" name="demo0-circle"/>
          <p:cNvSpPr/>
          <p:nvPr/>
        </p:nvSpPr>
        <p:spPr>
          <a:xfrm>
            <a:off x="6675120" y="1325880"/>
            <a:ext cx="685800" cy="685800"/>
          </a:xfrm>
          <a:prstGeom prst="ellipse">
            <a:avLst/>
          </a:prstGeom>
          <a:solidFill>
            <a:srgbClr val="D64545"/>
          </a:solidFill>
          <a:ln w="12700">
            <a:solidFill>
              <a:srgbClr val="D64545"/>
            </a:solidFill>
            <a:prstDash val="solid"/>
          </a:ln>
        </p:spPr>
      </p:sp>
      <p:pic>
        <p:nvPicPr>
          <p:cNvPr id="5" name="demo0-icon" descr="preencoded.png">    </p:cNvPr>
          <p:cNvPicPr>
            <a:picLocks noChangeAspect="1"/>
          </p:cNvPicPr>
          <p:nvPr/>
        </p:nvPicPr>
        <p:blipFill>
          <a:blip r:embed="rId2"/>
          <a:stretch>
            <a:fillRect/>
          </a:stretch>
        </p:blipFill>
        <p:spPr>
          <a:xfrm>
            <a:off x="6846570" y="1497330"/>
            <a:ext cx="342900" cy="342900"/>
          </a:xfrm>
          <a:prstGeom prst="rect">
            <a:avLst/>
          </a:prstGeom>
        </p:spPr>
      </p:pic>
      <p:sp>
        <p:nvSpPr>
          <p:cNvPr id="6" name="Text 2"/>
          <p:cNvSpPr txBox="1"/>
          <p:nvPr/>
        </p:nvSpPr>
        <p:spPr>
          <a:xfrm>
            <a:off x="7543800" y="1307592"/>
            <a:ext cx="4069080" cy="365760"/>
          </a:xfrm>
          <a:prstGeom prst="rect">
            <a:avLst/>
          </a:prstGeom>
          <a:noFill/>
          <a:ln/>
        </p:spPr>
        <p:txBody>
          <a:bodyPr wrap="square" lIns="0" tIns="0" rIns="0" bIns="0" rtlCol="0" anchor="t"/>
          <a:lstStyle/>
          <a:p>
            <a:pPr indent="0" marL="0">
              <a:buNone/>
            </a:pPr>
            <a:r>
              <a:rPr lang="en-US" sz="1700" b="1" dirty="0">
                <a:solidFill>
                  <a:schemeClr val="tx2"/>
                </a:solidFill>
              </a:rPr>
              <a:t>mirai/syn (Danmini)</a:t>
            </a:r>
            <a:endParaRPr lang="en-US" sz="1700" dirty="0"/>
          </a:p>
        </p:txBody>
      </p:sp>
      <p:sp>
        <p:nvSpPr>
          <p:cNvPr id="7" name="Text 3"/>
          <p:cNvSpPr txBox="1"/>
          <p:nvPr/>
        </p:nvSpPr>
        <p:spPr>
          <a:xfrm>
            <a:off x="7543800" y="1691640"/>
            <a:ext cx="4069080" cy="731520"/>
          </a:xfrm>
          <a:prstGeom prst="rect">
            <a:avLst/>
          </a:prstGeom>
          <a:noFill/>
          <a:ln/>
        </p:spPr>
        <p:txBody>
          <a:bodyPr wrap="square" lIns="0" tIns="0" rIns="0" bIns="0" rtlCol="0" anchor="t"/>
          <a:lstStyle/>
          <a:p>
            <a:pPr indent="0" marL="0">
              <a:buNone/>
            </a:pPr>
            <a:r>
              <a:rPr lang="en-US" sz="1400" dirty="0">
                <a:solidFill>
                  <a:schemeClr val="tx1"/>
                </a:solidFill>
              </a:rPr>
              <a:t>100% cửa sổ cảnh báo → cảnh báo mức high + shuffle IP + đổi firmware (event-based)</a:t>
            </a:r>
            <a:endParaRPr lang="en-US" sz="1400" dirty="0"/>
          </a:p>
        </p:txBody>
      </p:sp>
      <p:sp>
        <p:nvSpPr>
          <p:cNvPr id="8" name="demo1-circle"/>
          <p:cNvSpPr/>
          <p:nvPr/>
        </p:nvSpPr>
        <p:spPr>
          <a:xfrm>
            <a:off x="6675120" y="2514600"/>
            <a:ext cx="685800" cy="685800"/>
          </a:xfrm>
          <a:prstGeom prst="ellipse">
            <a:avLst/>
          </a:prstGeom>
          <a:solidFill>
            <a:srgbClr val="3A9D5D"/>
          </a:solidFill>
          <a:ln w="12700">
            <a:solidFill>
              <a:srgbClr val="3A9D5D"/>
            </a:solidFill>
            <a:prstDash val="solid"/>
          </a:ln>
        </p:spPr>
      </p:sp>
      <p:pic>
        <p:nvPicPr>
          <p:cNvPr id="9" name="demo1-icon" descr="preencoded.png">    </p:cNvPr>
          <p:cNvPicPr>
            <a:picLocks noChangeAspect="1"/>
          </p:cNvPicPr>
          <p:nvPr/>
        </p:nvPicPr>
        <p:blipFill>
          <a:blip r:embed="rId3"/>
          <a:stretch>
            <a:fillRect/>
          </a:stretch>
        </p:blipFill>
        <p:spPr>
          <a:xfrm>
            <a:off x="6846570" y="2686050"/>
            <a:ext cx="342900" cy="342900"/>
          </a:xfrm>
          <a:prstGeom prst="rect">
            <a:avLst/>
          </a:prstGeom>
        </p:spPr>
      </p:pic>
      <p:sp>
        <p:nvSpPr>
          <p:cNvPr id="10" name="Text 5"/>
          <p:cNvSpPr txBox="1"/>
          <p:nvPr/>
        </p:nvSpPr>
        <p:spPr>
          <a:xfrm>
            <a:off x="7543800" y="2496312"/>
            <a:ext cx="4069080" cy="365760"/>
          </a:xfrm>
          <a:prstGeom prst="rect">
            <a:avLst/>
          </a:prstGeom>
          <a:noFill/>
          <a:ln/>
        </p:spPr>
        <p:txBody>
          <a:bodyPr wrap="square" lIns="0" tIns="0" rIns="0" bIns="0" rtlCol="0" anchor="t"/>
          <a:lstStyle/>
          <a:p>
            <a:pPr indent="0" marL="0">
              <a:buNone/>
            </a:pPr>
            <a:r>
              <a:rPr lang="en-US" sz="1700" b="1" dirty="0">
                <a:solidFill>
                  <a:schemeClr val="tx2"/>
                </a:solidFill>
              </a:rPr>
              <a:t>benign (phần test)</a:t>
            </a:r>
            <a:endParaRPr lang="en-US" sz="1700" dirty="0"/>
          </a:p>
        </p:txBody>
      </p:sp>
      <p:sp>
        <p:nvSpPr>
          <p:cNvPr id="11" name="Text 6"/>
          <p:cNvSpPr txBox="1"/>
          <p:nvPr/>
        </p:nvSpPr>
        <p:spPr>
          <a:xfrm>
            <a:off x="7543800" y="2880360"/>
            <a:ext cx="4069080" cy="731520"/>
          </a:xfrm>
          <a:prstGeom prst="rect">
            <a:avLst/>
          </a:prstGeom>
          <a:noFill/>
          <a:ln/>
        </p:spPr>
        <p:txBody>
          <a:bodyPr wrap="square" lIns="0" tIns="0" rIns="0" bIns="0" rtlCol="0" anchor="t"/>
          <a:lstStyle/>
          <a:p>
            <a:pPr indent="0" marL="0">
              <a:buNone/>
            </a:pPr>
            <a:r>
              <a:rPr lang="en-US" sz="1400" dirty="0">
                <a:solidFill>
                  <a:schemeClr val="tx1"/>
                </a:solidFill>
              </a:rPr>
              <a:t>Không cảnh báo, không move vô ích</a:t>
            </a:r>
            <a:endParaRPr lang="en-US" sz="1400" dirty="0"/>
          </a:p>
        </p:txBody>
      </p:sp>
      <p:sp>
        <p:nvSpPr>
          <p:cNvPr id="12" name="demo2-circle"/>
          <p:cNvSpPr/>
          <p:nvPr/>
        </p:nvSpPr>
        <p:spPr>
          <a:xfrm>
            <a:off x="6675120" y="3703320"/>
            <a:ext cx="685800" cy="685800"/>
          </a:xfrm>
          <a:prstGeom prst="ellipse">
            <a:avLst/>
          </a:prstGeom>
          <a:solidFill>
            <a:srgbClr val="F2A541"/>
          </a:solidFill>
          <a:ln w="12700">
            <a:solidFill>
              <a:srgbClr val="F2A541"/>
            </a:solidFill>
            <a:prstDash val="solid"/>
          </a:ln>
        </p:spPr>
      </p:sp>
      <p:pic>
        <p:nvPicPr>
          <p:cNvPr id="13" name="demo2-icon" descr="preencoded.png">    </p:cNvPr>
          <p:cNvPicPr>
            <a:picLocks noChangeAspect="1"/>
          </p:cNvPicPr>
          <p:nvPr/>
        </p:nvPicPr>
        <p:blipFill>
          <a:blip r:embed="rId4"/>
          <a:stretch>
            <a:fillRect/>
          </a:stretch>
        </p:blipFill>
        <p:spPr>
          <a:xfrm>
            <a:off x="6846570" y="3874770"/>
            <a:ext cx="342900" cy="342900"/>
          </a:xfrm>
          <a:prstGeom prst="rect">
            <a:avLst/>
          </a:prstGeom>
        </p:spPr>
      </p:pic>
      <p:sp>
        <p:nvSpPr>
          <p:cNvPr id="14" name="Text 8"/>
          <p:cNvSpPr txBox="1"/>
          <p:nvPr/>
        </p:nvSpPr>
        <p:spPr>
          <a:xfrm>
            <a:off x="7543800" y="3685032"/>
            <a:ext cx="4069080" cy="365760"/>
          </a:xfrm>
          <a:prstGeom prst="rect">
            <a:avLst/>
          </a:prstGeom>
          <a:noFill/>
          <a:ln/>
        </p:spPr>
        <p:txBody>
          <a:bodyPr wrap="square" lIns="0" tIns="0" rIns="0" bIns="0" rtlCol="0" anchor="t"/>
          <a:lstStyle/>
          <a:p>
            <a:pPr indent="0" marL="0">
              <a:buNone/>
            </a:pPr>
            <a:r>
              <a:rPr lang="en-US" sz="1700" b="1" dirty="0">
                <a:solidFill>
                  <a:schemeClr val="tx2"/>
                </a:solidFill>
              </a:rPr>
              <a:t>gafgyt/tcp (Ennio)</a:t>
            </a:r>
            <a:endParaRPr lang="en-US" sz="1700" dirty="0"/>
          </a:p>
        </p:txBody>
      </p:sp>
      <p:sp>
        <p:nvSpPr>
          <p:cNvPr id="15" name="Text 9"/>
          <p:cNvSpPr txBox="1"/>
          <p:nvPr/>
        </p:nvSpPr>
        <p:spPr>
          <a:xfrm>
            <a:off x="7543800" y="4069080"/>
            <a:ext cx="4069080" cy="731520"/>
          </a:xfrm>
          <a:prstGeom prst="rect">
            <a:avLst/>
          </a:prstGeom>
          <a:noFill/>
          <a:ln/>
        </p:spPr>
        <p:txBody>
          <a:bodyPr wrap="square" lIns="0" tIns="0" rIns="0" bIns="0" rtlCol="0" anchor="t"/>
          <a:lstStyle/>
          <a:p>
            <a:pPr indent="0" marL="0">
              <a:buNone/>
            </a:pPr>
            <a:r>
              <a:rPr lang="en-US" sz="1400" dirty="0">
                <a:solidFill>
                  <a:schemeClr val="tx1"/>
                </a:solidFill>
              </a:rPr>
              <a:t>Không vượt ngưỡng – đúng lỗi bỏ sót đã phân tích</a:t>
            </a:r>
            <a:endParaRPr lang="en-US" sz="1400" dirty="0"/>
          </a:p>
        </p:txBody>
      </p:sp>
      <p:sp>
        <p:nvSpPr>
          <p:cNvPr id="16" name="demo3-circle"/>
          <p:cNvSpPr/>
          <p:nvPr/>
        </p:nvSpPr>
        <p:spPr>
          <a:xfrm>
            <a:off x="6675120" y="4892040"/>
            <a:ext cx="685800" cy="685800"/>
          </a:xfrm>
          <a:prstGeom prst="ellipse">
            <a:avLst/>
          </a:prstGeom>
          <a:solidFill>
            <a:srgbClr val="2E6FB0"/>
          </a:solidFill>
          <a:ln w="12700">
            <a:solidFill>
              <a:srgbClr val="2E6FB0"/>
            </a:solidFill>
            <a:prstDash val="solid"/>
          </a:ln>
        </p:spPr>
      </p:sp>
      <p:pic>
        <p:nvPicPr>
          <p:cNvPr id="17" name="demo3-icon" descr="preencoded.png">    </p:cNvPr>
          <p:cNvPicPr>
            <a:picLocks noChangeAspect="1"/>
          </p:cNvPicPr>
          <p:nvPr/>
        </p:nvPicPr>
        <p:blipFill>
          <a:blip r:embed="rId5"/>
          <a:stretch>
            <a:fillRect/>
          </a:stretch>
        </p:blipFill>
        <p:spPr>
          <a:xfrm>
            <a:off x="6846570" y="5063490"/>
            <a:ext cx="342900" cy="342900"/>
          </a:xfrm>
          <a:prstGeom prst="rect">
            <a:avLst/>
          </a:prstGeom>
        </p:spPr>
      </p:pic>
      <p:sp>
        <p:nvSpPr>
          <p:cNvPr id="18" name="Text 11"/>
          <p:cNvSpPr txBox="1"/>
          <p:nvPr/>
        </p:nvSpPr>
        <p:spPr>
          <a:xfrm>
            <a:off x="7543800" y="4873752"/>
            <a:ext cx="4069080" cy="365760"/>
          </a:xfrm>
          <a:prstGeom prst="rect">
            <a:avLst/>
          </a:prstGeom>
          <a:noFill/>
          <a:ln/>
        </p:spPr>
        <p:txBody>
          <a:bodyPr wrap="square" lIns="0" tIns="0" rIns="0" bIns="0" rtlCol="0" anchor="t"/>
          <a:lstStyle/>
          <a:p>
            <a:pPr indent="0" marL="0">
              <a:buNone/>
            </a:pPr>
            <a:r>
              <a:rPr lang="en-US" sz="1700" b="1" dirty="0">
                <a:solidFill>
                  <a:schemeClr val="tx2"/>
                </a:solidFill>
              </a:rPr>
              <a:t>Suy luận V1 int8</a:t>
            </a:r>
            <a:endParaRPr lang="en-US" sz="1700" dirty="0"/>
          </a:p>
        </p:txBody>
      </p:sp>
      <p:sp>
        <p:nvSpPr>
          <p:cNvPr id="19" name="Text 12"/>
          <p:cNvSpPr txBox="1"/>
          <p:nvPr/>
        </p:nvSpPr>
        <p:spPr>
          <a:xfrm>
            <a:off x="7543800" y="5257800"/>
            <a:ext cx="4069080" cy="731520"/>
          </a:xfrm>
          <a:prstGeom prst="rect">
            <a:avLst/>
          </a:prstGeom>
          <a:noFill/>
          <a:ln/>
        </p:spPr>
        <p:txBody>
          <a:bodyPr wrap="square" lIns="0" tIns="0" rIns="0" bIns="0" rtlCol="0" anchor="t"/>
          <a:lstStyle/>
          <a:p>
            <a:pPr indent="0" marL="0">
              <a:buNone/>
            </a:pPr>
            <a:r>
              <a:rPr lang="en-US" sz="1400" dirty="0">
                <a:solidFill>
                  <a:schemeClr val="tx1"/>
                </a:solidFill>
              </a:rPr>
              <a:t>Vài µs/mẫu, 1 luồng; mọi lô ghi vào SQLite</a:t>
            </a:r>
            <a:endParaRPr lang="en-US" sz="1400" dirty="0"/>
          </a:p>
        </p:txBody>
      </p:sp>
      <p:sp>
        <p:nvSpPr>
          <p:cNvPr id="20" name="Text 13"/>
          <p:cNvSpPr txBox="1"/>
          <p:nvPr/>
        </p:nvSpPr>
        <p:spPr>
          <a:xfrm>
            <a:off x="6675120" y="5897880"/>
            <a:ext cx="4937760" cy="365760"/>
          </a:xfrm>
          <a:prstGeom prst="rect">
            <a:avLst/>
          </a:prstGeom>
          <a:noFill/>
          <a:ln/>
        </p:spPr>
        <p:txBody>
          <a:bodyPr wrap="square" lIns="0" tIns="0" rIns="0" bIns="0" rtlCol="0" anchor="t"/>
          <a:lstStyle/>
          <a:p>
            <a:pPr indent="0" marL="0">
              <a:buNone/>
            </a:pPr>
            <a:r>
              <a:rPr lang="en-US" sz="1200" i="1" dirty="0">
                <a:solidFill>
                  <a:schemeClr val="accent4"/>
                </a:solidFill>
              </a:rPr>
              <a:t>Mở: http://127.0.0.1:8000/?replay=Danmini_Doorbell:mirai/syn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Kết quả tổng quan (mức cửa sổ, 9 thiết bị × seed)</a:t>
            </a:r>
            <a:endParaRPr lang="en-US" sz="3200" dirty="0"/>
          </a:p>
        </p:txBody>
      </p:sp>
      <p:graphicFrame>
        <p:nvGraphicFramePr>
          <p:cNvPr id="3" name="overview-chart"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fpr-num"/>
          <p:cNvSpPr txBox="1"/>
          <p:nvPr/>
        </p:nvSpPr>
        <p:spPr>
          <a:xfrm>
            <a:off x="7955280" y="1371600"/>
            <a:ext cx="365760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0.0025</a:t>
            </a:r>
            <a:endParaRPr lang="en-US" sz="4000" dirty="0"/>
          </a:p>
        </p:txBody>
      </p:sp>
      <p:sp>
        <p:nvSpPr>
          <p:cNvPr id="5" name="fpr-label"/>
          <p:cNvSpPr txBox="1"/>
          <p:nvPr/>
        </p:nvSpPr>
        <p:spPr>
          <a:xfrm>
            <a:off x="7955280" y="2240280"/>
            <a:ext cx="3657600" cy="640080"/>
          </a:xfrm>
          <a:prstGeom prst="rect">
            <a:avLst/>
          </a:prstGeom>
          <a:noFill/>
          <a:ln/>
        </p:spPr>
        <p:txBody>
          <a:bodyPr wrap="square" lIns="0" tIns="0" rIns="0" bIns="0" rtlCol="0" anchor="t"/>
          <a:lstStyle/>
          <a:p>
            <a:pPr indent="0" marL="0">
              <a:buNone/>
            </a:pPr>
            <a:r>
              <a:rPr lang="en-US" sz="1300" dirty="0">
                <a:solidFill>
                  <a:schemeClr val="accent4"/>
                </a:solidFill>
              </a:rPr>
              <a:t>FPR của B0 – thấp hơn Meidan (0.007)</a:t>
            </a:r>
            <a:endParaRPr lang="en-US" sz="1300" dirty="0"/>
          </a:p>
        </p:txBody>
      </p:sp>
      <p:sp>
        <p:nvSpPr>
          <p:cNvPr id="6" name="tpr-num"/>
          <p:cNvSpPr txBox="1"/>
          <p:nvPr/>
        </p:nvSpPr>
        <p:spPr>
          <a:xfrm>
            <a:off x="7955280" y="3063240"/>
            <a:ext cx="3657600" cy="868680"/>
          </a:xfrm>
          <a:prstGeom prst="rect">
            <a:avLst/>
          </a:prstGeom>
          <a:noFill/>
          <a:ln/>
        </p:spPr>
        <p:txBody>
          <a:bodyPr wrap="square" lIns="0" tIns="0" rIns="0" bIns="0" rtlCol="0" anchor="t"/>
          <a:lstStyle/>
          <a:p>
            <a:pPr indent="0" marL="0">
              <a:buNone/>
            </a:pPr>
            <a:r>
              <a:rPr lang="en-US" sz="4000" b="1" dirty="0">
                <a:solidFill>
                  <a:srgbClr val="D64545"/>
                </a:solidFill>
                <a:latin typeface="Cambria" pitchFamily="34" charset="0"/>
                <a:ea typeface="Cambria" pitchFamily="34" charset="-122"/>
                <a:cs typeface="Cambria" pitchFamily="34" charset="-120"/>
              </a:rPr>
              <a:t>0.822</a:t>
            </a:r>
            <a:endParaRPr lang="en-US" sz="4000" dirty="0"/>
          </a:p>
        </p:txBody>
      </p:sp>
      <p:sp>
        <p:nvSpPr>
          <p:cNvPr id="7" name="tpr-label"/>
          <p:cNvSpPr txBox="1"/>
          <p:nvPr/>
        </p:nvSpPr>
        <p:spPr>
          <a:xfrm>
            <a:off x="7955280" y="3931920"/>
            <a:ext cx="3657600" cy="640080"/>
          </a:xfrm>
          <a:prstGeom prst="rect">
            <a:avLst/>
          </a:prstGeom>
          <a:noFill/>
          <a:ln/>
        </p:spPr>
        <p:txBody>
          <a:bodyPr wrap="square" lIns="0" tIns="0" rIns="0" bIns="0" rtlCol="0" anchor="t"/>
          <a:lstStyle/>
          <a:p>
            <a:pPr indent="0" marL="0">
              <a:buNone/>
            </a:pPr>
            <a:r>
              <a:rPr lang="en-US" sz="1300" dirty="0">
                <a:solidFill>
                  <a:schemeClr val="accent4"/>
                </a:solidFill>
              </a:rPr>
              <a:t>TPR của B0 – không đạt 100% như paper</a:t>
            </a:r>
            <a:endParaRPr lang="en-US" sz="1300" dirty="0"/>
          </a:p>
        </p:txBody>
      </p:sp>
      <p:sp>
        <p:nvSpPr>
          <p:cNvPr id="8" name="Text 5"/>
          <p:cNvSpPr txBox="1"/>
          <p:nvPr/>
        </p:nvSpPr>
        <p:spPr>
          <a:xfrm>
            <a:off x="7955280" y="4846320"/>
            <a:ext cx="3657600" cy="1097280"/>
          </a:xfrm>
          <a:prstGeom prst="rect">
            <a:avLst/>
          </a:prstGeom>
          <a:noFill/>
          <a:ln/>
        </p:spPr>
        <p:txBody>
          <a:bodyPr wrap="square" lIns="0" tIns="0" rIns="0" bIns="0" rtlCol="0" anchor="t"/>
          <a:lstStyle/>
          <a:p>
            <a:pPr indent="0" marL="0">
              <a:buNone/>
            </a:pPr>
            <a:r>
              <a:rPr lang="en-US" sz="1400" i="1" dirty="0">
                <a:solidFill>
                  <a:schemeClr val="accent4"/>
                </a:solidFill>
              </a:rPr>
              <a:t>ROC-AUC mức mẫu vẫn &gt; 0.99: điểm MSE phân tách tốt, vấn đề nằm ở ngưỡng.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Lỗi chính: flood BASHLITE tcp/udp trông giống benign</a:t>
            </a:r>
            <a:endParaRPr lang="en-US" sz="3200" dirty="0"/>
          </a:p>
        </p:txBody>
      </p:sp>
      <p:pic>
        <p:nvPicPr>
          <p:cNvPr id="3" name="err-fig" descr="D:\BAITAP\Antoan-BM\LAB_AT_BMHTTT\DT043\results\figures\fig_error_mse_hist.png">    </p:cNvPr>
          <p:cNvPicPr>
            <a:picLocks noChangeAspect="1"/>
          </p:cNvPicPr>
          <p:nvPr/>
        </p:nvPicPr>
        <p:blipFill>
          <a:blip r:embed="rId1"/>
          <a:stretch>
            <a:fillRect/>
          </a:stretch>
        </p:blipFill>
        <p:spPr>
          <a:xfrm>
            <a:off x="548640" y="1325880"/>
            <a:ext cx="6766560" cy="3081528"/>
          </a:xfrm>
          <a:prstGeom prst="rect">
            <a:avLst/>
          </a:prstGeom>
        </p:spPr>
      </p:pic>
      <p:sp>
        <p:nvSpPr>
          <p:cNvPr id="4" name="Text 1"/>
          <p:cNvSpPr txBox="1"/>
          <p:nvPr/>
        </p:nvSpPr>
        <p:spPr>
          <a:xfrm>
            <a:off x="548640" y="4572000"/>
            <a:ext cx="6766560" cy="1463040"/>
          </a:xfrm>
          <a:prstGeom prst="rect">
            <a:avLst/>
          </a:prstGeom>
          <a:noFill/>
          <a:ln/>
        </p:spPr>
        <p:txBody>
          <a:bodyPr wrap="square" lIns="0" tIns="0" rIns="0" bIns="0" rtlCol="0" anchor="t"/>
          <a:lstStyle/>
          <a:p>
            <a:pPr indent="0" marL="0">
              <a:buNone/>
            </a:pPr>
            <a:r>
              <a:rPr lang="en-US" sz="1500" dirty="0">
                <a:solidFill>
                  <a:schemeClr val="tx1"/>
                </a:solidFill>
              </a:rPr>
              <a:t>Nguồn bị giả mạo liên tục → mỗi gói như "luồng mới": weight = 1, variance = 0, 60 byte. MSE ≈ 0.17 – trên phần lớn benign nhưng dưới ngưỡng mean+std bị đuôi phân phối kéo lên.</a:t>
            </a:r>
            <a:endParaRPr lang="en-US" sz="1500" dirty="0"/>
          </a:p>
        </p:txBody>
      </p:sp>
      <p:graphicFrame>
        <p:nvGraphicFramePr>
          <p:cNvPr id="5" name="recall-chart" descr=""/>
          <p:cNvGraphicFramePr/>
          <p:nvPr/>
        </p:nvGraphicFramePr>
        <p:xfrm>
          <a:off x="7589520" y="1325880"/>
          <a:ext cx="4023360" cy="4754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Hậu kiểm: hạ ngưỡng bắt được tcp/udp nhưng phải trả giá</a:t>
            </a:r>
            <a:endParaRPr lang="en-US" sz="3200" dirty="0"/>
          </a:p>
        </p:txBody>
      </p:sp>
      <p:sp>
        <p:nvSpPr>
          <p:cNvPr id="3" name="ph0"/>
          <p:cNvSpPr/>
          <p:nvPr/>
        </p:nvSpPr>
        <p:spPr>
          <a:xfrm>
            <a:off x="548640" y="1371600"/>
            <a:ext cx="5349240" cy="4023360"/>
          </a:xfrm>
          <a:prstGeom prst="roundRect">
            <a:avLst>
              <a:gd name="adj" fmla="val 2727"/>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554480"/>
            <a:ext cx="4846320" cy="457200"/>
          </a:xfrm>
          <a:prstGeom prst="rect">
            <a:avLst/>
          </a:prstGeom>
          <a:noFill/>
          <a:ln/>
        </p:spPr>
        <p:txBody>
          <a:bodyPr wrap="square" lIns="0" tIns="0" rIns="0" bIns="0" rtlCol="0" anchor="t"/>
          <a:lstStyle/>
          <a:p>
            <a:pPr indent="0" marL="0">
              <a:buNone/>
            </a:pPr>
            <a:r>
              <a:rPr lang="en-US" sz="2000" b="1" dirty="0">
                <a:solidFill>
                  <a:schemeClr val="tx2"/>
                </a:solidFill>
              </a:rPr>
              <a:t>Ngưỡng mean+std (gốc)</a:t>
            </a:r>
            <a:endParaRPr lang="en-US" sz="2000" dirty="0"/>
          </a:p>
        </p:txBody>
      </p:sp>
      <p:sp>
        <p:nvSpPr>
          <p:cNvPr id="5" name="Text 3"/>
          <p:cNvSpPr txBox="1"/>
          <p:nvPr/>
        </p:nvSpPr>
        <p:spPr>
          <a:xfrm>
            <a:off x="822960" y="219456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macro-F1</a:t>
            </a:r>
            <a:endParaRPr lang="en-US" sz="1600" dirty="0"/>
          </a:p>
        </p:txBody>
      </p:sp>
      <p:sp>
        <p:nvSpPr>
          <p:cNvPr id="6" name="Text 4"/>
          <p:cNvSpPr txBox="1"/>
          <p:nvPr/>
        </p:nvSpPr>
        <p:spPr>
          <a:xfrm>
            <a:off x="3200400" y="2194560"/>
            <a:ext cx="2468880" cy="640080"/>
          </a:xfrm>
          <a:prstGeom prst="rect">
            <a:avLst/>
          </a:prstGeom>
          <a:noFill/>
          <a:ln/>
        </p:spPr>
        <p:txBody>
          <a:bodyPr wrap="square" lIns="0" tIns="0" rIns="0" bIns="0" rtlCol="0" anchor="ctr"/>
          <a:lstStyle/>
          <a:p>
            <a:pPr indent="0" marL="0">
              <a:buNone/>
            </a:pPr>
            <a:r>
              <a:rPr lang="en-US" sz="2600" b="1" dirty="0">
                <a:solidFill>
                  <a:srgbClr val="0B1F33"/>
                </a:solidFill>
                <a:latin typeface="Cambria" pitchFamily="34" charset="0"/>
                <a:ea typeface="Cambria" pitchFamily="34" charset="-122"/>
                <a:cs typeface="Cambria" pitchFamily="34" charset="-120"/>
              </a:rPr>
              <a:t>0.686</a:t>
            </a:r>
            <a:endParaRPr lang="en-US" sz="2600" dirty="0"/>
          </a:p>
        </p:txBody>
      </p:sp>
      <p:sp>
        <p:nvSpPr>
          <p:cNvPr id="7" name="Text 5"/>
          <p:cNvSpPr txBox="1"/>
          <p:nvPr/>
        </p:nvSpPr>
        <p:spPr>
          <a:xfrm>
            <a:off x="822960" y="297180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Recall tcp/udp</a:t>
            </a:r>
            <a:endParaRPr lang="en-US" sz="1600" dirty="0"/>
          </a:p>
        </p:txBody>
      </p:sp>
      <p:sp>
        <p:nvSpPr>
          <p:cNvPr id="8" name="Text 6"/>
          <p:cNvSpPr txBox="1"/>
          <p:nvPr/>
        </p:nvSpPr>
        <p:spPr>
          <a:xfrm>
            <a:off x="3200400" y="2971800"/>
            <a:ext cx="2468880" cy="640080"/>
          </a:xfrm>
          <a:prstGeom prst="rect">
            <a:avLst/>
          </a:prstGeom>
          <a:noFill/>
          <a:ln/>
        </p:spPr>
        <p:txBody>
          <a:bodyPr wrap="square" lIns="0" tIns="0" rIns="0" bIns="0" rtlCol="0" anchor="ctr"/>
          <a:lstStyle/>
          <a:p>
            <a:pPr indent="0" marL="0">
              <a:buNone/>
            </a:pPr>
            <a:r>
              <a:rPr lang="en-US" sz="2600" b="1" dirty="0">
                <a:solidFill>
                  <a:srgbClr val="0B1F33"/>
                </a:solidFill>
                <a:latin typeface="Cambria" pitchFamily="34" charset="0"/>
                <a:ea typeface="Cambria" pitchFamily="34" charset="-122"/>
                <a:cs typeface="Cambria" pitchFamily="34" charset="-120"/>
              </a:rPr>
              <a:t>0.44</a:t>
            </a:r>
            <a:endParaRPr lang="en-US" sz="2600" dirty="0"/>
          </a:p>
        </p:txBody>
      </p:sp>
      <p:sp>
        <p:nvSpPr>
          <p:cNvPr id="9" name="Text 7"/>
          <p:cNvSpPr txBox="1"/>
          <p:nvPr/>
        </p:nvSpPr>
        <p:spPr>
          <a:xfrm>
            <a:off x="822960" y="374904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FPR test</a:t>
            </a:r>
            <a:endParaRPr lang="en-US" sz="1600" dirty="0"/>
          </a:p>
        </p:txBody>
      </p:sp>
      <p:sp>
        <p:nvSpPr>
          <p:cNvPr id="10" name="Text 8"/>
          <p:cNvSpPr txBox="1"/>
          <p:nvPr/>
        </p:nvSpPr>
        <p:spPr>
          <a:xfrm>
            <a:off x="3200400" y="3749040"/>
            <a:ext cx="2468880" cy="640080"/>
          </a:xfrm>
          <a:prstGeom prst="rect">
            <a:avLst/>
          </a:prstGeom>
          <a:noFill/>
          <a:ln/>
        </p:spPr>
        <p:txBody>
          <a:bodyPr wrap="square" lIns="0" tIns="0" rIns="0" bIns="0" rtlCol="0" anchor="ctr"/>
          <a:lstStyle/>
          <a:p>
            <a:pPr indent="0" marL="0">
              <a:buNone/>
            </a:pPr>
            <a:r>
              <a:rPr lang="en-US" sz="2600" b="1" dirty="0">
                <a:solidFill>
                  <a:srgbClr val="0B1F33"/>
                </a:solidFill>
                <a:latin typeface="Cambria" pitchFamily="34" charset="0"/>
                <a:ea typeface="Cambria" pitchFamily="34" charset="-122"/>
                <a:cs typeface="Cambria" pitchFamily="34" charset="-120"/>
              </a:rPr>
              <a:t>0.0023</a:t>
            </a:r>
            <a:endParaRPr lang="en-US" sz="2600" dirty="0"/>
          </a:p>
        </p:txBody>
      </p:sp>
      <p:sp>
        <p:nvSpPr>
          <p:cNvPr id="11" name="Text 9"/>
          <p:cNvSpPr txBox="1"/>
          <p:nvPr/>
        </p:nvSpPr>
        <p:spPr>
          <a:xfrm>
            <a:off x="822960" y="452628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Cửa sổ ws*</a:t>
            </a:r>
            <a:endParaRPr lang="en-US" sz="1600" dirty="0"/>
          </a:p>
        </p:txBody>
      </p:sp>
      <p:sp>
        <p:nvSpPr>
          <p:cNvPr id="12" name="Text 10"/>
          <p:cNvSpPr txBox="1"/>
          <p:nvPr/>
        </p:nvSpPr>
        <p:spPr>
          <a:xfrm>
            <a:off x="3200400" y="4526280"/>
            <a:ext cx="2468880" cy="640080"/>
          </a:xfrm>
          <a:prstGeom prst="rect">
            <a:avLst/>
          </a:prstGeom>
          <a:noFill/>
          <a:ln/>
        </p:spPr>
        <p:txBody>
          <a:bodyPr wrap="square" lIns="0" tIns="0" rIns="0" bIns="0" rtlCol="0" anchor="ctr"/>
          <a:lstStyle/>
          <a:p>
            <a:pPr indent="0" marL="0">
              <a:buNone/>
            </a:pPr>
            <a:r>
              <a:rPr lang="en-US" sz="2600" b="1" dirty="0">
                <a:solidFill>
                  <a:srgbClr val="0B1F33"/>
                </a:solidFill>
                <a:latin typeface="Cambria" pitchFamily="34" charset="0"/>
                <a:ea typeface="Cambria" pitchFamily="34" charset="-122"/>
                <a:cs typeface="Cambria" pitchFamily="34" charset="-120"/>
              </a:rPr>
              <a:t>164 mẫu</a:t>
            </a:r>
            <a:endParaRPr lang="en-US" sz="2600" dirty="0"/>
          </a:p>
        </p:txBody>
      </p:sp>
      <p:sp>
        <p:nvSpPr>
          <p:cNvPr id="13" name="ph1"/>
          <p:cNvSpPr/>
          <p:nvPr/>
        </p:nvSpPr>
        <p:spPr>
          <a:xfrm>
            <a:off x="6263640" y="1371600"/>
            <a:ext cx="5349240" cy="4023360"/>
          </a:xfrm>
          <a:prstGeom prst="roundRect">
            <a:avLst>
              <a:gd name="adj" fmla="val 2727"/>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537960" y="1554480"/>
            <a:ext cx="4846320" cy="457200"/>
          </a:xfrm>
          <a:prstGeom prst="rect">
            <a:avLst/>
          </a:prstGeom>
          <a:noFill/>
          <a:ln/>
        </p:spPr>
        <p:txBody>
          <a:bodyPr wrap="square" lIns="0" tIns="0" rIns="0" bIns="0" rtlCol="0" anchor="t"/>
          <a:lstStyle/>
          <a:p>
            <a:pPr indent="0" marL="0">
              <a:buNone/>
            </a:pPr>
            <a:r>
              <a:rPr lang="en-US" sz="2000" b="1" dirty="0">
                <a:solidFill>
                  <a:schemeClr val="tx2"/>
                </a:solidFill>
              </a:rPr>
              <a:t>Ngưỡng p75 của DSopt</a:t>
            </a:r>
            <a:endParaRPr lang="en-US" sz="2000" dirty="0"/>
          </a:p>
        </p:txBody>
      </p:sp>
      <p:sp>
        <p:nvSpPr>
          <p:cNvPr id="15" name="Text 13"/>
          <p:cNvSpPr txBox="1"/>
          <p:nvPr/>
        </p:nvSpPr>
        <p:spPr>
          <a:xfrm>
            <a:off x="6537960" y="219456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macro-F1</a:t>
            </a:r>
            <a:endParaRPr lang="en-US" sz="1600" dirty="0"/>
          </a:p>
        </p:txBody>
      </p:sp>
      <p:sp>
        <p:nvSpPr>
          <p:cNvPr id="16" name="Text 14"/>
          <p:cNvSpPr txBox="1"/>
          <p:nvPr/>
        </p:nvSpPr>
        <p:spPr>
          <a:xfrm>
            <a:off x="8915400" y="2194560"/>
            <a:ext cx="2468880" cy="64008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0.995</a:t>
            </a:r>
            <a:endParaRPr lang="en-US" sz="2600" dirty="0"/>
          </a:p>
        </p:txBody>
      </p:sp>
      <p:sp>
        <p:nvSpPr>
          <p:cNvPr id="17" name="Text 15"/>
          <p:cNvSpPr txBox="1"/>
          <p:nvPr/>
        </p:nvSpPr>
        <p:spPr>
          <a:xfrm>
            <a:off x="6537960" y="297180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Recall tcp/udp</a:t>
            </a:r>
            <a:endParaRPr lang="en-US" sz="1600" dirty="0"/>
          </a:p>
        </p:txBody>
      </p:sp>
      <p:sp>
        <p:nvSpPr>
          <p:cNvPr id="18" name="Text 16"/>
          <p:cNvSpPr txBox="1"/>
          <p:nvPr/>
        </p:nvSpPr>
        <p:spPr>
          <a:xfrm>
            <a:off x="8915400" y="2971800"/>
            <a:ext cx="2468880" cy="64008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1.00</a:t>
            </a:r>
            <a:endParaRPr lang="en-US" sz="2600" dirty="0"/>
          </a:p>
        </p:txBody>
      </p:sp>
      <p:sp>
        <p:nvSpPr>
          <p:cNvPr id="19" name="Text 17"/>
          <p:cNvSpPr txBox="1"/>
          <p:nvPr/>
        </p:nvSpPr>
        <p:spPr>
          <a:xfrm>
            <a:off x="6537960" y="374904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FPR test</a:t>
            </a:r>
            <a:endParaRPr lang="en-US" sz="1600" dirty="0"/>
          </a:p>
        </p:txBody>
      </p:sp>
      <p:sp>
        <p:nvSpPr>
          <p:cNvPr id="20" name="Text 18"/>
          <p:cNvSpPr txBox="1"/>
          <p:nvPr/>
        </p:nvSpPr>
        <p:spPr>
          <a:xfrm>
            <a:off x="8915400" y="3749040"/>
            <a:ext cx="2468880" cy="64008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0.0203</a:t>
            </a:r>
            <a:endParaRPr lang="en-US" sz="2600" dirty="0"/>
          </a:p>
        </p:txBody>
      </p:sp>
      <p:sp>
        <p:nvSpPr>
          <p:cNvPr id="21" name="Text 19"/>
          <p:cNvSpPr txBox="1"/>
          <p:nvPr/>
        </p:nvSpPr>
        <p:spPr>
          <a:xfrm>
            <a:off x="6537960" y="4526280"/>
            <a:ext cx="2377440" cy="640080"/>
          </a:xfrm>
          <a:prstGeom prst="rect">
            <a:avLst/>
          </a:prstGeom>
          <a:noFill/>
          <a:ln/>
        </p:spPr>
        <p:txBody>
          <a:bodyPr wrap="square" lIns="0" tIns="0" rIns="0" bIns="0" rtlCol="0" anchor="ctr"/>
          <a:lstStyle/>
          <a:p>
            <a:pPr indent="0" marL="0">
              <a:buNone/>
            </a:pPr>
            <a:r>
              <a:rPr lang="en-US" sz="1600" dirty="0">
                <a:solidFill>
                  <a:schemeClr val="accent4"/>
                </a:solidFill>
              </a:rPr>
              <a:t>Cửa sổ ws*</a:t>
            </a:r>
            <a:endParaRPr lang="en-US" sz="1600" dirty="0"/>
          </a:p>
        </p:txBody>
      </p:sp>
      <p:sp>
        <p:nvSpPr>
          <p:cNvPr id="22" name="Text 20"/>
          <p:cNvSpPr txBox="1"/>
          <p:nvPr/>
        </p:nvSpPr>
        <p:spPr>
          <a:xfrm>
            <a:off x="8915400" y="4526280"/>
            <a:ext cx="2468880" cy="64008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1410 mẫu</a:t>
            </a:r>
            <a:endParaRPr lang="en-US" sz="2600" dirty="0"/>
          </a:p>
        </p:txBody>
      </p:sp>
      <p:sp>
        <p:nvSpPr>
          <p:cNvPr id="23" name="Text 21"/>
          <p:cNvSpPr txBox="1"/>
          <p:nvPr/>
        </p:nvSpPr>
        <p:spPr>
          <a:xfrm>
            <a:off x="548640" y="5577840"/>
            <a:ext cx="11064240" cy="640080"/>
          </a:xfrm>
          <a:prstGeom prst="rect">
            <a:avLst/>
          </a:prstGeom>
          <a:noFill/>
          <a:ln/>
        </p:spPr>
        <p:txBody>
          <a:bodyPr wrap="square" lIns="0" tIns="0" rIns="0" bIns="0" rtlCol="0" anchor="t"/>
          <a:lstStyle/>
          <a:p>
            <a:pPr indent="0" marL="0">
              <a:buNone/>
            </a:pPr>
            <a:r>
              <a:rPr lang="en-US" sz="1400" i="1" dirty="0">
                <a:solidFill>
                  <a:schemeClr val="accent4"/>
                </a:solidFill>
              </a:rPr>
              <a:t>Phân tích khám phá làm SAU khi xem test (V1, seed 42) → chỉ để giải thích, không tuyên bố cải tiến. FPR = 0 trên DSopt nhưng tăng trên test: benign trôi theo thời gian.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Lượng tử hóa: nhỏ hơn, và cần hiệu chỉnh lại ngưỡng</a:t>
            </a:r>
            <a:endParaRPr lang="en-US" sz="3200" dirty="0"/>
          </a:p>
        </p:txBody>
      </p:sp>
      <p:graphicFrame>
        <p:nvGraphicFramePr>
          <p:cNvPr id="3" name="quant-chart" descr=""/>
          <p:cNvGraphicFramePr/>
          <p:nvPr/>
        </p:nvGraphicFramePr>
        <p:xfrm>
          <a:off x="548640" y="1325880"/>
          <a:ext cx="5486400" cy="4754880"/>
        </p:xfrm>
        <a:graphic xmlns:a="http://schemas.openxmlformats.org/drawingml/2006/main">
          <a:graphicData uri="http://schemas.openxmlformats.org/drawingml/2006/chart">
            <c:chart xmlns:c="http://schemas.openxmlformats.org/drawingml/2006/chart" r:id="rId1"/>
          </a:graphicData>
        </a:graphic>
      </p:graphicFrame>
      <p:sp>
        <p:nvSpPr>
          <p:cNvPr id="4" name="recal-card"/>
          <p:cNvSpPr/>
          <p:nvPr/>
        </p:nvSpPr>
        <p:spPr>
          <a:xfrm>
            <a:off x="6400800" y="1325880"/>
            <a:ext cx="5212080" cy="4754880"/>
          </a:xfrm>
          <a:prstGeom prst="roundRect">
            <a:avLst>
              <a:gd name="adj" fmla="val 2308"/>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675120" y="1508760"/>
            <a:ext cx="4663440" cy="457200"/>
          </a:xfrm>
          <a:prstGeom prst="rect">
            <a:avLst/>
          </a:prstGeom>
          <a:noFill/>
          <a:ln/>
        </p:spPr>
        <p:txBody>
          <a:bodyPr wrap="square" lIns="0" tIns="0" rIns="0" bIns="0" rtlCol="0" anchor="t"/>
          <a:lstStyle/>
          <a:p>
            <a:pPr indent="0" marL="0">
              <a:buNone/>
            </a:pPr>
            <a:r>
              <a:rPr lang="en-US" sz="1700" b="1" dirty="0">
                <a:solidFill>
                  <a:schemeClr val="tx2"/>
                </a:solidFill>
              </a:rPr>
              <a:t>int8: giữ ngưỡng fp32 → hiệu chỉnh trên DSopt</a:t>
            </a:r>
            <a:endParaRPr lang="en-US" sz="1700" dirty="0"/>
          </a:p>
        </p:txBody>
      </p:sp>
      <p:sp>
        <p:nvSpPr>
          <p:cNvPr id="6" name="Text 3"/>
          <p:cNvSpPr txBox="1"/>
          <p:nvPr/>
        </p:nvSpPr>
        <p:spPr>
          <a:xfrm>
            <a:off x="6675120" y="2148840"/>
            <a:ext cx="1554480" cy="731520"/>
          </a:xfrm>
          <a:prstGeom prst="rect">
            <a:avLst/>
          </a:prstGeom>
          <a:noFill/>
          <a:ln/>
        </p:spPr>
        <p:txBody>
          <a:bodyPr wrap="square" lIns="0" tIns="0" rIns="0" bIns="0" rtlCol="0" anchor="ctr"/>
          <a:lstStyle/>
          <a:p>
            <a:pPr indent="0" marL="0">
              <a:buNone/>
            </a:pPr>
            <a:r>
              <a:rPr lang="en-US" sz="1500" dirty="0">
                <a:solidFill>
                  <a:schemeClr val="accent4"/>
                </a:solidFill>
              </a:rPr>
              <a:t>FPR</a:t>
            </a:r>
            <a:endParaRPr lang="en-US" sz="1500" dirty="0"/>
          </a:p>
        </p:txBody>
      </p:sp>
      <p:sp>
        <p:nvSpPr>
          <p:cNvPr id="7" name="Text 4"/>
          <p:cNvSpPr txBox="1"/>
          <p:nvPr/>
        </p:nvSpPr>
        <p:spPr>
          <a:xfrm>
            <a:off x="8229600" y="2148840"/>
            <a:ext cx="3200400" cy="7315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0.0030  →  0.0016</a:t>
            </a:r>
            <a:endParaRPr lang="en-US" sz="2400" dirty="0"/>
          </a:p>
        </p:txBody>
      </p:sp>
      <p:sp>
        <p:nvSpPr>
          <p:cNvPr id="8" name="Text 5"/>
          <p:cNvSpPr txBox="1"/>
          <p:nvPr/>
        </p:nvSpPr>
        <p:spPr>
          <a:xfrm>
            <a:off x="6675120" y="3200400"/>
            <a:ext cx="1554480" cy="731520"/>
          </a:xfrm>
          <a:prstGeom prst="rect">
            <a:avLst/>
          </a:prstGeom>
          <a:noFill/>
          <a:ln/>
        </p:spPr>
        <p:txBody>
          <a:bodyPr wrap="square" lIns="0" tIns="0" rIns="0" bIns="0" rtlCol="0" anchor="ctr"/>
          <a:lstStyle/>
          <a:p>
            <a:pPr indent="0" marL="0">
              <a:buNone/>
            </a:pPr>
            <a:r>
              <a:rPr lang="en-US" sz="1500" dirty="0">
                <a:solidFill>
                  <a:schemeClr val="accent4"/>
                </a:solidFill>
              </a:rPr>
              <a:t>Cửa sổ ws*</a:t>
            </a:r>
            <a:endParaRPr lang="en-US" sz="1500" dirty="0"/>
          </a:p>
        </p:txBody>
      </p:sp>
      <p:sp>
        <p:nvSpPr>
          <p:cNvPr id="9" name="Text 6"/>
          <p:cNvSpPr txBox="1"/>
          <p:nvPr/>
        </p:nvSpPr>
        <p:spPr>
          <a:xfrm>
            <a:off x="8229600" y="3200400"/>
            <a:ext cx="3200400" cy="7315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153  →  113</a:t>
            </a:r>
            <a:endParaRPr lang="en-US" sz="2400" dirty="0"/>
          </a:p>
        </p:txBody>
      </p:sp>
      <p:sp>
        <p:nvSpPr>
          <p:cNvPr id="10" name="Text 7"/>
          <p:cNvSpPr txBox="1"/>
          <p:nvPr/>
        </p:nvSpPr>
        <p:spPr>
          <a:xfrm>
            <a:off x="6675120" y="4251960"/>
            <a:ext cx="1554480" cy="731520"/>
          </a:xfrm>
          <a:prstGeom prst="rect">
            <a:avLst/>
          </a:prstGeom>
          <a:noFill/>
          <a:ln/>
        </p:spPr>
        <p:txBody>
          <a:bodyPr wrap="square" lIns="0" tIns="0" rIns="0" bIns="0" rtlCol="0" anchor="ctr"/>
          <a:lstStyle/>
          <a:p>
            <a:pPr indent="0" marL="0">
              <a:buNone/>
            </a:pPr>
            <a:r>
              <a:rPr lang="en-US" sz="1500" dirty="0">
                <a:solidFill>
                  <a:schemeClr val="accent4"/>
                </a:solidFill>
              </a:rPr>
              <a:t>macro-F1</a:t>
            </a:r>
            <a:endParaRPr lang="en-US" sz="1500" dirty="0"/>
          </a:p>
        </p:txBody>
      </p:sp>
      <p:sp>
        <p:nvSpPr>
          <p:cNvPr id="11" name="Text 8"/>
          <p:cNvSpPr txBox="1"/>
          <p:nvPr/>
        </p:nvSpPr>
        <p:spPr>
          <a:xfrm>
            <a:off x="8229600" y="4251960"/>
            <a:ext cx="3200400" cy="731520"/>
          </a:xfrm>
          <a:prstGeom prst="rect">
            <a:avLst/>
          </a:prstGeom>
          <a:noFill/>
          <a:ln/>
        </p:spPr>
        <p:txBody>
          <a:bodyPr wrap="square" lIns="0" tIns="0" rIns="0" bIns="0" rtlCol="0" anchor="ctr"/>
          <a:lstStyle/>
          <a:p>
            <a:pPr indent="0" marL="0">
              <a:buNone/>
            </a:pPr>
            <a:r>
              <a:rPr lang="en-US" sz="2400" b="1" dirty="0">
                <a:solidFill>
                  <a:schemeClr val="accent3"/>
                </a:solidFill>
                <a:latin typeface="Cambria" pitchFamily="34" charset="0"/>
                <a:ea typeface="Cambria" pitchFamily="34" charset="-122"/>
                <a:cs typeface="Cambria" pitchFamily="34" charset="-120"/>
              </a:rPr>
              <a:t>0.751  →  0.717</a:t>
            </a:r>
            <a:endParaRPr lang="en-US" sz="2400" dirty="0"/>
          </a:p>
        </p:txBody>
      </p:sp>
      <p:sp>
        <p:nvSpPr>
          <p:cNvPr id="12" name="Text 9"/>
          <p:cNvSpPr txBox="1"/>
          <p:nvPr/>
        </p:nvSpPr>
        <p:spPr>
          <a:xfrm>
            <a:off x="6675120" y="5074920"/>
            <a:ext cx="4663440" cy="914400"/>
          </a:xfrm>
          <a:prstGeom prst="rect">
            <a:avLst/>
          </a:prstGeom>
          <a:noFill/>
          <a:ln/>
        </p:spPr>
        <p:txBody>
          <a:bodyPr wrap="square" lIns="0" tIns="0" rIns="0" bIns="0" rtlCol="0" anchor="t"/>
          <a:lstStyle/>
          <a:p>
            <a:pPr indent="0" marL="0">
              <a:buNone/>
            </a:pPr>
            <a:r>
              <a:rPr lang="en-US" sz="1300" i="1" dirty="0">
                <a:solidFill>
                  <a:schemeClr val="accent4"/>
                </a:solidFill>
              </a:rPr>
              <a:t>Hiệu chỉnh giảm FPR và độ trễ, nhưng macro-F1 giảm: khi giữ ngưỡng cũ, nhiễu int8 "vô tình" đẩy tcp/udp vượt ngưỡng.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Edge benchmark: V1 int8 trên một lõi E-core</a:t>
            </a:r>
            <a:endParaRPr lang="en-US" sz="3200" dirty="0"/>
          </a:p>
        </p:txBody>
      </p:sp>
      <p:sp>
        <p:nvSpPr>
          <p:cNvPr id="3" name="edge0-num"/>
          <p:cNvSpPr txBox="1"/>
          <p:nvPr/>
        </p:nvSpPr>
        <p:spPr>
          <a:xfrm>
            <a:off x="548640" y="1463040"/>
            <a:ext cx="265176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10.8 µs</a:t>
            </a:r>
            <a:endParaRPr lang="en-US" sz="4000" dirty="0"/>
          </a:p>
        </p:txBody>
      </p:sp>
      <p:sp>
        <p:nvSpPr>
          <p:cNvPr id="4" name="edge0-label"/>
          <p:cNvSpPr txBox="1"/>
          <p:nvPr/>
        </p:nvSpPr>
        <p:spPr>
          <a:xfrm>
            <a:off x="548640" y="2331720"/>
            <a:ext cx="2651760" cy="640080"/>
          </a:xfrm>
          <a:prstGeom prst="rect">
            <a:avLst/>
          </a:prstGeom>
          <a:noFill/>
          <a:ln/>
        </p:spPr>
        <p:txBody>
          <a:bodyPr wrap="square" lIns="0" tIns="0" rIns="0" bIns="0" rtlCol="0" anchor="t"/>
          <a:lstStyle/>
          <a:p>
            <a:pPr indent="0" marL="0">
              <a:buNone/>
            </a:pPr>
            <a:r>
              <a:rPr lang="en-US" sz="1300" dirty="0">
                <a:solidFill>
                  <a:schemeClr val="accent4"/>
                </a:solidFill>
              </a:rPr>
              <a:t>p95 latency / mẫu (ngưỡng 1000 µs)</a:t>
            </a:r>
            <a:endParaRPr lang="en-US" sz="1300" dirty="0"/>
          </a:p>
        </p:txBody>
      </p:sp>
      <p:sp>
        <p:nvSpPr>
          <p:cNvPr id="5" name="edge1-num"/>
          <p:cNvSpPr txBox="1"/>
          <p:nvPr/>
        </p:nvSpPr>
        <p:spPr>
          <a:xfrm>
            <a:off x="3383280" y="1463040"/>
            <a:ext cx="265176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15.3 KB</a:t>
            </a:r>
            <a:endParaRPr lang="en-US" sz="4000" dirty="0"/>
          </a:p>
        </p:txBody>
      </p:sp>
      <p:sp>
        <p:nvSpPr>
          <p:cNvPr id="6" name="edge1-label"/>
          <p:cNvSpPr txBox="1"/>
          <p:nvPr/>
        </p:nvSpPr>
        <p:spPr>
          <a:xfrm>
            <a:off x="3383280" y="2331720"/>
            <a:ext cx="2651760" cy="640080"/>
          </a:xfrm>
          <a:prstGeom prst="rect">
            <a:avLst/>
          </a:prstGeom>
          <a:noFill/>
          <a:ln/>
        </p:spPr>
        <p:txBody>
          <a:bodyPr wrap="square" lIns="0" tIns="0" rIns="0" bIns="0" rtlCol="0" anchor="t"/>
          <a:lstStyle/>
          <a:p>
            <a:pPr indent="0" marL="0">
              <a:buNone/>
            </a:pPr>
            <a:r>
              <a:rPr lang="en-US" sz="1300" dirty="0">
                <a:solidFill>
                  <a:schemeClr val="accent4"/>
                </a:solidFill>
              </a:rPr>
              <a:t>file model (ngưỡng 50 KB)</a:t>
            </a:r>
            <a:endParaRPr lang="en-US" sz="1300" dirty="0"/>
          </a:p>
        </p:txBody>
      </p:sp>
      <p:sp>
        <p:nvSpPr>
          <p:cNvPr id="7" name="edge2-num"/>
          <p:cNvSpPr txBox="1"/>
          <p:nvPr/>
        </p:nvSpPr>
        <p:spPr>
          <a:xfrm>
            <a:off x="6217920" y="1463040"/>
            <a:ext cx="265176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4.6 MB</a:t>
            </a:r>
            <a:endParaRPr lang="en-US" sz="4000" dirty="0"/>
          </a:p>
        </p:txBody>
      </p:sp>
      <p:sp>
        <p:nvSpPr>
          <p:cNvPr id="8" name="edge2-label"/>
          <p:cNvSpPr txBox="1"/>
          <p:nvPr/>
        </p:nvSpPr>
        <p:spPr>
          <a:xfrm>
            <a:off x="6217920" y="2331720"/>
            <a:ext cx="2651760" cy="640080"/>
          </a:xfrm>
          <a:prstGeom prst="rect">
            <a:avLst/>
          </a:prstGeom>
          <a:noFill/>
          <a:ln/>
        </p:spPr>
        <p:txBody>
          <a:bodyPr wrap="square" lIns="0" tIns="0" rIns="0" bIns="0" rtlCol="0" anchor="t"/>
          <a:lstStyle/>
          <a:p>
            <a:pPr indent="0" marL="0">
              <a:buNone/>
            </a:pPr>
            <a:r>
              <a:rPr lang="en-US" sz="1300" dirty="0">
                <a:solidFill>
                  <a:schemeClr val="accent4"/>
                </a:solidFill>
              </a:rPr>
              <a:t>RAM tăng thêm khi nạp + chạy</a:t>
            </a:r>
            <a:endParaRPr lang="en-US" sz="1300" dirty="0"/>
          </a:p>
        </p:txBody>
      </p:sp>
      <p:sp>
        <p:nvSpPr>
          <p:cNvPr id="9" name="edge3-num"/>
          <p:cNvSpPr txBox="1"/>
          <p:nvPr/>
        </p:nvSpPr>
        <p:spPr>
          <a:xfrm>
            <a:off x="9052560" y="1463040"/>
            <a:ext cx="265176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102,899</a:t>
            </a:r>
            <a:endParaRPr lang="en-US" sz="4000" dirty="0"/>
          </a:p>
        </p:txBody>
      </p:sp>
      <p:sp>
        <p:nvSpPr>
          <p:cNvPr id="10" name="edge3-label"/>
          <p:cNvSpPr txBox="1"/>
          <p:nvPr/>
        </p:nvSpPr>
        <p:spPr>
          <a:xfrm>
            <a:off x="9052560" y="2331720"/>
            <a:ext cx="2651760" cy="640080"/>
          </a:xfrm>
          <a:prstGeom prst="rect">
            <a:avLst/>
          </a:prstGeom>
          <a:noFill/>
          <a:ln/>
        </p:spPr>
        <p:txBody>
          <a:bodyPr wrap="square" lIns="0" tIns="0" rIns="0" bIns="0" rtlCol="0" anchor="t"/>
          <a:lstStyle/>
          <a:p>
            <a:pPr indent="0" marL="0">
              <a:buNone/>
            </a:pPr>
            <a:r>
              <a:rPr lang="en-US" sz="1300" dirty="0">
                <a:solidFill>
                  <a:schemeClr val="accent4"/>
                </a:solidFill>
              </a:rPr>
              <a:t>mẫu/giây trên 1 lõi</a:t>
            </a:r>
            <a:endParaRPr lang="en-US" sz="1300" dirty="0"/>
          </a:p>
        </p:txBody>
      </p:sp>
      <p:sp>
        <p:nvSpPr>
          <p:cNvPr id="11" name="thread-card"/>
          <p:cNvSpPr/>
          <p:nvPr/>
        </p:nvSpPr>
        <p:spPr>
          <a:xfrm>
            <a:off x="548640" y="3566160"/>
            <a:ext cx="5349240" cy="1920240"/>
          </a:xfrm>
          <a:prstGeom prst="roundRect">
            <a:avLst>
              <a:gd name="adj" fmla="val 5714"/>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822960" y="3749040"/>
            <a:ext cx="4846320" cy="457200"/>
          </a:xfrm>
          <a:prstGeom prst="rect">
            <a:avLst/>
          </a:prstGeom>
          <a:noFill/>
          <a:ln/>
        </p:spPr>
        <p:txBody>
          <a:bodyPr wrap="square" lIns="0" tIns="0" rIns="0" bIns="0" rtlCol="0" anchor="t"/>
          <a:lstStyle/>
          <a:p>
            <a:pPr indent="0" marL="0">
              <a:buNone/>
            </a:pPr>
            <a:r>
              <a:rPr lang="en-US" sz="1800" b="1" dirty="0">
                <a:solidFill>
                  <a:schemeClr val="tx2"/>
                </a:solidFill>
              </a:rPr>
              <a:t>Đa luồng làm chậm model nhỏ</a:t>
            </a:r>
            <a:endParaRPr lang="en-US" sz="1800" dirty="0"/>
          </a:p>
        </p:txBody>
      </p:sp>
      <p:sp>
        <p:nvSpPr>
          <p:cNvPr id="13" name="Text 11"/>
          <p:cNvSpPr txBox="1"/>
          <p:nvPr/>
        </p:nvSpPr>
        <p:spPr>
          <a:xfrm>
            <a:off x="822960" y="4297680"/>
            <a:ext cx="4846320" cy="1097280"/>
          </a:xfrm>
          <a:prstGeom prst="rect">
            <a:avLst/>
          </a:prstGeom>
          <a:noFill/>
          <a:ln/>
        </p:spPr>
        <p:txBody>
          <a:bodyPr wrap="square" lIns="0" tIns="0" rIns="0" bIns="0" rtlCol="0" anchor="t"/>
          <a:lstStyle/>
          <a:p>
            <a:pPr indent="0" marL="0">
              <a:buNone/>
            </a:pPr>
            <a:r>
              <a:rPr lang="en-US" sz="1500" dirty="0">
                <a:solidFill>
                  <a:schemeClr val="tx1"/>
                </a:solidFill>
              </a:rPr>
              <a:t>Batch 1 với 20 luồng: p50 473 µs, so với 9.0 µs khi 1 luồng ghim E-core → trên edge nên chạy đơn luồng.</a:t>
            </a:r>
            <a:endParaRPr lang="en-US" sz="1500" dirty="0"/>
          </a:p>
        </p:txBody>
      </p:sp>
      <p:sp>
        <p:nvSpPr>
          <p:cNvPr id="14" name="energy-card"/>
          <p:cNvSpPr/>
          <p:nvPr/>
        </p:nvSpPr>
        <p:spPr>
          <a:xfrm>
            <a:off x="6263640" y="3566160"/>
            <a:ext cx="5349240" cy="1920240"/>
          </a:xfrm>
          <a:prstGeom prst="roundRect">
            <a:avLst>
              <a:gd name="adj" fmla="val 5714"/>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537960" y="3749040"/>
            <a:ext cx="4846320" cy="457200"/>
          </a:xfrm>
          <a:prstGeom prst="rect">
            <a:avLst/>
          </a:prstGeom>
          <a:noFill/>
          <a:ln/>
        </p:spPr>
        <p:txBody>
          <a:bodyPr wrap="square" lIns="0" tIns="0" rIns="0" bIns="0" rtlCol="0" anchor="t"/>
          <a:lstStyle/>
          <a:p>
            <a:pPr indent="0" marL="0">
              <a:buNone/>
            </a:pPr>
            <a:r>
              <a:rPr lang="en-US" sz="1800" b="1" dirty="0">
                <a:solidFill>
                  <a:schemeClr val="tx2"/>
                </a:solidFill>
              </a:rPr>
              <a:t>Energy proxy &amp; giới hạn</a:t>
            </a:r>
            <a:endParaRPr lang="en-US" sz="1800" dirty="0"/>
          </a:p>
        </p:txBody>
      </p:sp>
      <p:sp>
        <p:nvSpPr>
          <p:cNvPr id="16" name="Text 14"/>
          <p:cNvSpPr txBox="1"/>
          <p:nvPr/>
        </p:nvSpPr>
        <p:spPr>
          <a:xfrm>
            <a:off x="6537960" y="4297680"/>
            <a:ext cx="4846320" cy="1097280"/>
          </a:xfrm>
          <a:prstGeom prst="rect">
            <a:avLst/>
          </a:prstGeom>
          <a:noFill/>
          <a:ln/>
        </p:spPr>
        <p:txBody>
          <a:bodyPr wrap="square" lIns="0" tIns="0" rIns="0" bIns="0" rtlCol="0" anchor="t"/>
          <a:lstStyle/>
          <a:p>
            <a:pPr indent="0" marL="0">
              <a:buNone/>
            </a:pPr>
            <a:r>
              <a:rPr lang="en-US" sz="1500" dirty="0">
                <a:solidFill>
                  <a:schemeClr val="tx1"/>
                </a:solidFill>
              </a:rPr>
              <a:t>≈ 40.5 µJ/mẫu (CPU-time × 55 W/14 lõi), 7,872 MAC/mẫu. Không có Raspberry Pi: lõi E-core laptop mạnh hơn CPU edge thật.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Độ ổn định theo seed và robustness</a:t>
            </a:r>
            <a:endParaRPr lang="en-US" sz="3200" dirty="0"/>
          </a:p>
        </p:txBody>
      </p:sp>
      <p:pic>
        <p:nvPicPr>
          <p:cNvPr id="3" name="seed-fig" descr="D:\BAITAP\Antoan-BM\LAB_AT_BMHTTT\DT043\results\figures\fig_seed_stability.png">    </p:cNvPr>
          <p:cNvPicPr>
            <a:picLocks noChangeAspect="1"/>
          </p:cNvPicPr>
          <p:nvPr/>
        </p:nvPicPr>
        <p:blipFill>
          <a:blip r:embed="rId1"/>
          <a:stretch>
            <a:fillRect/>
          </a:stretch>
        </p:blipFill>
        <p:spPr>
          <a:xfrm>
            <a:off x="548640" y="1325880"/>
            <a:ext cx="6949440" cy="2606040"/>
          </a:xfrm>
          <a:prstGeom prst="rect">
            <a:avLst/>
          </a:prstGeom>
        </p:spPr>
      </p:pic>
      <p:sp>
        <p:nvSpPr>
          <p:cNvPr id="4" name="Text 1"/>
          <p:cNvSpPr txBox="1"/>
          <p:nvPr/>
        </p:nvSpPr>
        <p:spPr>
          <a:xfrm>
            <a:off x="548640" y="4023360"/>
            <a:ext cx="6766560" cy="914400"/>
          </a:xfrm>
          <a:prstGeom prst="rect">
            <a:avLst/>
          </a:prstGeom>
          <a:noFill/>
          <a:ln/>
        </p:spPr>
        <p:txBody>
          <a:bodyPr wrap="square" lIns="0" tIns="0" rIns="0" bIns="0" rtlCol="0" anchor="t"/>
          <a:lstStyle/>
          <a:p>
            <a:pPr indent="0" marL="0">
              <a:buNone/>
            </a:pPr>
            <a:r>
              <a:rPr lang="en-US" sz="1600" dirty="0">
                <a:solidFill>
                  <a:schemeClr val="tx1"/>
                </a:solidFill>
              </a:rPr>
              <a:t>7 cặp (model, thiết bị) có TPR dao động &gt; 0.05 chỉ vì đổi seed – một lần chạy như Meidan là không đủ.</a:t>
            </a:r>
            <a:endParaRPr lang="en-US" sz="1600" dirty="0"/>
          </a:p>
        </p:txBody>
      </p:sp>
      <p:pic>
        <p:nvPicPr>
          <p:cNvPr id="5" name="evasion-fig" descr="D:\BAITAP\Antoan-BM\LAB_AT_BMHTTT\DT043\results\figures\fig_evasion.png">    </p:cNvPr>
          <p:cNvPicPr>
            <a:picLocks noChangeAspect="1"/>
          </p:cNvPicPr>
          <p:nvPr/>
        </p:nvPicPr>
        <p:blipFill>
          <a:blip r:embed="rId2"/>
          <a:stretch>
            <a:fillRect/>
          </a:stretch>
        </p:blipFill>
        <p:spPr>
          <a:xfrm>
            <a:off x="7680960" y="1325880"/>
            <a:ext cx="3931920" cy="2624328"/>
          </a:xfrm>
          <a:prstGeom prst="rect">
            <a:avLst/>
          </a:prstGeom>
        </p:spPr>
      </p:pic>
      <p:sp>
        <p:nvSpPr>
          <p:cNvPr id="6" name="Text 2"/>
          <p:cNvSpPr txBox="1"/>
          <p:nvPr/>
        </p:nvSpPr>
        <p:spPr>
          <a:xfrm>
            <a:off x="7680960" y="4023360"/>
            <a:ext cx="3931920" cy="1463040"/>
          </a:xfrm>
          <a:prstGeom prst="rect">
            <a:avLst/>
          </a:prstGeom>
          <a:noFill/>
          <a:ln/>
        </p:spPr>
        <p:txBody>
          <a:bodyPr wrap="square" lIns="0" tIns="0" rIns="0" bIns="0" rtlCol="0" anchor="t"/>
          <a:lstStyle/>
          <a:p>
            <a:pPr indent="0" marL="0">
              <a:buNone/>
            </a:pPr>
            <a:r>
              <a:rPr lang="en-US" sz="1400" dirty="0">
                <a:solidFill>
                  <a:schemeClr val="tx1"/>
                </a:solidFill>
              </a:rPr>
              <a:t>Né tránh: kéo mẫu tấn công về tâm benign; phải bắt chước rất sát (α lớn) mới né được – tức là phải giảm cường độ tấn công.</a:t>
            </a:r>
            <a:endParaRPr lang="en-US" sz="1400" dirty="0"/>
          </a:p>
        </p:txBody>
      </p:sp>
      <p:sp>
        <p:nvSpPr>
          <p:cNvPr id="7" name="Text 3"/>
          <p:cNvSpPr txBox="1"/>
          <p:nvPr/>
        </p:nvSpPr>
        <p:spPr>
          <a:xfrm>
            <a:off x="548640" y="5120640"/>
            <a:ext cx="6766560" cy="548640"/>
          </a:xfrm>
          <a:prstGeom prst="rect">
            <a:avLst/>
          </a:prstGeom>
          <a:noFill/>
          <a:ln/>
        </p:spPr>
        <p:txBody>
          <a:bodyPr wrap="square" lIns="0" tIns="0" rIns="0" bIns="0" rtlCol="0" anchor="t"/>
          <a:lstStyle/>
          <a:p>
            <a:pPr indent="0" marL="0">
              <a:buNone/>
            </a:pPr>
            <a:r>
              <a:rPr lang="en-US" sz="1400" i="1" dirty="0">
                <a:solidFill>
                  <a:schemeClr val="accent4"/>
                </a:solidFill>
              </a:rPr>
              <a:t>Báo cáo mean ± std, KTC95 và Wilcoxon thay vì con số tốt nhất.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MTD: tái lập xu hướng và MTD lai kích hoạt bởi AE</a:t>
            </a:r>
            <a:endParaRPr lang="en-US" sz="3200" dirty="0"/>
          </a:p>
        </p:txBody>
      </p:sp>
      <p:graphicFrame>
        <p:nvGraphicFramePr>
          <p:cNvPr id="3" name="harm-chart" descr=""/>
          <p:cNvGraphicFramePr/>
          <p:nvPr/>
        </p:nvGraphicFramePr>
        <p:xfrm>
          <a:off x="548640" y="132588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23560"/>
            <a:ext cx="5120640" cy="548640"/>
          </a:xfrm>
          <a:prstGeom prst="rect">
            <a:avLst/>
          </a:prstGeom>
          <a:noFill/>
          <a:ln/>
        </p:spPr>
        <p:txBody>
          <a:bodyPr wrap="square" lIns="0" tIns="0" rIns="0" bIns="0" rtlCol="0" anchor="t"/>
          <a:lstStyle/>
          <a:p>
            <a:pPr indent="0" marL="0">
              <a:buNone/>
            </a:pPr>
            <a:r>
              <a:rPr lang="en-US" sz="1400" i="1" dirty="0">
                <a:solidFill>
                  <a:schemeClr val="accent4"/>
                </a:solidFill>
              </a:rPr>
              <a:t>Khớp xu hướng paper chính: kết hợp shuffle + diversity thấp nhất.</a:t>
            </a:r>
            <a:endParaRPr lang="en-US" sz="1400" dirty="0"/>
          </a:p>
        </p:txBody>
      </p:sp>
      <p:pic>
        <p:nvPicPr>
          <p:cNvPr id="5" name="hybrid-fig" descr="D:\BAITAP\Antoan-BM\LAB_AT_BMHTTT\DT043\results\figures\fig_mtd_hybrid_tradeoff.png">    </p:cNvPr>
          <p:cNvPicPr>
            <a:picLocks noChangeAspect="1"/>
          </p:cNvPicPr>
          <p:nvPr/>
        </p:nvPicPr>
        <p:blipFill>
          <a:blip r:embed="rId2"/>
          <a:stretch>
            <a:fillRect/>
          </a:stretch>
        </p:blipFill>
        <p:spPr>
          <a:xfrm>
            <a:off x="6035040" y="1325880"/>
            <a:ext cx="5577840" cy="3447288"/>
          </a:xfrm>
          <a:prstGeom prst="rect">
            <a:avLst/>
          </a:prstGeom>
        </p:spPr>
      </p:pic>
      <p:sp>
        <p:nvSpPr>
          <p:cNvPr id="6" name="Text 2"/>
          <p:cNvSpPr txBox="1"/>
          <p:nvPr/>
        </p:nvSpPr>
        <p:spPr>
          <a:xfrm>
            <a:off x="6035040" y="4892040"/>
            <a:ext cx="5577840" cy="1280160"/>
          </a:xfrm>
          <a:prstGeom prst="rect">
            <a:avLst/>
          </a:prstGeom>
          <a:noFill/>
          <a:ln/>
        </p:spPr>
        <p:txBody>
          <a:bodyPr wrap="square" lIns="0" tIns="0" rIns="0" bIns="0" rtlCol="0" anchor="t"/>
          <a:lstStyle/>
          <a:p>
            <a:pPr indent="0" marL="0">
              <a:buNone/>
            </a:pPr>
            <a:r>
              <a:rPr lang="en-US" sz="1400" dirty="0">
                <a:solidFill>
                  <a:schemeClr val="tx1"/>
                </a:solidFill>
              </a:rPr>
              <a:t>Cùng chi phí, hybrid lộ diện ít hơn time-based. Chỉ event-based: lộ diện TB 11,835 mẫu vì tấn công AE bỏ sót không kích hoạt move → time-based là lưới an toàn.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Đối chiếu tiêu chí đã chốt trước</a:t>
            </a:r>
            <a:endParaRPr lang="en-US" sz="3200" dirty="0"/>
          </a:p>
        </p:txBody>
      </p:sp>
      <p:graphicFrame>
        <p:nvGraphicFramePr>
          <p:cNvPr id="17" name="crit-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822960"/>
                <a:gridCol w="4572000"/>
                <a:gridCol w="4023360"/>
                <a:gridCol w="1645920"/>
              </a:tblGrid>
              <a:tr h="566928">
                <a:tc>
                  <a:txBody>
                    <a:bodyPr/>
                    <a:lstStyle/>
                    <a:p>
                      <a:pPr indent="0" marL="0">
                        <a:buNone/>
                      </a:pPr>
                      <a:r>
                        <a:rPr lang="en-US" sz="1400" b="1" dirty="0">
                          <a:solidFill>
                            <a:srgbClr val="FFFFFF"/>
                          </a:solidFill>
                        </a:rPr>
                        <a:t>RQ</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Tiêu chí</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Giá trị đo</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Kết luận</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r>
              <a:tr h="566928">
                <a:tc>
                  <a:txBody>
                    <a:bodyPr/>
                    <a:lstStyle/>
                    <a:p>
                      <a:pPr indent="0" marL="0">
                        <a:buNone/>
                      </a:pPr>
                      <a:r>
                        <a:rPr lang="en-US" sz="1400" dirty="0">
                          <a:solidFill>
                            <a:srgbClr val="1B2430"/>
                          </a:solidFill>
                        </a:rPr>
                        <a:t>RQ1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TPR ≥ 0.99 và FPR ≤ 0.02 (B0)</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TPR=0.8222, FPR=0.0025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0"/>
                          </a:solidFill>
                        </a:rPr>
                        <a:t>RQ2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B0 &gt; B1 ở ≥7/9 thiết bị và p &lt; 0.05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thắng 4/9, p=0.2852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566928">
                <a:tc>
                  <a:txBody>
                    <a:bodyPr/>
                    <a:lstStyle/>
                    <a:p>
                      <a:pPr indent="0" marL="0">
                        <a:buNone/>
                      </a:pPr>
                      <a:r>
                        <a:rPr lang="en-US" sz="1400" dirty="0">
                          <a:solidFill>
                            <a:srgbClr val="1B2430"/>
                          </a:solidFill>
                        </a:rPr>
                        <a:t>RQ3</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V1 ≤ 25% tham số và Δmacro-F1 ≤ 0.01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tham số 21.9%, Δ=+0.0171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0"/>
                          </a:solidFill>
                        </a:rPr>
                        <a:t>RQ4</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int8+recal: Δmacro-F1 ≤ 0.005 và kích thước ≤ 30% fp32 (V1)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Δ=-0.0278, kích thước 45.5%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566928">
                <a:tc>
                  <a:txBody>
                    <a:bodyPr/>
                    <a:lstStyle/>
                    <a:p>
                      <a:pPr indent="0" marL="0">
                        <a:buNone/>
                      </a:pPr>
                      <a:r>
                        <a:rPr lang="en-US" sz="1400" dirty="0">
                          <a:solidFill>
                            <a:srgbClr val="1B2430"/>
                          </a:solidFill>
                        </a:rPr>
                        <a:t>RQ5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P1: p95 ≤ 1 ms, model ≤ 50 KB, RSS tăng ≤ 50 MB (V1 int8)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p95=10.8 µs, 15.3 KB, ΔRSS=4.6 MB</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3A9D5D"/>
                          </a:solidFill>
                        </a:rPr>
                        <a:t>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400" i="1" dirty="0">
                <a:solidFill>
                  <a:schemeClr val="accent4"/>
                </a:solidFill>
              </a:rPr>
              <a:t>Không chỉnh tiêu chí sau khi có kết quả; mọi lần chạy (468) đều được báo cáo.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Kết luận &amp; hướng phát triển</a:t>
            </a:r>
            <a:endParaRPr lang="en-US" sz="3600" dirty="0"/>
          </a:p>
        </p:txBody>
      </p:sp>
      <p:sp>
        <p:nvSpPr>
          <p:cNvPr id="3" name="Text 0"/>
          <p:cNvSpPr/>
          <p:nvPr>
            <p:ph idx="101" type="body" hasCustomPrompt="1"/>
          </p:nvPr>
        </p:nvSpPr>
        <p:spPr>
          <a:xfrm>
            <a:off x="731520" y="1645920"/>
            <a:ext cx="10698480" cy="44805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chemeClr val="bg2"/>
                </a:solidFill>
              </a:rPr>
              <a:t>AE per-device bắt gần tuyệt đối 8/10 loại tấn công với FPR rất thấp; bỏ sót flood tcp/udp giả mạo nguồn</a:t>
            </a:r>
            <a:endParaRPr lang="en-US" sz="1900" dirty="0"/>
          </a:p>
          <a:p>
            <a:pPr marL="342900" indent="-342900">
              <a:spcAft>
                <a:spcPts val="1400"/>
              </a:spcAft>
              <a:buSzPct val="100000"/>
              <a:buChar char="•"/>
            </a:pPr>
            <a:r>
              <a:rPr lang="en-US" sz="1900" dirty="0">
                <a:solidFill>
                  <a:schemeClr val="bg2"/>
                </a:solidFill>
              </a:rPr>
              <a:t>V1 int8 &lt; 20 KB, vài µs/mẫu trên 1 lõi E-core – khả thi cho edge</a:t>
            </a:r>
            <a:endParaRPr lang="en-US" sz="1900" dirty="0"/>
          </a:p>
          <a:p>
            <a:pPr marL="342900" indent="-342900">
              <a:spcAft>
                <a:spcPts val="1400"/>
              </a:spcAft>
              <a:buSzPct val="100000"/>
              <a:buChar char="•"/>
            </a:pPr>
            <a:r>
              <a:rPr lang="en-US" sz="1900" dirty="0">
                <a:solidFill>
                  <a:schemeClr val="bg2"/>
                </a:solidFill>
              </a:rPr>
              <a:t>Kết quả dao động theo seed → cần nhiều lần chạy và kiểm định</a:t>
            </a:r>
            <a:endParaRPr lang="en-US" sz="1900" dirty="0"/>
          </a:p>
          <a:p>
            <a:pPr marL="342900" indent="-342900">
              <a:spcAft>
                <a:spcPts val="1400"/>
              </a:spcAft>
              <a:buSzPct val="100000"/>
              <a:buChar char="•"/>
            </a:pPr>
            <a:r>
              <a:rPr lang="en-US" sz="1900" dirty="0">
                <a:solidFill>
                  <a:schemeClr val="bg2"/>
                </a:solidFill>
              </a:rPr>
              <a:t>MTD: kết hợp shuffle + diversity tốt nhất; MTD lai dùng cảnh báo AE giảm thời gian lộ diện</a:t>
            </a:r>
            <a:endParaRPr lang="en-US" sz="1900" dirty="0"/>
          </a:p>
          <a:p>
            <a:pPr marL="342900" indent="-342900">
              <a:spcAft>
                <a:spcPts val="1400"/>
              </a:spcAft>
              <a:buSzPct val="100000"/>
              <a:buChar char="•"/>
            </a:pPr>
            <a:r>
              <a:rPr lang="en-US" sz="1900" dirty="0">
                <a:solidFill>
                  <a:schemeClr val="accent2"/>
                </a:solidFill>
              </a:rPr>
              <a:t>Tiếp theo: chọn ngưỡng có kiểm định trên dữ liệu mới · Raspberry Pi + đo điện thật · đặc trưng cho flood giả mạo</a:t>
            </a:r>
            <a:endParaRPr lang="en-US" sz="1900" dirty="0"/>
          </a:p>
        </p:txBody>
      </p:sp>
    </p:spTree>
  </p:cSld>
  <p:clrMapOvr>
    <a:masterClrMapping/>
  </p:clrMapOvr>
</p:sld>
</file>

<file path=ppt/theme/theme1.xml><?xml version="1.0" encoding="utf-8"?>
<a:theme xmlns:a="http://schemas.openxmlformats.org/drawingml/2006/main" name="DT043 Edge Defense">
  <a:themeElements>
    <a:clrScheme name="DT043 Edge Defense">
      <a:dk1>
        <a:srgbClr val="1B2430"/>
      </a:dk1>
      <a:lt1>
        <a:srgbClr val="FFFFFF"/>
      </a:lt1>
      <a:dk2>
        <a:srgbClr val="0B1F33"/>
      </a:dk2>
      <a:lt2>
        <a:srgbClr val="EAF2F5"/>
      </a:lt2>
      <a:accent1>
        <a:srgbClr val="0E9F8E"/>
      </a:accent1>
      <a:accent2>
        <a:srgbClr val="F2A541"/>
      </a:accent2>
      <a:accent3>
        <a:srgbClr val="D64545"/>
      </a:accent3>
      <a:accent4>
        <a:srgbClr val="5B6B7C"/>
      </a:accent4>
      <a:accent5>
        <a:srgbClr val="2E6FB0"/>
      </a:accent5>
      <a:accent6>
        <a:srgbClr val="3A9D5D"/>
      </a:accent6>
      <a:hlink>
        <a:srgbClr val="2E6FB0"/>
      </a:hlink>
      <a:folHlink>
        <a:srgbClr val="5B6B7C"/>
      </a:folHlink>
    </a:clrScheme>
    <a:fontScheme name="DT043 Edge Def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DT043 – Phát hiện botnet IoT bằng autoencoder nhẹ</dc:title>
  <dc:subject>PptxGenJS Presentation</dc:subject>
  <dc:creator>Hoàng Thanh Trà</dc:creator>
  <cp:lastModifiedBy>Hoàng Thanh Trà</cp:lastModifiedBy>
  <cp:revision>1</cp:revision>
  <dcterms:created xsi:type="dcterms:W3CDTF">2026-10-11T09:04:53Z</dcterms:created>
  <dcterms:modified xsi:type="dcterms:W3CDTF">2026-10-11T09:04:53Z</dcterms:modified>
</cp:coreProperties>
</file>